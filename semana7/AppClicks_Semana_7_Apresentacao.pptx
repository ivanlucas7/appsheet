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5" r:id="rId68"/>
    <p:sldId id="265" r:id="rId11"/>
    <p:sldId id="266" r:id="rId12"/>
    <p:sldId id="316" r:id="rId69"/>
    <p:sldId id="317" r:id="rId70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18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19" r:id="rId72"/>
    <p:sldId id="281" r:id="rId27"/>
    <p:sldId id="320" r:id="rId73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21" r:id="rId74"/>
    <p:sldId id="289" r:id="rId35"/>
    <p:sldId id="322" r:id="rId7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23" r:id="rId76"/>
    <p:sldId id="299" r:id="rId45"/>
    <p:sldId id="300" r:id="rId46"/>
    <p:sldId id="301" r:id="rId47"/>
    <p:sldId id="324" r:id="rId77"/>
    <p:sldId id="302" r:id="rId48"/>
    <p:sldId id="325" r:id="rId78"/>
    <p:sldId id="303" r:id="rId49"/>
    <p:sldId id="304" r:id="rId50"/>
    <p:sldId id="305" r:id="rId51"/>
    <p:sldId id="306" r:id="rId52"/>
    <p:sldId id="326" r:id="rId79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448ED-4A66-4A03-B9E2-E13B431B168F}" v="1" dt="2026-08-16T16:38:40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958" autoAdjust="0"/>
  </p:normalViewPr>
  <p:slideViewPr>
    <p:cSldViewPr snapToGrid="0" snapToObjects="1">
      <p:cViewPr varScale="1">
        <p:scale>
          <a:sx n="47" d="100"/>
          <a:sy n="47" d="100"/>
        </p:scale>
        <p:origin x="8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1.xml"/><Relationship Id="rId28" Type="http://schemas.openxmlformats.org/officeDocument/2006/relationships/slide" Target="slides/slide33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36.xml"/><Relationship Id="rId32" Type="http://schemas.openxmlformats.org/officeDocument/2006/relationships/slide" Target="slides/slide37.xml"/><Relationship Id="rId33" Type="http://schemas.openxmlformats.org/officeDocument/2006/relationships/slide" Target="slides/slide38.xml"/><Relationship Id="rId34" Type="http://schemas.openxmlformats.org/officeDocument/2006/relationships/slide" Target="slides/slide39.xml"/><Relationship Id="rId35" Type="http://schemas.openxmlformats.org/officeDocument/2006/relationships/slide" Target="slides/slide41.xml"/><Relationship Id="rId36" Type="http://schemas.openxmlformats.org/officeDocument/2006/relationships/slide" Target="slides/slide43.xml"/><Relationship Id="rId37" Type="http://schemas.openxmlformats.org/officeDocument/2006/relationships/slide" Target="slides/slide44.xml"/><Relationship Id="rId38" Type="http://schemas.openxmlformats.org/officeDocument/2006/relationships/slide" Target="slides/slide45.xml"/><Relationship Id="rId39" Type="http://schemas.openxmlformats.org/officeDocument/2006/relationships/slide" Target="slides/slide46.xml"/><Relationship Id="rId40" Type="http://schemas.openxmlformats.org/officeDocument/2006/relationships/slide" Target="slides/slide47.xml"/><Relationship Id="rId41" Type="http://schemas.openxmlformats.org/officeDocument/2006/relationships/slide" Target="slides/slide48.xml"/><Relationship Id="rId42" Type="http://schemas.openxmlformats.org/officeDocument/2006/relationships/slide" Target="slides/slide49.xml"/><Relationship Id="rId43" Type="http://schemas.openxmlformats.org/officeDocument/2006/relationships/slide" Target="slides/slide50.xml"/><Relationship Id="rId44" Type="http://schemas.openxmlformats.org/officeDocument/2006/relationships/slide" Target="slides/slide51.xml"/><Relationship Id="rId45" Type="http://schemas.openxmlformats.org/officeDocument/2006/relationships/slide" Target="slides/slide53.xml"/><Relationship Id="rId46" Type="http://schemas.openxmlformats.org/officeDocument/2006/relationships/slide" Target="slides/slide54.xml"/><Relationship Id="rId47" Type="http://schemas.openxmlformats.org/officeDocument/2006/relationships/slide" Target="slides/slide55.xml"/><Relationship Id="rId48" Type="http://schemas.openxmlformats.org/officeDocument/2006/relationships/slide" Target="slides/slide57.xml"/><Relationship Id="rId49" Type="http://schemas.openxmlformats.org/officeDocument/2006/relationships/slide" Target="slides/slide59.xml"/><Relationship Id="rId50" Type="http://schemas.openxmlformats.org/officeDocument/2006/relationships/slide" Target="slides/slide60.xml"/><Relationship Id="rId51" Type="http://schemas.openxmlformats.org/officeDocument/2006/relationships/slide" Target="slides/slide61.xml"/><Relationship Id="rId52" Type="http://schemas.openxmlformats.org/officeDocument/2006/relationships/slide" Target="slides/slide62.xml"/><Relationship Id="rId53" Type="http://schemas.openxmlformats.org/officeDocument/2006/relationships/slide" Target="slides/slide64.xml"/><Relationship Id="rId54" Type="http://schemas.openxmlformats.org/officeDocument/2006/relationships/slide" Target="slides/slide65.xml"/><Relationship Id="rId55" Type="http://schemas.openxmlformats.org/officeDocument/2006/relationships/slide" Target="slides/slide66.xml"/><Relationship Id="rId56" Type="http://schemas.openxmlformats.org/officeDocument/2006/relationships/slide" Target="slides/slide67.xml"/><Relationship Id="rId57" Type="http://schemas.openxmlformats.org/officeDocument/2006/relationships/slide" Target="slides/slide68.xml"/><Relationship Id="rId58" Type="http://schemas.openxmlformats.org/officeDocument/2006/relationships/slide" Target="slides/slide69.xml"/><Relationship Id="rId59" Type="http://schemas.openxmlformats.org/officeDocument/2006/relationships/slide" Target="slides/slide70.xml"/><Relationship Id="rId60" Type="http://schemas.openxmlformats.org/officeDocument/2006/relationships/slide" Target="slides/slide71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microsoft.com/office/2016/11/relationships/changesInfo" Target="changesInfos/changesInfo1.xml"/><Relationship Id="rId67" Type="http://schemas.microsoft.com/office/2015/10/relationships/revisionInfo" Target="revisionInfo.xml"/><Relationship Id="rId68" Type="http://schemas.openxmlformats.org/officeDocument/2006/relationships/slide" Target="slides/slide10.xml"/><Relationship Id="rId69" Type="http://schemas.openxmlformats.org/officeDocument/2006/relationships/slide" Target="slides/slide13.xml"/><Relationship Id="rId70" Type="http://schemas.openxmlformats.org/officeDocument/2006/relationships/slide" Target="slides/slide14.xml"/><Relationship Id="rId71" Type="http://schemas.openxmlformats.org/officeDocument/2006/relationships/slide" Target="slides/slide22.xml"/><Relationship Id="rId72" Type="http://schemas.openxmlformats.org/officeDocument/2006/relationships/slide" Target="slides/slide30.xml"/><Relationship Id="rId73" Type="http://schemas.openxmlformats.org/officeDocument/2006/relationships/slide" Target="slides/slide32.xml"/><Relationship Id="rId74" Type="http://schemas.openxmlformats.org/officeDocument/2006/relationships/slide" Target="slides/slide40.xml"/><Relationship Id="rId75" Type="http://schemas.openxmlformats.org/officeDocument/2006/relationships/slide" Target="slides/slide42.xml"/><Relationship Id="rId76" Type="http://schemas.openxmlformats.org/officeDocument/2006/relationships/slide" Target="slides/slide52.xml"/><Relationship Id="rId77" Type="http://schemas.openxmlformats.org/officeDocument/2006/relationships/slide" Target="slides/slide56.xml"/><Relationship Id="rId78" Type="http://schemas.openxmlformats.org/officeDocument/2006/relationships/slide" Target="slides/slide58.xml"/><Relationship Id="rId79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Lucas" userId="f488f667df7b9828" providerId="LiveId" clId="{7341C001-F0AF-4418-95D9-934B15DF2660}"/>
    <pc:docChg chg="undo custSel addSld delSld modSld">
      <pc:chgData name="Ivan Lucas" userId="f488f667df7b9828" providerId="LiveId" clId="{7341C001-F0AF-4418-95D9-934B15DF2660}" dt="2026-08-16T17:09:32.989" v="657" actId="478"/>
      <pc:docMkLst>
        <pc:docMk/>
      </pc:docMkLst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16T17:02:05.117" v="641" actId="122"/>
        <pc:sldMkLst>
          <pc:docMk/>
          <pc:sldMk cId="0" sldId="257"/>
        </pc:sldMkLst>
        <pc:spChg chg="mod">
          <ac:chgData name="Ivan Lucas" userId="f488f667df7b9828" providerId="LiveId" clId="{7341C001-F0AF-4418-95D9-934B15DF2660}" dt="2026-08-16T17:02:05.117" v="641" actId="122"/>
          <ac:spMkLst>
            <pc:docMk/>
            <pc:sldMk cId="0" sldId="257"/>
            <ac:spMk id="25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16T16:54:05.397" v="639" actId="478"/>
        <pc:sldMkLst>
          <pc:docMk/>
          <pc:sldMk cId="0" sldId="258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8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16T16:54:01.695" v="63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Ivan Lucas" userId="f488f667df7b9828" providerId="LiveId" clId="{7341C001-F0AF-4418-95D9-934B15DF2660}" dt="2026-08-16T16:54:05.397" v="639" actId="478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1"/>
        </pc:sldMkLst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2"/>
        </pc:sldMkLst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4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5"/>
        </pc:sldMkLst>
      </pc:sldChg>
      <pc:sldChg chg="addSp 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66"/>
        </pc:sldMkLst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7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8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12" creationId="{00000000-0000-0000-0000-000000000000}"/>
          </ac:spMkLst>
        </pc:spChg>
      </pc:sldChg>
      <pc:sldChg chg="modSp del mod">
        <pc:chgData name="Ivan Lucas" userId="f488f667df7b9828" providerId="LiveId" clId="{7341C001-F0AF-4418-95D9-934B15DF2660}" dt="2026-08-08T20:48:38.273" v="29" actId="26606"/>
        <pc:sldMkLst>
          <pc:docMk/>
          <pc:sldMk cId="0" sldId="269"/>
        </pc:sldMkLst>
        <pc:spChg chg="mod">
          <ac:chgData name="Ivan Lucas" userId="f488f667df7b9828" providerId="LiveId" clId="{7341C001-F0AF-4418-95D9-934B15DF2660}" dt="2026-08-08T19:25:17.112" v="0" actId="26606"/>
          <ac:spMkLst>
            <pc:docMk/>
            <pc:sldMk cId="0" sldId="269"/>
            <ac:spMk id="11" creationId="{00000000-0000-0000-0000-000000000000}"/>
          </ac:spMkLst>
        </pc:spChg>
      </pc:sldChg>
      <pc:sldChg chg="delSp modSp add del mod">
        <pc:chgData name="Ivan Lucas" userId="f488f667df7b9828" providerId="LiveId" clId="{7341C001-F0AF-4418-95D9-934B15DF2660}" dt="2026-08-16T15:51:06.357" v="486" actId="47"/>
        <pc:sldMkLst>
          <pc:docMk/>
          <pc:sldMk cId="0" sldId="270"/>
        </pc:sldMkLst>
      </pc:sldChg>
      <pc:sldChg chg="addSp delSp modSp mod">
        <pc:chgData name="Ivan Lucas" userId="f488f667df7b9828" providerId="LiveId" clId="{7341C001-F0AF-4418-95D9-934B15DF2660}" dt="2026-08-16T17:03:25.014" v="642" actId="478"/>
        <pc:sldMkLst>
          <pc:docMk/>
          <pc:sldMk cId="0" sldId="271"/>
        </pc:sldMkLst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16T17:03:25.014" v="642" actId="478"/>
          <ac:spMkLst>
            <pc:docMk/>
            <pc:sldMk cId="0" sldId="271"/>
            <ac:spMk id="15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2"/>
        </pc:sldMkLst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12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3:51:23.534" v="359" actId="14100"/>
        <pc:sldMkLst>
          <pc:docMk/>
          <pc:sldMk cId="0" sldId="273"/>
        </pc:sldMkLst>
        <pc:spChg chg="mod">
          <ac:chgData name="Ivan Lucas" userId="f488f667df7b9828" providerId="LiveId" clId="{7341C001-F0AF-4418-95D9-934B15DF2660}" dt="2026-08-08T21:44:23.636" v="56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3:50:57.401" v="353" actId="20577"/>
          <ac:spMkLst>
            <pc:docMk/>
            <pc:sldMk cId="0" sldId="273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1:00.054" v="354" actId="478"/>
          <ac:spMkLst>
            <pc:docMk/>
            <pc:sldMk cId="0" sldId="273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3"/>
            <ac:spMk id="11" creationId="{00000000-0000-0000-0000-000000000000}"/>
          </ac:spMkLst>
        </pc:spChg>
        <pc:picChg chg="add del mod">
          <ac:chgData name="Ivan Lucas" userId="f488f667df7b9828" providerId="LiveId" clId="{7341C001-F0AF-4418-95D9-934B15DF2660}" dt="2026-08-16T13:51:23.534" v="359" actId="14100"/>
          <ac:picMkLst>
            <pc:docMk/>
            <pc:sldMk cId="0" sldId="273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4"/>
        </pc:sldMkLst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12" creationId="{00000000-0000-0000-0000-000000000000}"/>
          </ac:spMkLst>
        </pc:spChg>
      </pc:sldChg>
      <pc:sldChg chg="delSp modSp mod modNotes">
        <pc:chgData name="Ivan Lucas" userId="f488f667df7b9828" providerId="LiveId" clId="{7341C001-F0AF-4418-95D9-934B15DF2660}" dt="2026-08-09T04:26:10.233" v="321" actId="26606"/>
        <pc:sldMkLst>
          <pc:docMk/>
          <pc:sldMk cId="0" sldId="275"/>
        </pc:sldMkLst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3:14:28.481" v="210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3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4:10:14.776" v="439" actId="14100"/>
        <pc:sldMkLst>
          <pc:docMk/>
          <pc:sldMk cId="0" sldId="276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10:14.776" v="439" actId="14100"/>
          <ac:spMkLst>
            <pc:docMk/>
            <pc:sldMk cId="0" sldId="27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1:32.927" v="360" actId="478"/>
          <ac:spMkLst>
            <pc:docMk/>
            <pc:sldMk cId="0" sldId="276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6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3:52:18.759" v="372" actId="14100"/>
          <ac:picMkLst>
            <pc:docMk/>
            <pc:sldMk cId="0" sldId="276"/>
            <ac:picMk id="9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7"/>
        </pc:sldMkLst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7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0:59.842" v="115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1.793" v="116" actId="478"/>
          <ac:spMkLst>
            <pc:docMk/>
            <pc:sldMk cId="0" sldId="27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7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5.726" v="117" actId="478"/>
          <ac:spMkLst>
            <pc:docMk/>
            <pc:sldMk cId="0" sldId="277"/>
            <ac:spMk id="12" creationId="{00000000-0000-0000-0000-000000000000}"/>
          </ac:spMkLst>
        </pc:spChg>
      </pc:sldChg>
      <pc:sldChg chg="addSp delSp modSp mod modNotes">
        <pc:chgData name="Ivan Lucas" userId="f488f667df7b9828" providerId="LiveId" clId="{7341C001-F0AF-4418-95D9-934B15DF2660}" dt="2026-08-16T14:10:09.656" v="438" actId="14100"/>
        <pc:sldMkLst>
          <pc:docMk/>
          <pc:sldMk cId="0" sldId="278"/>
        </pc:sldMkLst>
        <pc:spChg chg="mod">
          <ac:chgData name="Ivan Lucas" userId="f488f667df7b9828" providerId="LiveId" clId="{7341C001-F0AF-4418-95D9-934B15DF2660}" dt="2026-08-08T22:04:04.953" v="66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10:09.656" v="438" actId="14100"/>
          <ac:spMkLst>
            <pc:docMk/>
            <pc:sldMk cId="0" sldId="27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2:31.152" v="373" actId="478"/>
          <ac:spMkLst>
            <pc:docMk/>
            <pc:sldMk cId="0" sldId="278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8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3:53:07.911" v="381" actId="1076"/>
          <ac:picMkLst>
            <pc:docMk/>
            <pc:sldMk cId="0" sldId="278"/>
            <ac:picMk id="9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9"/>
        </pc:sldMkLst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3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4:10:02.992" v="437" actId="14100"/>
        <pc:sldMkLst>
          <pc:docMk/>
          <pc:sldMk cId="0" sldId="280"/>
        </pc:sldMkLst>
        <pc:spChg chg="mod">
          <ac:chgData name="Ivan Lucas" userId="f488f667df7b9828" providerId="LiveId" clId="{7341C001-F0AF-4418-95D9-934B15DF2660}" dt="2026-08-09T02:28:39.081" v="163" actId="26606"/>
          <ac:spMkLst>
            <pc:docMk/>
            <pc:sldMk cId="0" sldId="28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4:10:02.992" v="437" actId="14100"/>
          <ac:spMkLst>
            <pc:docMk/>
            <pc:sldMk cId="0" sldId="280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6:12.243" v="382" actId="478"/>
          <ac:spMkLst>
            <pc:docMk/>
            <pc:sldMk cId="0" sldId="280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0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6:38.775" v="390" actId="14100"/>
          <ac:picMkLst>
            <pc:docMk/>
            <pc:sldMk cId="0" sldId="280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16T14:09:58.723" v="436" actId="14100"/>
        <pc:sldMkLst>
          <pc:docMk/>
          <pc:sldMk cId="0" sldId="281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8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4:09:58.723" v="436" actId="14100"/>
          <ac:spMkLst>
            <pc:docMk/>
            <pc:sldMk cId="0" sldId="281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6:52.745" v="391" actId="478"/>
          <ac:spMkLst>
            <pc:docMk/>
            <pc:sldMk cId="0" sldId="281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1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7:10.029" v="405" actId="1076"/>
          <ac:picMkLst>
            <pc:docMk/>
            <pc:sldMk cId="0" sldId="281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82"/>
        </pc:sldMkLst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2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83"/>
        </pc:sldMkLst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3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4"/>
        </pc:sldMkLst>
        <pc:spChg chg="mod">
          <ac:chgData name="Ivan Lucas" userId="f488f667df7b9828" providerId="LiveId" clId="{7341C001-F0AF-4418-95D9-934B15DF2660}" dt="2026-08-09T03:13:01.311" v="199" actId="20577"/>
          <ac:spMkLst>
            <pc:docMk/>
            <pc:sldMk cId="0" sldId="284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2.721" v="201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4.699" v="202" actId="478"/>
          <ac:spMkLst>
            <pc:docMk/>
            <pc:sldMk cId="0" sldId="28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4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6.511" v="203" actId="478"/>
          <ac:spMkLst>
            <pc:docMk/>
            <pc:sldMk cId="0" sldId="284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5"/>
        </pc:sldMkLst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6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5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6"/>
        </pc:sldMkLst>
        <pc:spChg chg="mod">
          <ac:chgData name="Ivan Lucas" userId="f488f667df7b9828" providerId="LiveId" clId="{7341C001-F0AF-4418-95D9-934B15DF2660}" dt="2026-08-09T03:24:55.948" v="215" actId="26606"/>
          <ac:spMkLst>
            <pc:docMk/>
            <pc:sldMk cId="0" sldId="286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29.067" v="213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32.972" v="214" actId="478"/>
          <ac:spMkLst>
            <pc:docMk/>
            <pc:sldMk cId="0" sldId="28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6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25:13.375" v="216" actId="478"/>
          <ac:spMkLst>
            <pc:docMk/>
            <pc:sldMk cId="0" sldId="286"/>
            <ac:spMk id="12" creationId="{00000000-0000-0000-0000-000000000000}"/>
          </ac:spMkLst>
        </pc:spChg>
      </pc:sldChg>
      <pc:sldChg chg="delSp modSp del mod">
        <pc:chgData name="Ivan Lucas" userId="f488f667df7b9828" providerId="LiveId" clId="{7341C001-F0AF-4418-95D9-934B15DF2660}" dt="2026-08-16T14:28:40.231" v="473" actId="47"/>
        <pc:sldMkLst>
          <pc:docMk/>
          <pc:sldMk cId="0" sldId="287"/>
        </pc:sldMkLst>
      </pc:sldChg>
      <pc:sldChg chg="addSp delSp modSp del mod">
        <pc:chgData name="Ivan Lucas" userId="f488f667df7b9828" providerId="LiveId" clId="{7341C001-F0AF-4418-95D9-934B15DF2660}" dt="2026-08-16T17:07:30.803" v="653" actId="20577"/>
        <pc:sldMkLst>
          <pc:docMk/>
          <pc:sldMk cId="0" sldId="288"/>
        </pc:sldMkLst>
        <pc:spChg chg="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7:06:36.169" v="646" actId="1076"/>
          <ac:spMkLst>
            <pc:docMk/>
            <pc:sldMk cId="0" sldId="288"/>
            <ac:spMk id="5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4" creationId="{00000000-0000-0000-0000-000000000000}"/>
          </ac:spMkLst>
        </pc:spChg>
        <pc:spChg chg="add del">
          <ac:chgData name="Ivan Lucas" userId="f488f667df7b9828" providerId="LiveId" clId="{7341C001-F0AF-4418-95D9-934B15DF2660}" dt="2026-08-16T17:07:02.285" v="649" actId="478"/>
          <ac:spMkLst>
            <pc:docMk/>
            <pc:sldMk cId="0" sldId="288"/>
            <ac:spMk id="16" creationId="{83477590-6680-F4D6-B2AD-E65485ECA553}"/>
          </ac:spMkLst>
        </pc:spChg>
        <pc:spChg chg="add del">
          <ac:chgData name="Ivan Lucas" userId="f488f667df7b9828" providerId="LiveId" clId="{7341C001-F0AF-4418-95D9-934B15DF2660}" dt="2026-08-16T17:07:00.301" v="648" actId="478"/>
          <ac:spMkLst>
            <pc:docMk/>
            <pc:sldMk cId="0" sldId="288"/>
            <ac:spMk id="18" creationId="{A1E402C1-42EC-8E4D-027F-C2B34E97CC70}"/>
          </ac:spMkLst>
        </pc:spChg>
        <pc:spChg chg="add">
          <ac:chgData name="Ivan Lucas" userId="f488f667df7b9828" providerId="LiveId" clId="{7341C001-F0AF-4418-95D9-934B15DF2660}" dt="2026-08-16T17:07:25.116" v="650" actId="22"/>
          <ac:spMkLst>
            <pc:docMk/>
            <pc:sldMk cId="0" sldId="288"/>
            <ac:spMk id="20" creationId="{8B85AA72-A4EB-FD6A-A9F6-318D4553BB4C}"/>
          </ac:spMkLst>
        </pc:spChg>
        <pc:spChg chg="add mod">
          <ac:chgData name="Ivan Lucas" userId="f488f667df7b9828" providerId="LiveId" clId="{7341C001-F0AF-4418-95D9-934B15DF2660}" dt="2026-08-16T17:07:30.803" v="653" actId="20577"/>
          <ac:spMkLst>
            <pc:docMk/>
            <pc:sldMk cId="0" sldId="288"/>
            <ac:spMk id="22" creationId="{5A781059-1FC1-D99C-DA8E-89170B9999C4}"/>
          </ac:spMkLst>
        </pc:spChg>
      </pc:sldChg>
      <pc:sldChg chg="delSp modSp mod">
        <pc:chgData name="Ivan Lucas" userId="f488f667df7b9828" providerId="LiveId" clId="{7341C001-F0AF-4418-95D9-934B15DF2660}" dt="2026-08-16T17:06:30.532" v="644" actId="21"/>
        <pc:sldMkLst>
          <pc:docMk/>
          <pc:sldMk cId="0" sldId="28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3.885" v="288" actId="478"/>
          <ac:spMkLst>
            <pc:docMk/>
            <pc:sldMk cId="0" sldId="289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7.351" v="289" actId="478"/>
          <ac:spMkLst>
            <pc:docMk/>
            <pc:sldMk cId="0" sldId="28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4:04:05.438" v="307" actId="478"/>
          <ac:spMkLst>
            <pc:docMk/>
            <pc:sldMk cId="0" sldId="289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16T17:06:30.532" v="644" actId="21"/>
          <ac:spMkLst>
            <pc:docMk/>
            <pc:sldMk cId="0" sldId="289"/>
            <ac:spMk id="24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7:06:30.532" v="644" actId="21"/>
          <ac:spMkLst>
            <pc:docMk/>
            <pc:sldMk cId="0" sldId="289"/>
            <ac:spMk id="25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90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90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7:32.087" v="312" actId="14100"/>
          <ac:spMkLst>
            <pc:docMk/>
            <pc:sldMk cId="0" sldId="290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8:12.458" v="317" actId="20577"/>
          <ac:spMkLst>
            <pc:docMk/>
            <pc:sldMk cId="0" sldId="290"/>
            <ac:spMk id="1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2:15.445" v="310" actId="26606"/>
          <ac:spMkLst>
            <pc:docMk/>
            <pc:sldMk cId="0" sldId="290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7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1"/>
        </pc:sldMkLst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1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2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2" creationId="{00000000-0000-0000-0000-000000000000}"/>
          </ac:spMkLst>
        </pc:spChg>
      </pc:sldChg>
      <pc:sldChg chg="delSp modSp mod modNotes">
        <pc:chgData name="Ivan Lucas" userId="f488f667df7b9828" providerId="LiveId" clId="{7341C001-F0AF-4418-95D9-934B15DF2660}" dt="2026-08-16T14:09:46.737" v="435" actId="14100"/>
        <pc:sldMkLst>
          <pc:docMk/>
          <pc:sldMk cId="0" sldId="293"/>
        </pc:sldMkLst>
        <pc:spChg chg="mod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4.108" v="295" actId="478"/>
          <ac:spMkLst>
            <pc:docMk/>
            <pc:sldMk cId="0" sldId="293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5.861" v="296" actId="478"/>
          <ac:spMkLst>
            <pc:docMk/>
            <pc:sldMk cId="0" sldId="293"/>
            <ac:spMk id="6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09:46.737" v="435" actId="14100"/>
          <ac:spMkLst>
            <pc:docMk/>
            <pc:sldMk cId="0" sldId="293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7:49.293" v="407" actId="478"/>
          <ac:spMkLst>
            <pc:docMk/>
            <pc:sldMk cId="0" sldId="293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4.095" v="300" actId="478"/>
          <ac:spMkLst>
            <pc:docMk/>
            <pc:sldMk cId="0" sldId="293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5.743" v="301" actId="478"/>
          <ac:spMkLst>
            <pc:docMk/>
            <pc:sldMk cId="0" sldId="293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8:37.501" v="420" actId="14100"/>
          <ac:picMkLst>
            <pc:docMk/>
            <pc:sldMk cId="0" sldId="293"/>
            <ac:picMk id="12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4"/>
        </pc:sldMkLst>
      </pc:sldChg>
      <pc:sldChg chg="delSp modSp mod">
        <pc:chgData name="Ivan Lucas" userId="f488f667df7b9828" providerId="LiveId" clId="{7341C001-F0AF-4418-95D9-934B15DF2660}" dt="2026-08-16T14:09:41.032" v="434" actId="14100"/>
        <pc:sldMkLst>
          <pc:docMk/>
          <pc:sldMk cId="0" sldId="295"/>
        </pc:sldMkLst>
        <pc:spChg chg="mod">
          <ac:chgData name="Ivan Lucas" userId="f488f667df7b9828" providerId="LiveId" clId="{7341C001-F0AF-4418-95D9-934B15DF2660}" dt="2026-08-16T14:09:41.032" v="434" actId="14100"/>
          <ac:spMkLst>
            <pc:docMk/>
            <pc:sldMk cId="0" sldId="295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8:43.487" v="421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4:16:32.582" v="311" actId="478"/>
          <ac:spMkLst>
            <pc:docMk/>
            <pc:sldMk cId="0" sldId="295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8:58.405" v="424" actId="14100"/>
          <ac:picMkLst>
            <pc:docMk/>
            <pc:sldMk cId="0" sldId="295"/>
            <ac:picMk id="12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6"/>
            <ac:spMk id="8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16T14:09:35.862" v="433" actId="1076"/>
        <pc:sldMkLst>
          <pc:docMk/>
          <pc:sldMk cId="0" sldId="297"/>
        </pc:sldMkLst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72" v="319" actId="27636"/>
          <ac:spMkLst>
            <pc:docMk/>
            <pc:sldMk cId="0" sldId="297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16T14:09:27.669" v="431" actId="1076"/>
          <ac:spMkLst>
            <pc:docMk/>
            <pc:sldMk cId="0" sldId="29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9:05.515" v="425" actId="478"/>
          <ac:spMkLst>
            <pc:docMk/>
            <pc:sldMk cId="0" sldId="297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9:35.862" v="433" actId="1076"/>
          <ac:picMkLst>
            <pc:docMk/>
            <pc:sldMk cId="0" sldId="297"/>
            <ac:picMk id="12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16T14:11:28.541" v="447" actId="1076"/>
        <pc:sldMkLst>
          <pc:docMk/>
          <pc:sldMk cId="0" sldId="299"/>
        </pc:sldMkLst>
        <pc:spChg chg="mod">
          <ac:chgData name="Ivan Lucas" userId="f488f667df7b9828" providerId="LiveId" clId="{7341C001-F0AF-4418-95D9-934B15DF2660}" dt="2026-08-16T14:11:17.926" v="444" actId="1076"/>
          <ac:spMkLst>
            <pc:docMk/>
            <pc:sldMk cId="0" sldId="299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0:44.387" v="440" actId="478"/>
          <ac:spMkLst>
            <pc:docMk/>
            <pc:sldMk cId="0" sldId="299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11:28.541" v="447" actId="1076"/>
          <ac:picMkLst>
            <pc:docMk/>
            <pc:sldMk cId="0" sldId="299"/>
            <ac:picMk id="12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16T14:12:12.078" v="455" actId="1076"/>
        <pc:sldMkLst>
          <pc:docMk/>
          <pc:sldMk cId="0" sldId="300"/>
        </pc:sldMkLst>
        <pc:spChg chg="mod">
          <ac:chgData name="Ivan Lucas" userId="f488f667df7b9828" providerId="LiveId" clId="{7341C001-F0AF-4418-95D9-934B15DF2660}" dt="2026-08-16T14:12:06.021" v="452" actId="1076"/>
          <ac:spMkLst>
            <pc:docMk/>
            <pc:sldMk cId="0" sldId="300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1:54.016" v="449" actId="478"/>
          <ac:spMkLst>
            <pc:docMk/>
            <pc:sldMk cId="0" sldId="300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12:12.078" v="455" actId="1076"/>
          <ac:picMkLst>
            <pc:docMk/>
            <pc:sldMk cId="0" sldId="300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16T14:19:43.725" v="472" actId="1076"/>
        <pc:sldMkLst>
          <pc:docMk/>
          <pc:sldMk cId="0" sldId="314"/>
        </pc:sldMkLst>
        <pc:spChg chg="mod">
          <ac:chgData name="Ivan Lucas" userId="f488f667df7b9828" providerId="LiveId" clId="{7341C001-F0AF-4418-95D9-934B15DF2660}" dt="2026-08-16T14:19:22.975" v="463" actId="1076"/>
          <ac:spMkLst>
            <pc:docMk/>
            <pc:sldMk cId="0" sldId="314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9:12.721" v="461" actId="478"/>
          <ac:spMkLst>
            <pc:docMk/>
            <pc:sldMk cId="0" sldId="314"/>
            <ac:spMk id="8" creationId="{00000000-0000-0000-0000-000000000000}"/>
          </ac:spMkLst>
        </pc:spChg>
        <pc:picChg chg="del mod">
          <ac:chgData name="Ivan Lucas" userId="f488f667df7b9828" providerId="LiveId" clId="{7341C001-F0AF-4418-95D9-934B15DF2660}" dt="2026-08-16T14:19:10.934" v="460" actId="478"/>
          <ac:picMkLst>
            <pc:docMk/>
            <pc:sldMk cId="0" sldId="314"/>
            <ac:picMk id="12" creationId="{00000000-0000-0000-0000-000000000000}"/>
          </ac:picMkLst>
        </pc:picChg>
        <pc:picChg chg="add mod">
          <ac:chgData name="Ivan Lucas" userId="f488f667df7b9828" providerId="LiveId" clId="{7341C001-F0AF-4418-95D9-934B15DF2660}" dt="2026-08-16T14:19:43.725" v="472" actId="1076"/>
          <ac:picMkLst>
            <pc:docMk/>
            <pc:sldMk cId="0" sldId="314"/>
            <ac:picMk id="13" creationId="{00D397B2-49AA-BAAC-F931-4B7CCCFD1F2F}"/>
          </ac:picMkLst>
        </pc:picChg>
      </pc:sldChg>
      <pc:sldChg chg="modSp mod">
        <pc:chgData name="Ivan Lucas" userId="f488f667df7b9828" providerId="LiveId" clId="{7341C001-F0AF-4418-95D9-934B15DF2660}" dt="2026-08-16T17:08:00.815" v="655" actId="122"/>
        <pc:sldMkLst>
          <pc:docMk/>
          <pc:sldMk cId="0" sldId="316"/>
        </pc:sldMkLst>
        <pc:spChg chg="mod">
          <ac:chgData name="Ivan Lucas" userId="f488f667df7b9828" providerId="LiveId" clId="{7341C001-F0AF-4418-95D9-934B15DF2660}" dt="2026-08-16T16:39:47.373" v="583" actId="20577"/>
          <ac:spMkLst>
            <pc:docMk/>
            <pc:sldMk cId="0" sldId="316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16T16:40:36.658" v="637" actId="20577"/>
          <ac:spMkLst>
            <pc:docMk/>
            <pc:sldMk cId="0" sldId="316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9:27.511" v="552" actId="1076"/>
          <ac:spMkLst>
            <pc:docMk/>
            <pc:sldMk cId="0" sldId="316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9:27.511" v="552" actId="1076"/>
          <ac:spMkLst>
            <pc:docMk/>
            <pc:sldMk cId="0" sldId="31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8:40.576" v="488"/>
          <ac:spMkLst>
            <pc:docMk/>
            <pc:sldMk cId="0" sldId="316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16T17:08:00.815" v="655" actId="122"/>
          <ac:spMkLst>
            <pc:docMk/>
            <pc:sldMk cId="0" sldId="316"/>
            <ac:spMk id="15" creationId="{00000000-0000-0000-0000-000000000000}"/>
          </ac:spMkLst>
        </pc:spChg>
      </pc:sldChg>
      <pc:sldChg chg="delSp mod">
        <pc:chgData name="Ivan Lucas" userId="f488f667df7b9828" providerId="LiveId" clId="{7341C001-F0AF-4418-95D9-934B15DF2660}" dt="2026-08-16T17:09:29.833" v="656" actId="478"/>
        <pc:sldMkLst>
          <pc:docMk/>
          <pc:sldMk cId="0" sldId="318"/>
        </pc:sldMkLst>
        <pc:spChg chg="del">
          <ac:chgData name="Ivan Lucas" userId="f488f667df7b9828" providerId="LiveId" clId="{7341C001-F0AF-4418-95D9-934B15DF2660}" dt="2026-08-16T17:09:29.833" v="656" actId="478"/>
          <ac:spMkLst>
            <pc:docMk/>
            <pc:sldMk cId="0" sldId="318"/>
            <ac:spMk id="17" creationId="{00000000-0000-0000-0000-000000000000}"/>
          </ac:spMkLst>
        </pc:spChg>
      </pc:sldChg>
      <pc:sldChg chg="delSp mod">
        <pc:chgData name="Ivan Lucas" userId="f488f667df7b9828" providerId="LiveId" clId="{7341C001-F0AF-4418-95D9-934B15DF2660}" dt="2026-08-16T17:09:32.989" v="657" actId="478"/>
        <pc:sldMkLst>
          <pc:docMk/>
          <pc:sldMk cId="0" sldId="319"/>
        </pc:sldMkLst>
        <pc:spChg chg="del">
          <ac:chgData name="Ivan Lucas" userId="f488f667df7b9828" providerId="LiveId" clId="{7341C001-F0AF-4418-95D9-934B15DF2660}" dt="2026-08-16T17:09:32.989" v="657" actId="478"/>
          <ac:spMkLst>
            <pc:docMk/>
            <pc:sldMk cId="0" sldId="319"/>
            <ac:spMk id="15" creationId="{00000000-0000-0000-0000-000000000000}"/>
          </ac:spMkLst>
        </pc:spChg>
      </pc:sldChg>
      <pc:sldChg chg="del">
        <pc:chgData name="Ivan Lucas" userId="f488f667df7b9828" providerId="LiveId" clId="{7341C001-F0AF-4418-95D9-934B15DF2660}" dt="2026-08-16T16:29:50.126" v="487" actId="47"/>
        <pc:sldMkLst>
          <pc:docMk/>
          <pc:sldMk cId="0" sldId="320"/>
        </pc:sldMkLst>
      </pc:sldChg>
      <pc:sldChg chg="delSp modSp mod">
        <pc:chgData name="Ivan Lucas" userId="f488f667df7b9828" providerId="LiveId" clId="{7341C001-F0AF-4418-95D9-934B15DF2660}" dt="2026-08-16T15:33:23.443" v="483" actId="1076"/>
        <pc:sldMkLst>
          <pc:docMk/>
          <pc:sldMk cId="0" sldId="321"/>
        </pc:sldMkLst>
        <pc:spChg chg="mod">
          <ac:chgData name="Ivan Lucas" userId="f488f667df7b9828" providerId="LiveId" clId="{7341C001-F0AF-4418-95D9-934B15DF2660}" dt="2026-08-16T15:32:58.019" v="475" actId="207"/>
          <ac:spMkLst>
            <pc:docMk/>
            <pc:sldMk cId="0" sldId="321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16T15:30:55.955" v="474" actId="478"/>
          <ac:spMkLst>
            <pc:docMk/>
            <pc:sldMk cId="0" sldId="321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5:33:23.443" v="483" actId="1076"/>
          <ac:picMkLst>
            <pc:docMk/>
            <pc:sldMk cId="0" sldId="321"/>
            <ac:picMk id="15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Dê as boas-vindas à Semana 7. Explique que nesta semana o projeto entra na Unidade 2 do material: executar tarefas até as entregas, seguindo um padrão e melhorando o processo. O Dia 1 apresenta os conceitos de gerenciamento de projeto e a ferramenta Trello; o Dia 2 trata de equipes, divisão de tarefas e cadastro de itens no Trello; o Dia 3 fecha com a divisão e o acompanhamento no Trello e a apresentação avaliativa do quadro. Lembre que cada dia tem 4h com uma pausa de 20 minutos.</a:t>
            </a:r>
          </a:p>
          <a:p>
            <a:endParaRPr/>
          </a:p>
          <a:p>
            <a:r>
              <a:t>Dica ao professor: Faça a pergunta rápida: 'quem aqui já participou de um projeto em que cada um fazia uma coisa diferente, sem combinar?' e conecte com o tema do dia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Apresente o mapa da semana: dia 1 conceitos de gerenciamento de projeto e Trello, dia 2 equipes e divisão de tarefas com cadastro no Trello, dia 3 acompanhamento, desafio em equipe e avaliação. Reforce que o conteúdo vem da Unidade 2 do material didático (páginas 108 a 117) e que a prática acontece no quadro do Trello de cada equipe.</a:t>
            </a:r>
          </a:p>
          <a:p>
            <a:endParaRPr/>
          </a:p>
          <a:p>
            <a:r>
              <a:t>Dica ao professor: Antecipe já o desafio da semana: organizar as tarefas e o fluxo de trabalho de um projeto real em equipe, usando o Trello.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Leia os três objetivos e diga aos alunos que eles serão retomados na apresentação avaliativa do Dia 3: gerenciar o projeto com tarefas e fluxo, trabalhar em equipe dividindo tarefas no Trello e acompanhar o progresso até a entrega.</a:t>
            </a:r>
          </a:p>
          <a:p>
            <a:endParaRPr/>
          </a:p>
          <a:p>
            <a:r>
              <a:t>Dica ao professor: Conecte com a Semana 6: lá planejamos de forma ágil e criamos tarefas no papel; agora essas tarefas ganham casa no Trello.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0h03</a:t>
            </a:r>
          </a:p>
          <a:p>
            <a:endParaRPr/>
          </a:p>
          <a:p>
            <a:r>
              <a:t>Fala sugerida:</a:t>
            </a:r>
          </a:p>
          <a:p>
            <a:r>
              <a:t>Abertura do Dia 1. Apresente o tema do dia — Conceitos de gerenciamento de projeto — e a lógica da sequência: retomada rápida, conteúdo, prática e fechamento. Encaminhe a leitura da agenda cronometrada no próximo slide.</a:t>
            </a:r>
          </a:p>
          <a:p>
            <a:endParaRPr/>
          </a:p>
          <a:p>
            <a:r>
              <a:t>Dica ao professor: Projete a agenda em seguida e combine o horário da pausa de 20 minutos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Projete a agenda do Dia 1 e percorra os blocos com a turma: conteúdo, prática, pausa de 20 minutos e fechamento. Combine que os horários de retorno serão respeitados. Destaque o bloco de atividade/avaliação do dia.</a:t>
            </a:r>
          </a:p>
          <a:p>
            <a:endParaRPr/>
          </a:p>
          <a:p>
            <a:r>
              <a:t>Dica ao professor: Se a turma chegar atrasada, corte a discussão dos vídeos antes de cortar a prática — a prática é o coração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0h40</a:t>
            </a:r>
          </a:p>
          <a:p>
            <a:endParaRPr/>
          </a:p>
          <a:p>
            <a:r>
              <a:t>Fala sugerida:</a:t>
            </a:r>
          </a:p>
          <a:p>
            <a:r>
              <a:t>Conduza a roda de conversa com as duas perguntas do Challenge Based Learning. Media as falas para que todo mundo participe pelo menos uma vez. Anote no quadro as palavras-chave que surgirem — elas serão retomadas na definição formal de projeto e na escolha do projeto real da equipe.</a:t>
            </a:r>
          </a:p>
          <a:p>
            <a:endParaRPr/>
          </a:p>
          <a:p>
            <a:r>
              <a:t>Dica ao professor: Se a roda estagnar, provoque com exemplos do cotidiano: organizar um aniversário, uma viagem ou uma feira da escola.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Lance formalmente o desafio avaliativo da semana, lendo o enunciado. Explique que ele permeia os três dias: hoje a equipe escolhe o projeto real e começa a pensar nas etapas; amanhã cadastra as tarefas; depois de amanhã organiza o fluxo, simula a sprint e apresenta. Mostre a rubrica que será usada no Dia 3.</a:t>
            </a:r>
          </a:p>
          <a:p>
            <a:endParaRPr/>
          </a:p>
          <a:p>
            <a:r>
              <a:t>Dica ao professor: Fotografe ou anote os projetos escolhidos por equipe — eles reaparecem na investigação do próximo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Formalize as ideias da roda de conversa: projeto é um esforço temporário, com início e fim, que cria algo novo ou melhora o que já existe; gerenciamento de projetos é o conjunto de ações com ferramentas, técnicas e habilidades para o projeto dar certo. Conecte com a Unidade 2 do material: execução das tarefas até as entregas, seguindo um padrão e melhorando o processo.</a:t>
            </a:r>
          </a:p>
          <a:p>
            <a:endParaRPr/>
          </a:p>
          <a:p>
            <a:r>
              <a:t>Dica ao professor: Volte às anotações da roda de conversa e mostre que a turma já sabia metade da definição.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Apresente o Trello conforme a página 108 do material: ferramenta online de gestão de projetos e tarefas com organização visual e colaborativa, semelhante a um quadro branco com listas e cartões, usada para gerir projetos, fluxos de trabalho e monitorar tarefas. Destaque a dinâmica: a equipe puxa cartões e os arrasta pelo fluxo definido.</a:t>
            </a:r>
          </a:p>
          <a:p>
            <a:endParaRPr/>
          </a:p>
          <a:p>
            <a:r>
              <a:t>Dica ao professor: Abra trello.com ao vivo se houver projetor: mostre a tela inicial que enfatiza organizar projetos e tarefas.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Mostre o template Kanban do Trello (pág. 109): alguns templates já estão disponíveis e o quadro Kanban traz um fluxo pré-elaborado com algumas etapas, que a equipe pode personalizar. Crie o quadro da Semana 7 ao vivo usando o modelo.</a:t>
            </a:r>
          </a:p>
          <a:p>
            <a:endParaRPr/>
          </a:p>
          <a:p>
            <a:r>
              <a:t>Dica ao professor: Mostre que renomear listas é o gesto mais comum: o template é ponto de partida, não camisa de força.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0h15</a:t>
            </a:r>
          </a:p>
          <a:p>
            <a:endParaRPr/>
          </a:p>
          <a:p>
            <a:r>
              <a:t>Fala sugerida:</a:t>
            </a:r>
          </a:p>
          <a:p>
            <a:r>
              <a:t>Conduza a criação de contas ao vivo no projetor e circule ajudando quem travar em alguma etapa. Reforce que o quadro é o lugar principal de organização do trabalho e que o template Kanban já traz um fluxo pré-elaborado (pág. 109).</a:t>
            </a:r>
          </a:p>
          <a:p>
            <a:endParaRPr/>
          </a:p>
          <a:p>
            <a:r>
              <a:t>Dica ao professor: Peça que anotem o e-mail usado em um caderno da equipe — quem faltar no Dia 2 pode receber ajuda do colega.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Apresente os elementos do Trello (pág. 110): quadros, listas, cartões, colaboração, visualização e personalização. Faça a analogia com um quadro branco da sala: o quadro é a parede, as listas são as colunas de post-its e cada post-it é um cartão.</a:t>
            </a:r>
          </a:p>
          <a:p>
            <a:endParaRPr/>
          </a:p>
          <a:p>
            <a:r>
              <a:t>Dica ao professor: Peça que anotem os seis termos — eles reaparecem no H5P do Dia 2 e na avaliação do Dia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Feche a apresentação dos elementos com visualização e personalização (págs. 110-111): o Trello mostra o progresso de forma clara, ajuda a identificar gargalos e se adapta ao projeto com etiquetas, cores, datas e checklists.</a:t>
            </a:r>
          </a:p>
          <a:p>
            <a:endParaRPr/>
          </a:p>
          <a:p>
            <a:r>
              <a:t>Dica ao professor: Pergunte: 'o que a quantidade de cartões em uma lista conta sobre a equipe?' — aquece a investigação do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Exiba o vídeo e peça aos alunos que anotem a definição de projeto apresentada (esforço temporário, com início e fim, que cria algo novo). Depois pergunte: 'o app de vocês é um projeto ou uma operação? Por quê?'</a:t>
            </a:r>
          </a:p>
          <a:p>
            <a:endParaRPr/>
          </a:p>
          <a:p>
            <a:r>
              <a:t>Dica ao professor: Transcrição e descrição em português confirmadas na página do vídeo. Se a internet falhar, use a definição do material (pág. 108).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Mostre o vídeo e peça para relacionar o que aparece nele com o roteiro do material: backlog, sprint de 15 dias, daily de 15 minutos e entrega ao cliente no fim da sprint (pág. 113). Pergunte: 'em que parte do nosso quadro do Trello cabe uma sprint?'</a:t>
            </a:r>
          </a:p>
          <a:p>
            <a:endParaRPr/>
          </a:p>
          <a:p>
            <a:r>
              <a:t>Dica ao professor: Vídeo narrado em português (transcrição confirmada). Retome a Semana 6: Scrum é o roteiro do nosso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Exiba o vídeo e conecte com o material (pág. 113): a cada dia de trabalho é importante ter pequenas reuniões de alinhamento e planejamento — as daily meetings, de cerca de 15 minutos, que podem ser feitas online. Será assim durante o desafio do Dia 3.</a:t>
            </a:r>
          </a:p>
          <a:p>
            <a:endParaRPr/>
          </a:p>
          <a:p>
            <a:r>
              <a:t>Dica ao professor: Título e canal em português confirmados no oembed e na página. Use como ponte para o desafio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Explique tarefas e objetivos com o material (pág. 114): tarefas são pequenas unidades de trabalho, realizadas por uma ou duas pessoas em até 15 dias; o que ultrapassa isso deve ser quebrado. O objetivo é o resultado esperado do projeto, e cada tarefa contribui para ele. Recupere as metas escritas na Semana 6.</a:t>
            </a:r>
          </a:p>
          <a:p>
            <a:endParaRPr/>
          </a:p>
          <a:p>
            <a:r>
              <a:t>Dica ao professor: Peça um contraexemplo: 'fazer o app' não é tarefa. Provoque a turma a reescrever tarefas genéricas.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Conecte tarefas e fluxo (pág. 113): no fluxo da sprint, histórias do usuário são escolhidas, cada história vira uma ou mais tarefas de 15 dias e o que não cabe segue para a sprint seguinte, com a capacidade da equipe repensada. No Trello, cada tarefa é um cartão posicionado na etapa do fluxo.</a:t>
            </a:r>
          </a:p>
          <a:p>
            <a:endParaRPr/>
          </a:p>
          <a:p>
            <a:r>
              <a:t>Dica ao professor: Recupere a sprint simulada da Semana 6: as tarefas criadas então podem entrar no quadro de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Explique fluxo de trabalho (pág. 113): o caminho que a tarefa percorre. Distinga o fluxo da sprint (15 dias, com histórias escolhidas que viram tarefas) do fluxo do sistema, diário e contínuo. No Trello, cada etapa do fluxo vira uma lista do quadro.</a:t>
            </a:r>
          </a:p>
          <a:p>
            <a:endParaRPr/>
          </a:p>
          <a:p>
            <a:r>
              <a:t>Dica ao professor: Desenhe no quadro um mini-fluxo de 3 etapas e mova um cartão em tempo real durante a explicação.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0h50</a:t>
            </a:r>
          </a:p>
          <a:p>
            <a:endParaRPr/>
          </a:p>
          <a:p>
            <a:r>
              <a:t>Fala sugerida:</a:t>
            </a:r>
          </a:p>
          <a:p>
            <a:r>
              <a:t>Conduza a investigação: as equipes discutem as etapas de um fluxo de trabalho e propõem listas para o próprio quadro. Depois compare com o fluxo do material (Backlog, Design, A fazer, Em andamento, Revisão de código, Fase de teste, Concluído) e com o modelo simples To Do / Doing / Done. Circule questionando se as etapas refletem o trabalho real.</a:t>
            </a:r>
          </a:p>
          <a:p>
            <a:endParaRPr/>
          </a:p>
          <a:p>
            <a:r>
              <a:t>Dica ao professor: Não feche a resposta: o objetivo é investigar, não acertar. As propostas serão validadas na montagem do quadro no Dia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0h20</a:t>
            </a:r>
          </a:p>
          <a:p>
            <a:endParaRPr/>
          </a:p>
          <a:p>
            <a:r>
              <a:t>Fala sugerida:</a:t>
            </a:r>
          </a:p>
          <a:p>
            <a:r>
              <a:t>Oriente o estudo: as equipes localizam no material como tarefas, objetivos e entregas se conectam (págs. 114, 117) e listam boas práticas de uso do Trello. Ao final, cada equipe compartilha 3 aprendizados com a turma.</a:t>
            </a:r>
          </a:p>
          <a:p>
            <a:endParaRPr/>
          </a:p>
          <a:p>
            <a:r>
              <a:t>Dica ao professor: Dê 15 minutos de leitura e 5 de compartilhamento; registre no quadro as boas práticas mais 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Feche o dia retomando a síntese e antecipe o Dia 2: a equipe ganha papéis e as tarefas propostas hoje viram cartões no Trello. Reforce o combinado de horário com a pausa.</a:t>
            </a:r>
          </a:p>
          <a:p>
            <a:endParaRPr/>
          </a:p>
          <a:p>
            <a:r>
              <a:t>Dica ao professor: Peça um 'exit ticket' rápido: cada aluno escreve em uma palavra o que leva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0h03</a:t>
            </a:r>
          </a:p>
          <a:p>
            <a:endParaRPr/>
          </a:p>
          <a:p>
            <a:r>
              <a:t>Fala sugerida:</a:t>
            </a:r>
          </a:p>
          <a:p>
            <a:r>
              <a:t>Abertura do Dia 2. Apresente o tema do dia — Equipes e tarefas no Trello — e a lógica da sequência: retomada rápida, conteúdo, prática e fechamento. Encaminhe a leitura da agenda cronometrada no próximo slide.</a:t>
            </a:r>
          </a:p>
          <a:p>
            <a:endParaRPr/>
          </a:p>
          <a:p>
            <a:r>
              <a:t>Dica ao professor: Projete a agenda em seguida e combine o horário da pausa de 20 minutos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Projete a agenda do Dia 2 e percorra os blocos com a turma: conteúdo, prática, pausa de 20 minutos e fechamento. Combine que os horários de retorno serão respeitados. Destaque o bloco de atividade/avaliação do dia.</a:t>
            </a:r>
          </a:p>
          <a:p>
            <a:endParaRPr/>
          </a:p>
          <a:p>
            <a:r>
              <a:t>Dica ao professor: Se a turma chegar atrasada, corte a discussão dos vídeos antes de cortar a prática — a prática é o coração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Apresente equipes e papéis (pág. 111): equipes ágeis de 5 a 9 pessoas assumindo 1 ou mais papéis — desenvolvedor, gerente do produto e dono do produto. Explique os subpapéis do desenvolvedor (designer, testador, codificador) e que a equipe ágil é multidisciplinar e se auto-organiza, com a missão mais importante de concluir tarefas e metas no prazo.</a:t>
            </a:r>
          </a:p>
          <a:p>
            <a:endParaRPr/>
          </a:p>
          <a:p>
            <a:r>
              <a:t>Dica ao professor: Peça que cada equipe do curso nomeie provisoriamente quem observa cada papel; os papéis podem revezar.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0h07</a:t>
            </a:r>
          </a:p>
          <a:p>
            <a:endParaRPr/>
          </a:p>
          <a:p>
            <a:r>
              <a:t>Fala sugerida:</a:t>
            </a:r>
          </a:p>
          <a:p>
            <a:r>
              <a:t>Mostre a montagem da equipe no Trello (pág. 112): o criador do quadro convida as pessoas pelo botão Compartilhar, inserindo os e-mails. Faça a demonstração ao vivo com o quadro da Semana 6 ou de uma equipe voluntária.</a:t>
            </a:r>
          </a:p>
          <a:p>
            <a:endParaRPr/>
          </a:p>
          <a:p>
            <a:r>
              <a:t>Dica ao professor: Lembre que o e-mail usado na conta precisa ser o mesmo que recebe o convite — cuidado com erros de digitação.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Explique a forma de divisão de tarefas: a quebra técnica transforma histórias em tarefas pequenas (pág. 114) e a equipe se auto-organiza — no Trello, cada membro puxa ou é atribuído a um cartão conforme disponibilidade, habilidade ou interesse. Reforce o equilíbrio: ninguém com muitas tarefas simultâneas.</a:t>
            </a:r>
          </a:p>
          <a:p>
            <a:endParaRPr/>
          </a:p>
          <a:p>
            <a:r>
              <a:t>Dica ao professor: Faça uma simulação de 2 minutos: um cartão no quadro e pergunte quem puxa e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Explique o ajuste de capacidade (pág. 113): quando a tarefa não é concluída na sprint atual, ela vai para a sprint seguinte e a capacidade da equipe precisa ser repensada. Use o quadro como termômetro: muitas tarefas em 'A fazer' com poucas concluídas é sinal de sprint superlotada.</a:t>
            </a:r>
          </a:p>
          <a:p>
            <a:endParaRPr/>
          </a:p>
          <a:p>
            <a:r>
              <a:t>Dica ao professor: Pergunte: 'o que é melhor, terminar 3 tarefas ou começar 8 e concluir 2?' — a resposta conecta com o limite de WIP dos vídeos.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0h07</a:t>
            </a:r>
          </a:p>
          <a:p>
            <a:endParaRPr/>
          </a:p>
          <a:p>
            <a:r>
              <a:t>Fala sugerida:</a:t>
            </a:r>
          </a:p>
          <a:p>
            <a:r>
              <a:t>Explique tarefas e esforço (págs. 114-115): antes de cadastrar o cartão, a tarefa é analisada — esforço, tecnologias, relações com outras tarefas, cadastros e complexidade. Estimativas mal feitas são normais em equipes iniciantes; a experiência torna a equipe mais assertiva.</a:t>
            </a:r>
          </a:p>
          <a:p>
            <a:endParaRPr/>
          </a:p>
          <a:p>
            <a:r>
              <a:t>Dica ao professor: Peça estimativas rápidas em horas para 2 tarefas do projeto da equipe — comparação entre equipes rende discussão boa.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0h12</a:t>
            </a:r>
          </a:p>
          <a:p>
            <a:endParaRPr/>
          </a:p>
          <a:p>
            <a:r>
              <a:t>Fala sugerida:</a:t>
            </a:r>
          </a:p>
          <a:p>
            <a:r>
              <a:t>Exiba os primeiros 10 minutos: criação da conta gratuita, do quadro e das listas. Peça que cada equipe abra o trello.com e acompanhe criando o próprio quadro do projeto.</a:t>
            </a:r>
          </a:p>
          <a:p>
            <a:endParaRPr/>
          </a:p>
          <a:p>
            <a:r>
              <a:t>Dica ao professor: Transcrição em português confirmada na página. Se necessário, exiba só os trechos de criação de quadro e cartões.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Use como complemento: mostre como organizar bem as listas sem complicar — comece simples e evolua conforme a equipe entende a própria rotina, como o próprio tutorial recomenda.</a:t>
            </a:r>
          </a:p>
          <a:p>
            <a:endParaRPr/>
          </a:p>
          <a:p>
            <a:r>
              <a:t>Dica ao professor: Transcrição em português confirmada na página. Se o tempo ficar apertado, este vídeo pode ser indicado para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Exiba e conecte com o material (pág. 110): o Kanban organiza o trabalho em um quadro com colunas, e cada tarefa é um cartão movido entre etapas. É exatamente a lógica do quadro que a equipe vai montar no Trello.</a:t>
            </a:r>
          </a:p>
          <a:p>
            <a:endParaRPr/>
          </a:p>
          <a:p>
            <a:r>
              <a:t>Dica ao professor: Transcrição em português confirmada na página. Template de quadro citado na descrição do vídeo pode ser explorado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Detalhe o cartão (págs. 115-116): para adicionar, clique em 'Adicionar um cartão'; para expandir, clique nele. O cartão carrega nome, descrição, responsável, complexidade, anexos, datas, checklist de subtarefas, membros e comentários. Demonstre ao vivo criando um cartão completo.</a:t>
            </a:r>
          </a:p>
          <a:p>
            <a:endParaRPr/>
          </a:p>
          <a:p>
            <a:r>
              <a:t>Dica ao professor: Mostre um cartão real movido de lista em lista para que a turma visualize o ciclo de vida da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Apresente a personalização (pág. 111): etiquetas, cores, datas de entrega, checklists e outros recursos adaptam o Trello ao projeto. Cada um desses recursos mora no cartão (págs. 115-116) e fará diferença no acompanhamento do Dia 3.</a:t>
            </a:r>
          </a:p>
          <a:p>
            <a:endParaRPr/>
          </a:p>
          <a:p>
            <a:r>
              <a:t>Dica ao professor: Proponha uma convenção simples para a turma: uma cor por tipo de tarefa e um prazo em todo cartão.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0h15</a:t>
            </a:r>
          </a:p>
          <a:p>
            <a:endParaRPr/>
          </a:p>
          <a:p>
            <a:r>
              <a:t>Fala sugerida:</a:t>
            </a:r>
          </a:p>
          <a:p>
            <a:r>
              <a:t>Conduza o roteiro passo a passo no projetor e deixe as equipes reproduzirem no quadro delas: listas mínimas definidas, cartões nomeados com clareza, descrição, prazo, membro e checklist. Circule garantindo que nenhum cartão fique sem responsável ou prazo.</a:t>
            </a:r>
          </a:p>
          <a:p>
            <a:endParaRPr/>
          </a:p>
          <a:p>
            <a:r>
              <a:t>Dica ao professor: Nomes vagos ('fazer tela') serão devolvidos: peça que a equipe reescreva descrevendo o resultado esperado.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0h45</a:t>
            </a:r>
          </a:p>
          <a:p>
            <a:endParaRPr/>
          </a:p>
          <a:p>
            <a:r>
              <a:t>Fala sugerida:</a:t>
            </a:r>
          </a:p>
          <a:p>
            <a:r>
              <a:t>Conduza a prática: cada equipe quebra a história escolhida em 3 a 5 tarefas e as cadastra no Trello com nome, descrição, responsável e prazo. Ao final, cada equipe apresenta o quadro em 1 minuto. Registre equipes com cartões completos — isso alimenta a avaliação do Dia 3.</a:t>
            </a:r>
          </a:p>
          <a:p>
            <a:endParaRPr/>
          </a:p>
          <a:p>
            <a:r>
              <a:t>Dica ao professor: Photografe cada quadro ao final: a foto serve de registro de progresso e evita discussões sobre o que foi combinado.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0h20</a:t>
            </a:r>
          </a:p>
          <a:p>
            <a:endParaRPr/>
          </a:p>
          <a:p>
            <a:r>
              <a:t>Fala sugerida:</a:t>
            </a:r>
          </a:p>
          <a:p>
            <a:r>
              <a:t>Aplique a atividade H5P 'Complete as palavras sobre Trello' em duplas e corrija coletivamente. As respostas retomam quadros, listas, cartões, fluxo, responsável, prazo e colaboração. Use as correções para reforçar termos que serão cobrados na apresentação avaliativa do Dia 3.</a:t>
            </a:r>
          </a:p>
          <a:p>
            <a:endParaRPr/>
          </a:p>
          <a:p>
            <a:r>
              <a:t>Dica ao professor: Se a plataforma H5P não estiver disponível, projete as frases e peça respostas no caderno — a fixação é o que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Feche o dia com a síntese e conecte: hoje as tarefas ganharam casa no Trello; amanhã o quadro ganha o fluxo completo e a sprint simulada — e o quadro é apresentado para avaliação.</a:t>
            </a:r>
          </a:p>
          <a:p>
            <a:endParaRPr/>
          </a:p>
          <a:p>
            <a:r>
              <a:t>Dica ao professor: Lembre as equipes de revisar os cartões pendentes antes do Dia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0h03</a:t>
            </a:r>
          </a:p>
          <a:p>
            <a:endParaRPr/>
          </a:p>
          <a:p>
            <a:r>
              <a:t>Fala sugerida:</a:t>
            </a:r>
          </a:p>
          <a:p>
            <a:r>
              <a:t>Abertura do Dia 3. Apresente o tema do dia — Dividindo, acompanhando e apresentando — e a lógica da sequência: retomada rápida, conteúdo, prática e fechamento. Encaminhe a leitura da agenda cronometrada no próximo slide.</a:t>
            </a:r>
          </a:p>
          <a:p>
            <a:endParaRPr/>
          </a:p>
          <a:p>
            <a:r>
              <a:t>Dica ao professor: Projete a agenda em seguida e combine o horário da pausa de 20 minutos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Projete a agenda do Dia 3 e percorra os blocos com a turma: conteúdo, prática, pausa de 20 minutos e fechamento. Combine que os horários de retorno serão respeitados. Destaque o bloco de atividade/avaliação do dia.</a:t>
            </a:r>
          </a:p>
          <a:p>
            <a:endParaRPr/>
          </a:p>
          <a:p>
            <a:r>
              <a:t>Dica ao professor: Se a turma chegar atrasada, corte a discussão dos vídeos antes de cortar a prática — a prática é o coração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Retome a divisão de tarefas agora dentro do Trello: as listas representam as etapas do fluxo combinadas na investigação do Dia 1; cada cartão tem um dono e um prazo; o cartão se move entre listas conforme a tarefa avança. Cartões parados demais sinalizam gargalos ou tarefas mal quebradas.</a:t>
            </a:r>
          </a:p>
          <a:p>
            <a:endParaRPr/>
          </a:p>
          <a:p>
            <a:r>
              <a:t>Dica ao professor: Pergunte: 'como o quadro denuncia uma tarefa grande demais?' — a resposta esperada é o cartão empacado na mesma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Detalhe o fluxo completo proposto no material (págs. 113-114): Backlog (tudo coletado para produzir), Design, A fazer (entrou na sprint), Em andamento, Revisão de código, Fase de teste e Concluído. No Trello, escolher um quadro Kanban de template já traz um fluxo pré-elaborado, e tudo pode ser personalizado.</a:t>
            </a:r>
          </a:p>
          <a:p>
            <a:endParaRPr/>
          </a:p>
          <a:p>
            <a:r>
              <a:t>Dica ao professor: Peça às equipes que comparem as listas propostas no Dia 1 com este fluxo e ajustem as listas do quadro delas.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0h04</a:t>
            </a:r>
          </a:p>
          <a:p>
            <a:endParaRPr/>
          </a:p>
          <a:p>
            <a:r>
              <a:t>Fala sugerida:</a:t>
            </a:r>
          </a:p>
          <a:p>
            <a:r>
              <a:t>Mostre o modelo mais simples de fluxo (pág. 114): To Do, Doing e Done. Ele é suficiente para equipes iniciantes e para o desafio de hoje — se a equipe preferir o fluxo completo, pode manter as listas extras.</a:t>
            </a:r>
          </a:p>
          <a:p>
            <a:endParaRPr/>
          </a:p>
          <a:p>
            <a:r>
              <a:t>Dica ao professor: Deixe claro que a escolha é da equipe: o importante é que o fluxo represente o trabalho real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Exiba e relacione cada princípio com o quadro da equipe: as colunas mostram o fluxo, o limite de tarefas em andamento evita sobrecarga e o Painel do Trello ajuda a enxergar os gargalos (págs. 110, 113-114, 116).</a:t>
            </a:r>
          </a:p>
          <a:p>
            <a:endParaRPr/>
          </a:p>
          <a:p>
            <a:r>
              <a:t>Dica ao professor: Transcrição em português confirmada na página. Peça que identifiquem gargalos no próprio quadro após o vídeo.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Feche a parte teórica com esta visão geral do Kanban aplicada a projetos. Peça às equipes que digam como o quadro delas mostra o fluxo: quantas etapas têm? Onde o trabalho mais costuma parar?</a:t>
            </a:r>
          </a:p>
          <a:p>
            <a:endParaRPr/>
          </a:p>
          <a:p>
            <a:r>
              <a:t>Dica ao professor: Título e canal em português confirmados via oembed. Use como aquecimento do desafio da sprint simulada.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Explique o acompanhamento (pág. 116): o Painel do Trello, ativado pelo ícone de controle, mostra cartões por lista, por data e por membro, com gráficos de cartões trabalhados, concluídos e pendentes. Com filtros, a equipe avalia se está adiantada ou atrasada e discute o que ajustar.</a:t>
            </a:r>
          </a:p>
          <a:p>
            <a:endParaRPr/>
          </a:p>
          <a:p>
            <a:r>
              <a:t>Dica ao professor: Abra o Painel do quadro de uma equipe ao vivo e interprete os números com a turma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Detalhe a leitura do Painel (pág. 116): gráficos mostram cartões por lista, por data e por membro, com números de cartões trabalhados, por etapa, concluídos e pendentes. Os filtros permitem responder: a equipe está adiantada ou atrasada? Tem muita coisa pendente? A resposta deve virar decisão, não apenas observação.</a:t>
            </a:r>
          </a:p>
          <a:p>
            <a:endParaRPr/>
          </a:p>
          <a:p>
            <a:r>
              <a:t>Dica ao professor: Peça que uma equipe leia o próprio Painel em voz alta e proponha uma ação concreta a partir dos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Amarre o ritmo da sprint (pág. 113): daily meetings rápidas de 15 minutos todos os dias de trabalho, análise e entrega ao cliente no fim da sprint e uma reunião de cerca de uma hora para refletir sobre o desempenho da equipe. Antecipe que a sprint simulada do próximo bloco inclui um mini-daily.</a:t>
            </a:r>
          </a:p>
          <a:p>
            <a:endParaRPr/>
          </a:p>
          <a:p>
            <a:r>
              <a:t>Dica ao professor: Ligue com o vídeo da daily visto no Dia 1: as três perguntas podem guiar a mini-daily da simulação.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Explique gargalos (págs. 110, 114): o ponto do fluxo onde o trabalho acumula e atrasa a entrega. O Trello facilita identificar gargalos porque oferece uma visão clara e organizada do progresso das tarefas. Revisão de código e fase de teste existem no fluxo justamente para evitar o gargalo final.</a:t>
            </a:r>
          </a:p>
          <a:p>
            <a:endParaRPr/>
          </a:p>
          <a:p>
            <a:r>
              <a:t>Dica ao professor: Mostre um exemplo hipotético: 8 cartões em 'Fase de teste' e 0 em 'Concluído' — o que a equipe faria?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1h15</a:t>
            </a:r>
          </a:p>
          <a:p>
            <a:endParaRPr/>
          </a:p>
          <a:p>
            <a:r>
              <a:t>Fala sugerida:</a:t>
            </a:r>
          </a:p>
          <a:p>
            <a:r>
              <a:t>Conduza o desafio CBL de implementação: cada equipe organiza o projeto real no Trello (colunas como etapas do fluxo, membros atribuídos, prazos) e simula uma sprint, com mini-daily e acompanhamento pelo Painel. Circule mediando a divisão de tarefas e garantindo que o quadro fique coerente com o fluxo combinado no Dia 1.</a:t>
            </a:r>
          </a:p>
          <a:p>
            <a:endParaRPr/>
          </a:p>
          <a:p>
            <a:r>
              <a:t>Dica ao professor: Fotografe o Painel de cada equipe: os gráficos rendem comparativo interessante no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Explique as entregas (pág. 117): reunião com apresentação ao cliente, com material de apoio (slides, vídeos, demonstração) e espaço para dúvidas e feedback. A apresentação é do tipo aula, e pode haver termo de aceite: o sistema é entregue por pedaços que já podem ser usados.</a:t>
            </a:r>
          </a:p>
          <a:p>
            <a:endParaRPr/>
          </a:p>
          <a:p>
            <a:r>
              <a:t>Dica ao professor: Feche a ponte para a avaliação: apresentar o quadro do Trello é um ensaio da apresentação de entregas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0h03</a:t>
            </a:r>
          </a:p>
          <a:p>
            <a:endParaRPr/>
          </a:p>
          <a:p>
            <a:r>
              <a:t>Fala sugerida:</a:t>
            </a:r>
          </a:p>
          <a:p>
            <a:r>
              <a:t>Feche o tema entregas com o tom humano do material (pág. 117): a entrega pode ter um momento de descontração, como coffee break e música, para comemorar o marco da entrega parcial ou final. Nesta semana, o marco é a apresentação do quadro da equipe.</a:t>
            </a:r>
          </a:p>
          <a:p>
            <a:endParaRPr/>
          </a:p>
          <a:p>
            <a:r>
              <a:t>Dica ao professor: Use o fechamento do dia para valorizar o trabalho de cada equipe antes de sair da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0h30</a:t>
            </a:r>
          </a:p>
          <a:p>
            <a:endParaRPr/>
          </a:p>
          <a:p>
            <a:r>
              <a:t>Fala sugerida:</a:t>
            </a:r>
          </a:p>
          <a:p>
            <a:r>
              <a:t>Realize a apresentação avaliativa: cada equipe apresenta o quadro Trello demonstrando objetivos, itens com atribuições claras e organização lógica do fluxo. Registre os destaques por equipe e retome os três objetivos da semana ao final das apresentações.</a:t>
            </a:r>
          </a:p>
          <a:p>
            <a:endParaRPr/>
          </a:p>
          <a:p>
            <a:r>
              <a:t>Dica ao professor: Se sobrar tempo, abra 2 minutos de perguntas entre equipes — a troca entre quadros é parte da colaboração.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Apresente a rubrica antes das apresentações para que as equipes saibam onde ganhar pontos: clareza nas tarefas e objetivos, divisão equilibrada, uso adequado dos recursos do Trello (listas, cartões, membros, prazos) e participação e colaboração. Distribua o peso entre os quatro critérios conforme o registro de sua avaliação.</a:t>
            </a:r>
          </a:p>
          <a:p>
            <a:endParaRPr/>
          </a:p>
          <a:p>
            <a:r>
              <a:t>Dica ao professor: Registre os pontos por equipe no mesmo caderno da Semana 6 — a nota da semana é composta.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Percorra a síntese dos três dias conectando com os objetivos do início da semana: gerenciar o projeto, trabalhar em equipe e acompanhar até a entrega. Pergunte onde cada objetivo foi praticado.</a:t>
            </a:r>
          </a:p>
          <a:p>
            <a:endParaRPr/>
          </a:p>
          <a:p>
            <a:r>
              <a:t>Dica ao professor: Se houver tempo, peça a um aluno de cada dia resumir sua parte em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0h04</a:t>
            </a:r>
          </a:p>
          <a:p>
            <a:endParaRPr/>
          </a:p>
          <a:p>
            <a:r>
              <a:t>Fala sugerida:</a:t>
            </a:r>
          </a:p>
          <a:p>
            <a:r>
              <a:t>Projete o checklist e peça que cada aluno confira mentalmente o que entregou. O checklist orienta a recuperação de pontos para quem ficou para trás em algum item.</a:t>
            </a:r>
          </a:p>
          <a:p>
            <a:endParaRPr/>
          </a:p>
          <a:p>
            <a:r>
              <a:t>Dica ao professor: Deixe este slide aberto enquanto circula pela sala respondendo dúvidas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Abra para dúvidas gerais e feche com os compromissos: quadro atualizado, cartões completos e Painel consultado. Antecipe as próximas semanas, que aprofundam esforço e datas das entregas.</a:t>
            </a:r>
          </a:p>
          <a:p>
            <a:endParaRPr/>
          </a:p>
          <a:p>
            <a:r>
              <a:t>Dica ao professor: Registre as dúvidas não respondidas e retome-as na abertura da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0h02</a:t>
            </a:r>
          </a:p>
          <a:p>
            <a:endParaRPr/>
          </a:p>
          <a:p>
            <a:r>
              <a:t>Fala sugerida:</a:t>
            </a:r>
          </a:p>
          <a:p>
            <a:r>
              <a:t>Indique as fontes da semana: o material didático (Unidade 2, págs. 108-117) e os vídeos de apoio com QR Code. Reforce que os alunos podem acessar tudo pelo material digital da disciplina.</a:t>
            </a:r>
          </a:p>
          <a:p>
            <a:endParaRPr/>
          </a:p>
          <a:p>
            <a:r>
              <a:t>Dica ao professor: Sugira que fotografem este slide para consultar as referências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0h02</a:t>
            </a:r>
          </a:p>
          <a:p>
            <a:endParaRPr/>
          </a:p>
          <a:p>
            <a:r>
              <a:t>Fala sugerida:</a:t>
            </a:r>
          </a:p>
          <a:p>
            <a:r>
              <a:t>Slide de fechamento. Agradeça a participação, reforce os compromissos da equipe e diga que a sprint no Trello continua entre as aulas — o quadro é o ponto de encontro do projeto.</a:t>
            </a:r>
          </a:p>
          <a:p>
            <a:endParaRPr/>
          </a:p>
          <a:p>
            <a:r>
              <a:t>Dica ao professor: Combine o canal de comunicação da semana para dúvidas entre as aulas.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83, pág. 108). Conecte com o slide anterior e oriente a leitura. Mostre o site e o objetivo da ferramenta: organizar projetos e tarefas. Peça que abram trello.com no celular.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84, pág. 109). Conecte com o slide anterior e oriente a leitura. Contas Google/Microsoft ou cadastro por e-mail — cada aluno cria a conta agora.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85, pág. 110). Conecte com o slide anterior e oriente a leitura. Após o login, escolha ou crie o quadro do projeto da equipe.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89, pág. 113). Conecte com o slide anterior e oriente a leitura. Do backlog à entrega: mostre onde a sprint entra no ciclo e conecte com o quadro Kanban.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86, pág. 111). Conecte com o slide anterior e oriente a leitura. Scrum Master, Product Owner e Development Team — compare com os papéis que a equipe vai assumir.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87, pág. 112). Conecte com o slide anterior e oriente a leitura. Botão Compartilhar: convide a equipe pelo e-mail (tela de e-mails: fig. 88, pág. 112).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91, pág. 115). Conecte com o slide anterior e oriente a leitura. Cada tarefa é um cartão: mostre o botão destacado e siga para o formulário do cartão.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92, pág. 115). Conecte com o slide anterior e oriente a leitura. Título, descrição, responsável, datas e checklist — é aqui que a tarefa ganha detalhe.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90, pág. 114). Conecte com o slide anterior e oriente a leitura. Fluxos prontos do Trello; compare com o modelo simples To Do, Doing, Done do slide anterior.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93, pág. 116). Conecte com o slide anterior e oriente a leitura. Botão Painel: cartões por lista, por data ou por membro — base do acompanhamento.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94, pág. 117). Conecte com o slide anterior e oriente a leitura. Leia o gráfico com a turma: quantos cartões em cada etapa, concluídos e pendentes.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novo: figura recortada do material didático (Figura 95, pág. 117). Conecte com o slide anterior e oriente a leitura. Entrega por pedaços, que já podem ser usados — fechamento do ciclo CBL.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cXSYwFongFU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XfvQWnRgxG0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M1oxqpCIp14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yEjI1KLIYQs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nUFbCpSH7YA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Iuputq5jVZA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u_Ba7AxX3X8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z1drxmwUCJg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7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7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3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42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lang="pt-BR" sz="864" b="0">
                <a:solidFill>
                  <a:srgbClr val="606E84"/>
                </a:solidFill>
                <a:latin typeface="Aptos"/>
              </a:rPr>
              <a:t>1 / 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035040" cy="626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800" b="1" err="1">
                <a:solidFill>
                  <a:srgbClr val="142341"/>
                </a:solidFill>
                <a:latin typeface="Aptos Display"/>
              </a:rPr>
              <a:t>AppClicks</a:t>
            </a:r>
            <a:r>
              <a:rPr lang="pt-BR" sz="3800" b="1">
                <a:solidFill>
                  <a:srgbClr val="142341"/>
                </a:solidFill>
                <a:latin typeface="Aptos Display"/>
              </a:rPr>
              <a:t> - Semana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8892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127248"/>
            <a:ext cx="5897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22E40"/>
                </a:solidFill>
                <a:latin typeface="Aptos"/>
              </a:rPr>
              <a:t>Fluxos de trabalho, tarefas e entregas: gerencie o projeto com o Trello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5897880" cy="214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300" b="0">
                <a:solidFill>
                  <a:srgbClr val="606E84"/>
                </a:solidFill>
                <a:latin typeface="Aptos"/>
              </a:rPr>
              <a:t>Disciplina 1 — Unidade 2  •  3 dias × 4h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67728" y="2395728"/>
            <a:ext cx="1024128" cy="1024128"/>
          </a:xfrm>
          <a:prstGeom prst="roundRect">
            <a:avLst>
              <a:gd name="adj" fmla="val 1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68896" y="2596896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79792" y="260604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8896" y="2980944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5257800"/>
            <a:ext cx="1965960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5532120"/>
            <a:ext cx="1325880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5806440"/>
            <a:ext cx="822960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 / 71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Visão geral da Semana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2487168" cy="429768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600200"/>
            <a:ext cx="2487168" cy="502920"/>
          </a:xfrm>
          <a:prstGeom prst="roundRect">
            <a:avLst>
              <a:gd name="adj" fmla="val 12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7099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86000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Conceitos de gerenciamento de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54680"/>
            <a:ext cx="21214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Roda de conversa sobre projetos e organização; tarefas, objetivos e fluxo de trabalho; investigação com estudo orientado sobre o Trello.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5" y="1600200"/>
            <a:ext cx="2487168" cy="429768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28415" y="1600200"/>
            <a:ext cx="2487168" cy="502920"/>
          </a:xfrm>
          <a:prstGeom prst="roundRect">
            <a:avLst>
              <a:gd name="adj" fmla="val 12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1296" y="17099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286000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Equipes e tarefas no Trello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154680"/>
            <a:ext cx="21214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Equipes e papéis, divisão de tarefas, cadastro de itens no Trello, prática de criação de tarefas e H5P de fixação.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98464" y="1600200"/>
            <a:ext cx="2487168" cy="429768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98464" y="1600200"/>
            <a:ext cx="2487168" cy="502920"/>
          </a:xfrm>
          <a:prstGeom prst="roundRect">
            <a:avLst>
              <a:gd name="adj" fmla="val 12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17099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286000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Acompanhamento e avaliação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154680"/>
            <a:ext cx="21214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Fluxo Kanban no quadro, dividindo e acompanhando atividades no Trello, desafio em equipe e apresentação avaliativa do quadro.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 / 71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Objetivos da Aula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4475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Gerenciar 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67328"/>
            <a:ext cx="219456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Compreender o que é gerenciamento de projetos e definir tarefas, objetivos e fluxo de trabalho de um projeto real.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8415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Trabalhar em equipe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67328"/>
            <a:ext cx="219456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Definir equipes, papéis e a forma de divisão de tarefas, cadastrando os itens no Trello com responsáveis e prazos.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8464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84848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Acompanhar e entregar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3767328"/>
            <a:ext cx="219456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Acompanhar as atividades no Trello, simular uma sprint e apresentar o quadro da equipe com organização lógica do fluxo.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3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42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lang="pt-BR" sz="864" b="0">
                <a:solidFill>
                  <a:srgbClr val="606E84"/>
                </a:solidFill>
                <a:latin typeface="Aptos"/>
              </a:rPr>
              <a:t>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77240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500" b="1">
                <a:solidFill>
                  <a:srgbClr val="606E84"/>
                </a:solidFill>
                <a:latin typeface="Aptos"/>
              </a:rPr>
              <a:t>SEMANA 7  •  DIA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7772400" cy="560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400" b="1">
                <a:solidFill>
                  <a:srgbClr val="142341"/>
                </a:solidFill>
                <a:latin typeface="Aptos Display"/>
              </a:rPr>
              <a:t>Conceitos de gerenciamento de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Roda de conversa sobre projetos e organização, lançamento do desafio da semana, a ferramenta Trello e como definir tarefas, objetivos e fluxo de trabalho.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53949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Agenda do Dia 1 — 4 horas (com pausa)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44752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59052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0h00–0h20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463040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Abertura da semana, objetivos e visão geral dos 3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29968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144268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0h20–1h00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048256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CBL Engajamento: roda de conversa sobre projetos e organização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15184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29484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1h00–1h30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633472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Conteúdo: gerenciamento de projetos e a ferramenta Trello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00400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31470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1h30–2h00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3218688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Conteúdo: definindo tarefas, objetivos e fluxo de trabalho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85616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899916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2h00–2h20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3803904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06E84"/>
                </a:solidFill>
                <a:latin typeface="Aptos"/>
              </a:rPr>
              <a:t>P A U S A  (20 minutos)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70832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485132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2h20–2h50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4389120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Vídeos: gestão de projetos, Scrum e reuniões diárias + discussão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56048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070348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2h50–3h40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4974336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Investigação: discussão em grupo sobre as etapas do fluxo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41264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655564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102033"/>
                </a:solidFill>
                <a:latin typeface="Aptos"/>
              </a:rPr>
              <a:t>3h40–4h00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559551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Estudo orientado: tarefas, objetivos, entregas e boas práticas do Trello; encerramento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144767"/>
            <a:ext cx="8001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Pausa de 20 minutos entre os blocos 4 e 5. O desafio da semana é lançado hoje e apresentado no Dia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CBL Engajamento: roda de conversa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CBL ENGAJAMENTO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Roda de conversa: 'O que é um projeto?'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aluno diz em uma frase o que entende por projeto; anote as ideias no quadro e agrupe as semelhanças.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Roda de conversa: 'Quais problemas surgem quando não há organização?'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Recolha exemplos reais: retrabalho, prazos perdidos, tarefas duplicadas, alguém esquecido.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Síntese coletiva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Conclua com a turma: projeto tem início e fim e precisa de organização de tarefas, pessoas e prazos.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7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Desafio da Semana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DESAFIO AVALIATIVO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O desafio da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Organizar as tarefas e o fluxo de trabalho de um projeto real em equipe, utilizando o Trello como ferramenta central de gestão.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Lançado no Dia 1, construído no Dia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Hoje escolhemos o projeto real da equipe; no Dia 3 montamos o quadro completo e simulamos uma sprint.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Apresentação no fim do Dia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equipe apresenta o quadro Trello: objetivos, itens com atribuições claras e organização lógica do fluxo.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Critérios de avaliação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Clareza nas tarefas e objetivos; divisão equilibrada; uso adequado dos recursos do Trello; participação e colaboração.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O que é um projeto? E o gerenciamento?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Projeto: esforço temporário com início e fim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 algo novo ou melhora algo que existe — diferente das operações, que são repetitivas.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Gerenciamento de projetos: conjunto de 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Ferramentas, técnicas e habilidades aplicadas para que o projeto seja bem sucedido.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que se gerencia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Tarefas, objetivos, prazos, pessoas e entregas — seguindo um padrão e melhorando o processo.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Por que gerenciar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Sem gestão, o projeto atrasa, o retrabalho aumenta e a equipe perde o rumo.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A ferramenta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que 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Ferramenta online de gestão de projetos e tarefas, com organização visual e colaborativa, semelhante a um quadro branco com listas e cartões (pág. 108).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Para que 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Gerir projetos, fluxos de trabalho, monitorar tarefas e manter a equipe focada e organizada.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dinâmica principal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Criar cartões (tarefas): cada membro puxa um cartão para trabalhar e o arrasta para a próxima etapa do fluxo definido.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Colaboração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Comentários, notificações e atribuições facilitam a comunicação entre a equipe.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10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o Trello — tela inicial</a:t>
            </a:r>
          </a:p>
        </p:txBody>
      </p:sp>
      <p:pic>
        <p:nvPicPr>
          <p:cNvPr id="10" name="Picture 9" descr="p10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595728"/>
            <a:ext cx="7680960" cy="33288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83, pág. 108.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Mostre o site e o objetivo da ferramenta: organizar projetos e tarefas. Peça que abram trello.com no celular.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Templates prontos: o quadro Kanban modelo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Escolha um quadro para 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Após o login, o quadro é o lugar principal para a organização do trabalho (pág. 109).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Templates já disponíveis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Alguns modelos prontos existem no Trello, como a Kanban Quadro Modelo (pág. 109).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Fluxo pré-elaborado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quadro Kanban do template já traz algumas etapas — e tudo pode ser personalizado (pág. 113).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Comece do modelo, ajuste ao projeto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Renomeie as listas para as etapas que a equipe investigar no bloco de fluxo de trabalho.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Criando a conta e o primeiro quadro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65176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PRÁTICA GUIADA NO TRELLO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01952"/>
            <a:ext cx="8001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222E40"/>
                </a:solidFill>
                <a:latin typeface="Aptos"/>
              </a:rPr>
              <a:t>Todos os alunos precisam de conta no Trello antes da prática do Dia 2.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395728"/>
            <a:ext cx="365760" cy="36576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473452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0944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Entre no site trello.com e clique em Entrar (pág. 108).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2907792"/>
            <a:ext cx="365760" cy="36576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985516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21508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Faça login com conta Google ou Microsoft, ou cadastre-se com seu e-mail.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419856"/>
            <a:ext cx="365760" cy="36576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497580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33572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Após o login, escolha um quadro para o projeto — o quadro é o lugar principal da organização (pág. 109).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931920"/>
            <a:ext cx="365760" cy="36576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009644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45636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Explore os templates prontos, como o quadro modelo Kanban.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443984"/>
            <a:ext cx="365760" cy="36576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521708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57700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Crie um quadro novo com o nome do projeto da equipe (ex.: 'App de Agendamento - Sprint 1').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" y="4956048"/>
            <a:ext cx="365760" cy="36576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033772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96976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Guarde o login: o quadro criado será usado em todos os dias desta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13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login no Trello</a:t>
            </a:r>
          </a:p>
        </p:txBody>
      </p:sp>
      <p:pic>
        <p:nvPicPr>
          <p:cNvPr id="10" name="Picture 9" descr="p10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991" y="1417320"/>
            <a:ext cx="2164017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84, pág. 109.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Contas Google/Microsoft ou cadastro por e-mail — cada aluno cria a conta agora.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escolhendo o quadro</a:t>
            </a:r>
          </a:p>
        </p:txBody>
      </p:sp>
      <p:pic>
        <p:nvPicPr>
          <p:cNvPr id="10" name="Picture 9" descr="p1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51" y="1417320"/>
            <a:ext cx="5583897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85, pág. 110.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Após o login, escolha ou crie o quadro do projeto da equipe.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Os elementos principais do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48155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8155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Quadros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Painéis virtuais onde se organiza o fluxo de trabalho do projeto.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78124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78124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Listas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Dividem os quadros em estágios: 'Por fazer', 'Em andamento', 'Concluído'.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809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809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Cartões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Representam as tarefas: descrição, data de entrega, responsáveis e anexos.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3806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806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Colaboração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Comentários, notificações e atribuições em tempo real para a equipe.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16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Visualização e personalização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Visualização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Trello oferece uma visão clara e organizada do progresso das tarefas, facilitando identificar gargalos e gerir o tempo (pág. 110).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Personalização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quadro se adapta a diferentes necessidades e projetos com etiquetas, cores, datas de entrega e checklists (pág. 111).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Gargalos à vista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Quando uma lista acumula muitos cartões, o próprio quadro denuncia onde o trabalho está parando.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Nada é definitivo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Listas e etiquetas podem ser renomeadas a qualquer momento conforme o fluxo da equipe evolui.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17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o que é gestão de projetos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O que é gestão de projetos?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Mario Trentim  •  8min04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Explica em português o que é um projeto (esforço temporário com início e fim), o que é gestão de projetos e o que faz um gerente de projetos.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1_1_gestao_proje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414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1250" b="1" u="sng">
                <a:solidFill>
                  <a:srgbClr val="0B666B"/>
                </a:solidFill>
                <a:latin typeface="Aptos"/>
                <a:hlinkClick r:id="rId4"/>
              </a:rPr>
              <a:t>https://www.youtube.com/watch?v=cXSYwFongFU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projeto x operação, gerente de projetos, planejamento.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Scrum em 9 minutos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Scrum - Aprenda Scrum em 9 minutos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MindMaster  •  9min06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Clássico brasileiro (mais de 1,7 milhão de visualizações): pilares do Scrum, papéis, sprints, reunião diária, sprint review e retrospectiva.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1_2_scrum_9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414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1250" b="1" u="sng">
                <a:solidFill>
                  <a:srgbClr val="0B666B"/>
                </a:solidFill>
                <a:latin typeface="Aptos"/>
                <a:hlinkClick r:id="rId4"/>
              </a:rPr>
              <a:t>https://www.youtube.com/watch?v=XfvQWnRgxG0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Scrum, sprint, backlog, reunião diária, review e retrospectiva.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a reunião diária (daily)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Explicando a Reunião Diária em 5 minutos (ou menos)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 Mente do Gestor — André Gomes  •  4min19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Explica a daily: reunião rápida de alinhamento em que o time fala o que fez, o que fará e onde precisa de ajuda.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1_3_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414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1250" b="1" u="sng">
                <a:solidFill>
                  <a:srgbClr val="0B666B"/>
                </a:solidFill>
                <a:latin typeface="Aptos"/>
                <a:hlinkClick r:id="rId4"/>
              </a:rPr>
              <a:t>https://www.youtube.com/watch?v=M1oxqpCIp14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daily meeting, reuniões rápidas de alinhamento, impedimentos.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20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Definindo tarefas e objetivos de um projeto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Objetivo: o resultado que o projeto precisa alcançar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É o norte das decisões — tudo que entra no quadro deve servir ao objetivo.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Tarefa: pequena unidade de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Realizável por uma ou duas pessoas dentro do intervalo de 15 dias (pág. 114).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Tarefa grande se quebra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Fora dessas características, divida em tarefas menores para caber no prazo.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Tarefa ≠ objetivo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'Ter o cadastro de clientes funcionando' é objetivo; 'criar a tela de cadastro' é tarefa.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Da história à tarefa: dentro do fluxo sprint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fluxo da sprint: ciclo de 15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Dentro do fluxo sprint, algumas histórias do usuário são escolhidas para serem trabalhadas (pág. 113).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Cada história vira uma ou mais tarefas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 as tarefas precisam ser concluídas em 15 dias (pág. 113).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Não coube? Sprint seguinte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tarefa vai para a sprint seguinte e a capacidade da equipe precisa ser repensada (pág. 113).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No Trello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tarefa vira um cartão na lista da etapa correspondente do fluxo do quadro.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fluxo geral do Scrum</a:t>
            </a:r>
          </a:p>
        </p:txBody>
      </p:sp>
      <p:pic>
        <p:nvPicPr>
          <p:cNvPr id="10" name="Picture 9" descr="p1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38594"/>
            <a:ext cx="7680960" cy="3900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89, pág. 113.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Do backlog à entrega: mostre onde a sprint entra no ciclo e conecte com o quadro Kanban.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23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Definindo o fluxo de trabalho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Fluxo de trabalho: o caminho da tarefa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sequência de etapas que uma tarefa percorre desde a ideia até a entrega.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Dois fluxos principais (pág. 113)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fluxo da sprint, com ciclo de 15 dias, e o fluxo do código ou do sistema, diário e contínuo.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Etapas do fluxo no quadro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etapa vira uma lista no Trello: a tarefa entra em uma lista e avança para a seguinte.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Fluxo claro = trabalho organizado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equipe sabe onde cada tarefa está, quem a faz e o que falta para concluir.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Investigação: etapas de um fluxo de trabalho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INVESTIGAÇÃO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Discussão em grupo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'Quais etapas compõem um fluxo de trabalho?' — cada equipe lista as etapas que imagina para o projeto dela.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Compare com o 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Fluxo completo (pág. 113-114): Backlog, Design, A fazer, Em andamento, Revisão de código, Fase de teste, Concluído.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Simplifique se precisar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Modelos simples como To Do / Doing / Done também funcionam — o importante é representar o fluxo real da equipe.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Registro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equipe anota sua proposta de listas — ela vira o quadro do Trello no Dia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Estudo orientado: o que observar no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Tarefas, objetivos e entregas em um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Localize na Unidade 2 como tarefas se encaixam em objetivos e como as entregas acontecem (pág. 117).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Entregas: reunião com apresentação ao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Slides, vídeos e demonstração do sistema; espaço para perguntas, dúvidas e feedback.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Boas práticas de uso do Trello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Comece simples: poucas listas, cartões bem nomeados, um responsável e um prazo por cartão.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Cada equipe registra 3 aprendizados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Anotações que serão usadas na montagem do quadro no Dia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3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42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lang="pt-BR" sz="864" b="0">
                <a:solidFill>
                  <a:srgbClr val="606E84"/>
                </a:solidFill>
                <a:latin typeface="Aptos"/>
              </a:rPr>
              <a:t>26 / 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494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000" b="1">
                <a:solidFill>
                  <a:srgbClr val="142341"/>
                </a:solidFill>
                <a:latin typeface="Aptos Display"/>
              </a:rPr>
              <a:t>Encerramento do Dia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7772400" cy="214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300" b="1">
                <a:solidFill>
                  <a:srgbClr val="606E84"/>
                </a:solidFill>
                <a:latin typeface="Aptos"/>
              </a:rPr>
              <a:t>O que vimos hoje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79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Roda de conversa: o que é um projeto e os problemas da falta de organização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64991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73552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Desafio da semana lançado: organizar tarefas e fluxo de um projeto real no Trello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03903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12463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Trello apresentado: quadros, listas, cartões, colaboração e contas criadas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242816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151376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Investigação: cada equipe propôs as listas do seu fluxo de trabalho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7772400" cy="214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300" b="1">
                <a:solidFill>
                  <a:srgbClr val="606E84"/>
                </a:solidFill>
                <a:latin typeface="Aptos"/>
              </a:rPr>
              <a:t>Próxima aula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11496"/>
            <a:ext cx="7772400" cy="481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pt-BR" sz="1450" b="0">
                <a:solidFill>
                  <a:srgbClr val="142341"/>
                </a:solidFill>
                <a:latin typeface="Aptos"/>
              </a:rPr>
              <a:t>Dia 2 — Equipes e forma de divisão de tarefas: papéis, cadastro de itens no Trello, prática de criação de tarefas e H5P de fixação.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3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42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lang="pt-BR" sz="864" b="0">
                <a:solidFill>
                  <a:srgbClr val="606E84"/>
                </a:solidFill>
                <a:latin typeface="Aptos"/>
              </a:rPr>
              <a:t>27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914400" cy="5486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77240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500" b="1">
                <a:solidFill>
                  <a:srgbClr val="606E84"/>
                </a:solidFill>
                <a:latin typeface="Aptos"/>
              </a:rPr>
              <a:t>SEMANA 7  •  DIA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7772400" cy="560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400" b="1">
                <a:solidFill>
                  <a:srgbClr val="142341"/>
                </a:solidFill>
                <a:latin typeface="Aptos Display"/>
              </a:rPr>
              <a:t>Equipes e tarefas no Trello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Definindo equipes e a forma de divisão de tarefas, cadastrando itens no Trello, prática de criação de tarefas e H5P de fixação.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53949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Agenda do Dia 2 — 4 horas (com pausa)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44752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59052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0h00–0h15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463040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Retomada do Dia 1 e agenda do 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29968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14426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0h15–1h00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048256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Conteúdo: equipes e papéis; forma de divisão de tarefas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15184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29484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1h00–1h45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633472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Conteúdo: cadastrando itens no Trello (cartões e detalhes)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00400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31470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1h45–2h05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3218688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06E84"/>
                </a:solidFill>
                <a:latin typeface="Aptos"/>
              </a:rPr>
              <a:t>P A U S A  (20 minutos)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85616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89991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2h05–2h45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3803904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Vídeos: tutoriais de Trello + discussão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70832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485132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2h45–3h30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4389120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PRÁTICA: criar tarefas no Trello (cada equipe cadastra seus cartões)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56048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07034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3h30–3h50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4974336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H5P: 'Complete as palavras sobre Trello'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41264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655564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3h50–4h00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559551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Encerramento e prévia do Dia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144767"/>
            <a:ext cx="8001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A prática usa o quadro criado no Dia 1. O H5P fecha o dia e retoma os termos do Trello.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Equipes e papéis no projeto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Equipe ágil: de 5 a 9 pessoas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pessoa pode assumir 1 ou mais papéis por vez (pág. 111).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Desenvolvedor — executa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 de fato o sistema; no nosso projeto, quem constrói o app no AppSheet ou FlutterFlow.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Gerente do produto — organiza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 tarefas, resolve conflitos interpessoais e lida com o cliente.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Dono do produto — o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Faz parte da equipe: acompanha de perto o que é desenvolvido e dá feedback.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8406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01091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Subpapéis do desenvolvedor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Designer, testador, codificador (montador) — equipe multidisciplinar e autônoma.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30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papéis em uma equipe Scrum</a:t>
            </a:r>
          </a:p>
        </p:txBody>
      </p:sp>
      <p:pic>
        <p:nvPicPr>
          <p:cNvPr id="10" name="Picture 9" descr="p11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48" y="1417320"/>
            <a:ext cx="5960302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86, pág. 111.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Scrum Master, Product Owner e Development Team — compare com os papéis que a equipe vai assumir.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Montando a equipe no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Adicione pessoas ao quadro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 Trello, as equipes são montadas adicionando pessoas ao quadro (pág. 112).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Quem cria convida por e-mail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criador do quadro convida os membros pelo botão Compartilhar, inserindo os e-mails (pág. 112).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Compartilhar = todos veem o mesmo quadro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Membros podem criar cartões, comentar e mover tarefas conforme a combinação da equipe.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Dica da disciplina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Uma pessoa da equipe cria o quadro e convida os demais já no início do Dia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adicionando membros ao quadro</a:t>
            </a:r>
          </a:p>
        </p:txBody>
      </p:sp>
      <p:pic>
        <p:nvPicPr>
          <p:cNvPr id="10" name="Picture 9" descr="p11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33" y="1417320"/>
            <a:ext cx="5537732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87, pág. 112.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Botão Compartilhar: convide a equipe pelo e-mail (tela de e-mails: fig. 88, pág. 112).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33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Definindo a divisão de tarefas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divisão nasce da quebra técnica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história do usuário vira tarefas pequenas, objetivas e com escopo claro.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Auto-organização: puxe, não empurre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membro puxa (ou é atribuído a) o cartão conforme disponibilidade, habilidade ou interesse.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Equilibre a 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soma do que cada um assume deve caber na capacidade real da sprint — evite sobrecarga.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Uma tarefa por vez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Melhor concluir o cartão atual antes de puxar o próximo: o quadro fica mais confiável.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Quando não cabe na sprint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Sinal claro no quadro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Lista 'A fazer' cheia e cartões empilhados indicam sprint superlotada.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Tarefa não concluída? Sprint seguinte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 a capacidade da equipe precisa ser repensada (pág. 113).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Reveja as estimativas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Cartões que estouraram o prazo ensinam a estimar melhor na próxima sprint (pág. 115).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Menos cartões, mais conclusão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Melhor entrar com menos tarefas e terminar todas do que empilhar e travar o fluxo.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Tarefas e esforço: estimando antes de cadastrar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Uma tarefa: 1 ou 2 pessoas, até 15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Fora disso, quebre em tarefas menores (pág. 114).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Analise o que a tarefa exige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Tecnologias necessárias, relação com outras tarefas, cadastros envolvidos e complexidade (pág. 114).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Esforce-se por estimativas honestas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estimativa orienta a divisão equilibrada e o prazo dos cartões.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Errar a estimativa é normal no início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Equipes iniciantes e produtos inovadores erram; com o tempo a equipe fica mais assertiva (pág. 115).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36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tutorial completo de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Tutorial completo de Trello 2024 - Gestão de tarefas pessoais e da equipe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Canal Bizz-up — Vinícius Chaves  •  22min43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Tutorial em português: criação de conta, quadros, listas e cartões, etiquetas, prazos, membros e organização de tarefas no Trello.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2_1_trello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266FAD"/>
                </a:solidFill>
                <a:latin typeface="Aptos"/>
                <a:hlinkClick r:id="rId4"/>
              </a:rPr>
              <a:t>https://www.youtube.com/watch?v=yEjI1KLIYQs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criar quadro, listas, cartões, prazos, membros, kanban.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37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guia atualizado do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Domine o Trello: guia completo (atualizado)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Canal Bizz-up — Vinícius Chaves  •  atualização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Versão atualizada do tutorial do mesmo canal: primeiros passos no Trello, estrutura de listas e cartões e boas práticas de organização.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2_2_trello_gu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266FAD"/>
                </a:solidFill>
                <a:latin typeface="Aptos"/>
                <a:hlinkClick r:id="rId4"/>
              </a:rPr>
              <a:t>https://www.youtube.com/watch?v=nUFbCpSH7YA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primeiros passos no Trello, organização de quadros e cartões.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o que é Kanban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O que é KANBAN? Como o KANBAN ajuda na sua produtividade?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Engenharia Detalhada  •  11min58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Explica o Kanban como sistema visual de gerenciamento do fluxo de trabalho: colunas, cartões, gargalos e benefícios para a equipe.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2_3_kanban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266FAD"/>
                </a:solidFill>
                <a:latin typeface="Aptos"/>
                <a:hlinkClick r:id="rId4"/>
              </a:rPr>
              <a:t>https://www.youtube.com/watch?v=Iuputq5jVZA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quadro Kanban, fluxo de trabalho, gargalos, produtividade.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Cadastrando itens no Trello: o cartão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Uma tarefa = um cartão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Para adicionar, clique em 'Adicionar um cartão' na lista desejada (pág. 115).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Clique no cartão para expandir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formulário do cartão concentra todos os detalhes da tarefa (pág. 115-116).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que um cartão carrega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Nome da tarefa, descrição, responsável, complexidade, anexos, datas e checklist de subtarefas (pág. 115).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Membros e comentários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Atribua responsáveis e registre conversas no próprio cartão — a história da tarefa fica junto dela (pág. 116).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40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adicionando um cartão</a:t>
            </a:r>
          </a:p>
        </p:txBody>
      </p:sp>
      <p:pic>
        <p:nvPicPr>
          <p:cNvPr id="10" name="Picture 9" descr="p1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536815"/>
            <a:ext cx="7680960" cy="3543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91, pág. 115.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Cada tarefa é um cartão: mostre o botão destacado e siga para o formulário do cartão.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Personalizando: etiquetas, cores, datas e checklists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Etiquetas e 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Adapte o Trello a diferentes necessidades e projetos com etiquetas e cores (pág. 111).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Datas de entrega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Todo cartão com prazo: a data aparece no cartão e alimenta o acompanhamento (págs. 111, 115-116).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Checklists de subtarefas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Subtarefas dentro do cartão mostram o andamento sem quebrar a tarefa em pedaços demais (pág. 115).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Descrição e anexos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Materiais de referência ficam junto da tarefa — nada se perde entre conversas da equipe (pág. 115).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o cartão por dentro</a:t>
            </a:r>
          </a:p>
        </p:txBody>
      </p:sp>
      <p:pic>
        <p:nvPicPr>
          <p:cNvPr id="10" name="Picture 9" descr="p1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757037"/>
            <a:ext cx="7680960" cy="27423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92, pág. 115.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Título, descrição, responsável, datas e checklist — é aqui que a tarefa ganha detalhe.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43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Roteiro: cadastrando itens no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65176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PRÁTICA GUIADA NO TRELLO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01952"/>
            <a:ext cx="8001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222E40"/>
                </a:solidFill>
                <a:latin typeface="Aptos"/>
              </a:rPr>
              <a:t>Cada equipe cadastra as tarefas do seu projeto real no quadro.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395728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47345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0944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Abra o quadro da equipe no Trello (trello.com).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2907792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985516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21508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Confira as listas: pelo menos 'A fazer', 'Em andamento' e 'Concluído'.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419856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49758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33572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Na lista 'A fazer', clique em 'Adicionar um cartão' e digite o nome claro da tarefa.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931920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00964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45636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Abra o cartão: preencha descrição, data de entrega e complexidade.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443984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52170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57700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Adicione o responsável (membro) e um checklist com subtarefas, se necessário.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" y="4956048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03377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96976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Repita até todas as tarefas da sprint estarem no quadro, cada uma em seu cartão.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PRÁTICA: criar tarefas no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PRÁTICA EM EQUIPE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Escolha a história da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Pegue a história de usuário do app da equipe e quebre em 3 a 5 tarefas técnicas.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Crie um cartão por tarefa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Nome claro + descrição + responsável + prazo em cada cartão (use o roteiro do slide anterior).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Divida equilibradamente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membro da equipe fica responsável por pelo menos um cartão, de acordo com a capacidade.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Apresente o quadro em 1 minuto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Uma pessoa da equipe lê os cartões criados e quem fez o quê.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H5P: Complete as palavras sobre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ATIVIDADE INTERATIVA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Atividade interativa de fixação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Complete as lacunas com as palavras-chave da semana sobre o Trello.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Palavras do banco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QUADRO • LISTAS • CARTÕES • FLUXO • RESPONSAVEL • PRAZO • KANBAN • EQUIPE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Exemplos de frases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'Cada tarefa é um ______ no quadro.' / 'O ______ do Trello divide o trabalho em estágios.' / 'A data de ______ aparece no cartão.'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Jogue em duplas e depois corrija em turma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Quem errar volta ao slide correspondente do dia para revisar o conceito.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3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42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lang="pt-BR" sz="864" b="0">
                <a:solidFill>
                  <a:srgbClr val="606E84"/>
                </a:solidFill>
                <a:latin typeface="Aptos"/>
              </a:rPr>
              <a:t>46 / 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494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000" b="1">
                <a:solidFill>
                  <a:srgbClr val="142341"/>
                </a:solidFill>
                <a:latin typeface="Aptos Display"/>
              </a:rPr>
              <a:t>Encerramento do Dia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914400" cy="5486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7772400" cy="214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300" b="1">
                <a:solidFill>
                  <a:srgbClr val="606E84"/>
                </a:solidFill>
                <a:latin typeface="Aptos"/>
              </a:rPr>
              <a:t>O que vimos hoje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79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Equipes e papéis definidos: desenvolvedor, gerente e dono do produto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64991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73552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Forma de divisão acordada: puxar cartões conforme capacidade e habilidade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03903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12463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Itens cadastrados no Trello: cartões com descrição, prazo e responsável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242816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151376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Prática concluída e H5P de fixação sobre o Trello aplicado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7772400" cy="214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300" b="1">
                <a:solidFill>
                  <a:srgbClr val="606E84"/>
                </a:solidFill>
                <a:latin typeface="Aptos"/>
              </a:rPr>
              <a:t>Próxima aula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11496"/>
            <a:ext cx="7772400" cy="481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pt-BR" sz="1450" b="0">
                <a:solidFill>
                  <a:srgbClr val="142341"/>
                </a:solidFill>
                <a:latin typeface="Aptos"/>
              </a:rPr>
              <a:t>Dia 3 — Dividindo e acompanhando tarefas no Trello, desafio em equipe com sprint simulada e apresentação avaliativa do quadro.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3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42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lang="pt-BR" sz="864" b="0">
                <a:solidFill>
                  <a:srgbClr val="606E84"/>
                </a:solidFill>
                <a:latin typeface="Aptos"/>
              </a:rPr>
              <a:t>47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914400" cy="5486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77240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500" b="1">
                <a:solidFill>
                  <a:srgbClr val="606E84"/>
                </a:solidFill>
                <a:latin typeface="Aptos"/>
              </a:rPr>
              <a:t>SEMANA 7  •  DIA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7772400" cy="560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400" b="1">
                <a:solidFill>
                  <a:srgbClr val="142341"/>
                </a:solidFill>
                <a:latin typeface="Aptos Display"/>
              </a:rPr>
              <a:t>Dividindo, acompanhando e apresentando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Fluxo Kanban no quadro, dividindo e acompanhando tarefas no Trello, desafio em equipe com sprint simulada e avaliação por apresentação.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53949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Agenda do Dia 3 — 4 horas (com pausa)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44752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59052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0h00–0h15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463040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Retomada do Dia 2 e agenda do 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29968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14426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0h15–1h00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048256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Conteúdo: dividindo tarefas no Trello e fluxo Kanban do quadro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15184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29484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1h00–1h45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633472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Conteúdo: acompanhando atividades no Trello (Painel, prazos, membros)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00400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31470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1h45–2h05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3218688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06E84"/>
                </a:solidFill>
                <a:latin typeface="Aptos"/>
              </a:rPr>
              <a:t>P A U S A  (20 minutos)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85616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89991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2h05–3h20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3803904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CBL Implementação: desafio em equipe — organizar o projeto no Trello e simular uma sprint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70832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485132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3h20–3h50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4389120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AVALIAÇÃO: apresentação em equipe do quadro Trello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56048"/>
            <a:ext cx="1508760" cy="457200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07034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3h50–4h00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4974336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Síntese da semana, checklist do aluno e encerramento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559551"/>
            <a:ext cx="8001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O desafio em equipe ocupa mais de 1h e termina na apresentação avaliativa do quadro.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Dividindo tarefas no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Organize as listas por etapa do fluxo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Use a proposta da investigação do Dia 1 — do Backlog ao Concluído.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Uma tarefa por cartão, com dono e prazo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Cartão sem responsável é tarefa abandonada: atribua sempre um membro.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Movimente conforme avança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cartão muda de lista quando muda de etapa — o quadro reflete a realidade.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Cartão travado pede atenção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Muito tempo em 'Em andamento' pode indicar tarefa grande demais ou impedimento.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50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O fluxo do quadro Kanban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Tudo que foi coletado para ser produzido: funcionalidades a desenvolver ao longo das sprints (pág. 113).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Design • A fazer • Em andamento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que está sendo planejado, o que entrou na sprint e o que está sendo executado (pág. 114).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Revisão de código • Fase de teste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Revisão de cada detalhe e testes repetidos para detectar falhas (pág. 114).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Concluído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Tarefa totalmente concluída, sem necessidade de mais alteração (pág. 114).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Modelo simples: To Do, Doing,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2763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2763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222E40"/>
                </a:solidFill>
                <a:latin typeface="Aptos"/>
              </a:rPr>
              <a:t>To Do (para fazer)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67328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Cartões ou tarefas disponíveis para alguém pegar e fazer (pág. 114).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8416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9768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222E40"/>
                </a:solidFill>
                <a:latin typeface="Aptos"/>
              </a:rPr>
              <a:t>Doing (fazendo)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67328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tarefa que alguém pegou e está trabalhando agora.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98464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67728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7728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222E40"/>
                </a:solidFill>
                <a:latin typeface="Aptos"/>
              </a:rPr>
              <a:t>Done (feito)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767328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Tarefa concluída, que não se altera mais.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template com várias etapas</a:t>
            </a:r>
          </a:p>
        </p:txBody>
      </p:sp>
      <p:pic>
        <p:nvPicPr>
          <p:cNvPr id="10" name="Picture 9" descr="p11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861378"/>
            <a:ext cx="7680960" cy="23628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90, pág. 114.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Fluxos prontos do Trello; compare com o modelo simples To Do, Doing, Done do slide anterior.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53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Kanban e o fluxo de trabalho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Método Kanban: Visualizar e Gerenciar o Fluxo de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IESDE  •  8min50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Aula em português sobre os princípios do Kanban: tornar o fluxo visível, limitar o trabalho em andamento, detectar gargalos e melhorar continuamente.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3_1_kanban_flu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6953A5"/>
                </a:solidFill>
                <a:latin typeface="Aptos"/>
                <a:hlinkClick r:id="rId4"/>
              </a:rPr>
              <a:t>https://www.youtube.com/watch?v=u_Ba7AxX3X8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fluxo visível, limite de WIP, gargalos, melhoria contínua.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Vídeo: como funciona o Kanban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METODOLOGIA KANBAN: O que é Kanban? Como funciona o Kanban?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Jiraverso - Especialistas em Jira  •  aprox. 9min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Explicação em português do método Kanban: cartões de sinalização, controle de fluxos e aplicação em projetos e equipes.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3_2_kanban_co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6953A5"/>
                </a:solidFill>
                <a:latin typeface="Aptos"/>
                <a:hlinkClick r:id="rId4"/>
              </a:rPr>
              <a:t>https://www.youtube.com/watch?v=z1drxmwUCJg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método Kanban, cartões, controle de fluxo em projetos.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Acompanhando atividades no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Ative o Painel (Dashboard)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Clique no ícone de controle no topo e depois em Painel (pág. 116).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que o Painel mostra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Cartões por lista, por data e por membro — com gráficos de produtividade (pág. 116).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Leia os números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Quantos cartões foram trabalhados, quantos em cada etapa, quantos concluídos e quantos pendentes (pág. 116).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Aplique filtros e converse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Equipe com muita coisa pendente? Adiantada ou atrasada? O quadro sustenta essa conversa (pág. 116).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56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o Painel de produtividade</a:t>
            </a:r>
          </a:p>
        </p:txBody>
      </p:sp>
      <p:pic>
        <p:nvPicPr>
          <p:cNvPr id="10" name="Picture 9" descr="p11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600651"/>
            <a:ext cx="7680960" cy="3310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93, pág. 116.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Botão Painel: cartões por lista, por data ou por membro — base do acompanhamento.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57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Lendo os gráficos de produtividade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Cartões por lista, por data e por membro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Painel organiza a produtividade nesses três cortes (pág. 116).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que os gráficos mostram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Número de cartões trabalhados, quantos em cada etapa, quantos concluídos e quantos pendentes (pág. 116).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Filtros para perguntas concretas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equipe tem muita coisa pendente? Está adiantada ou atrasada? (pág. 116).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Da leitura à decisão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gráfico não resolve sozinho: a equipe decide o que ajustar na próxima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gráficos de produtividade</a:t>
            </a:r>
          </a:p>
        </p:txBody>
      </p:sp>
      <p:pic>
        <p:nvPicPr>
          <p:cNvPr id="10" name="Picture 9" descr="p11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895527"/>
            <a:ext cx="7680960" cy="22387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94, pág. 117.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Leia o gráfico com a turma: quantos cartões em cada etapa, concluídos e pendentes.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Daily e revisão: o ritmo da sprint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Daily meeting todo dia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Pequena reunião de alinhamento e planejamento, de cerca de 15 minutos, possível online (pág. 113).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No fim da sprint: análise e entrega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Tudo que foi produzido é analisado e entregue ao cliente (pág. 113).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Retrospectiva de cerca de 1 hora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equipe reflete como foi o desempenho na sprint que terminou (pág. 113).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No Trello, tudo isso deixa rastro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histórico do quadro (cartões movidos, comentários, datas) sustenta a retrospectiva.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60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Gargalos: o quadro denuncia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que é um gargalo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Ponto do fluxo onde o trabalho acumula e a entrega atrasa (pág. 110).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Onde o quadro mostra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Uma lista cheia enquanto outras ficam vazias — o Trello dá visão clara e organizada do progresso (pág. 110).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Como reagir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Redistribua cartões, revise estimativas ou simplifique a etapa com gargalo.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Revisão e teste são etapas de verdade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Rever cada detalhe e testar repetidas vezes evita gargalos no fim (pág. 114).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CBL Implementação: desafio em equipe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DESAFIO EM EQUIPE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Organize o projeto no Trello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Colunas = etapas do fluxo; membros atribuídos aos cartões; prazos definidos em cada tarefa.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Simule uma sprint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Percorra os cartões como se fosse uma sprint: puxe, execute e mova até concluir; faça um mini-daily de 5 minutos.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Acompanhe pelo Painel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Use cartões por lista/membro/data para ler o progresso e ajustar durante a simulação.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Prepare a apresentação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Escolha quem apresenta cada parte: objetivos, itens e a lógica do fluxo organizado.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Entregas: o fim do ciclo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Entrega em reunião com o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Apresentações, e se necessário treinamento para a equipe do cliente (pág. 117).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Materiais de apoio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Slides, vídeos e demonstrações do sistema — com espaço para perguntas e feedback.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Apresentação do tipo aula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Não é uma apresentação rápida a investidores: é treinamento que mostra o sistema funcionando (pág. 117).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Termo de aceite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cliente pode assinar concordando que o que foi entregue é o que pediu, no prazo — o sistema é entregue por pedaços (pág. 117).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63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Do material: entrega ao cliente</a:t>
            </a:r>
          </a:p>
        </p:txBody>
      </p:sp>
      <p:pic>
        <p:nvPicPr>
          <p:cNvPr id="10" name="Picture 9" descr="p11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09" y="1417320"/>
            <a:ext cx="5963581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95, pág. 117.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Entrega por pedaços, que já podem ser usados — fechamento do ciclo CBL.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Entrega com descontração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Marco importante merece celebração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entrega parcial ou final de um software é um marco: crie um momento de descontração (pág. 117).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Coffee break e música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Um clima mais agradável ajuda a comemorar o resultado da equipe (pág. 117).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Reconheça quem fez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cartão concluído tem um responsável — o Painel torna o esforço de todos visível (pág. 116).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 depois?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sprint seguinte começa com o backlog reavaliado no quadro — o ciclo recomeça.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AVALIAÇÃO: apresentação do quadro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142341"/>
                </a:solidFill>
                <a:latin typeface="Aptos"/>
              </a:rPr>
              <a:t>AVALIAÇÃO EM EQUIPE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Cada equipe apresenta o quadro Trello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Até 5 minutos por equipe: mostre o quadro funcionando e percorra os cartões.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O que o quadro precisa mostrar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Objetivos do projeto, itens com atribuições claras e organização lógica do fluxo.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Como será registrado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professor registra observações por equipe; a apresentação compõe a nota da semana, junto com o H5P e a participação.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Roteiro de apresentação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1) Objetivo do projeto, 2) tour pelas listas, 3) cartões e responsáveis, 4) o que aprenderam.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66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Critérios de avaliação da apresentação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48155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8155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Clareza nas tarefas e 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Cartões nomeados com clareza e objetivos compreensíveis por quem assiste.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78124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78124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Divisão equilibrada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Tarefas distribuídas sem sobrecarregar ninguém; todos com responsabilidades.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809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809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Uso adequado dos recursos do Trello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Listas, cartões, membros e prazos bem empregados no quadro.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3806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806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Participação e colaboração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Engajamento da equipe na construção do quadro e na apresentação.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102033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67 / 71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Síntese da Semana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DIA 1 — Gerenciamento de projeto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Roda de conversa: projetos e organização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Trello: quadros, listas, cartões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Tarefas, objetivos e fluxo de trabalho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Investigação: etapas do fluxo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5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11296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DIA 2 — Equipes e tarefas</a:t>
            </a:r>
          </a:p>
        </p:txBody>
      </p:sp>
      <p:sp>
        <p:nvSpPr>
          <p:cNvPr id="21" name="Oval 20"/>
          <p:cNvSpPr/>
          <p:nvPr/>
        </p:nvSpPr>
        <p:spPr>
          <a:xfrm>
            <a:off x="3511296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Papéis: desenvolvedor, gerente, dono</a:t>
            </a:r>
          </a:p>
        </p:txBody>
      </p:sp>
      <p:sp>
        <p:nvSpPr>
          <p:cNvPr id="23" name="Oval 22"/>
          <p:cNvSpPr/>
          <p:nvPr/>
        </p:nvSpPr>
        <p:spPr>
          <a:xfrm>
            <a:off x="3511296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Divisão: puxar cartões por capacidade</a:t>
            </a:r>
          </a:p>
        </p:txBody>
      </p:sp>
      <p:sp>
        <p:nvSpPr>
          <p:cNvPr id="25" name="Oval 24"/>
          <p:cNvSpPr/>
          <p:nvPr/>
        </p:nvSpPr>
        <p:spPr>
          <a:xfrm>
            <a:off x="3511296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Cadastro de itens no Trello</a:t>
            </a:r>
          </a:p>
        </p:txBody>
      </p:sp>
      <p:sp>
        <p:nvSpPr>
          <p:cNvPr id="27" name="Oval 26"/>
          <p:cNvSpPr/>
          <p:nvPr/>
        </p:nvSpPr>
        <p:spPr>
          <a:xfrm>
            <a:off x="3511296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30752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Prática + H5P de palavras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81344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DIA 3 — Acompanhamento e entrega</a:t>
            </a:r>
          </a:p>
        </p:txBody>
      </p:sp>
      <p:sp>
        <p:nvSpPr>
          <p:cNvPr id="31" name="Oval 30"/>
          <p:cNvSpPr/>
          <p:nvPr/>
        </p:nvSpPr>
        <p:spPr>
          <a:xfrm>
            <a:off x="6181344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Fluxo Kanban: Backlog a Concluído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Painel: cartões por lista/data/membro</a:t>
            </a:r>
          </a:p>
        </p:txBody>
      </p:sp>
      <p:sp>
        <p:nvSpPr>
          <p:cNvPr id="35" name="Oval 34"/>
          <p:cNvSpPr/>
          <p:nvPr/>
        </p:nvSpPr>
        <p:spPr>
          <a:xfrm>
            <a:off x="6181344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Desafio em equipe: sprint simulada</a:t>
            </a:r>
          </a:p>
        </p:txBody>
      </p:sp>
      <p:sp>
        <p:nvSpPr>
          <p:cNvPr id="37" name="Oval 36"/>
          <p:cNvSpPr/>
          <p:nvPr/>
        </p:nvSpPr>
        <p:spPr>
          <a:xfrm>
            <a:off x="6181344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Apresentação avaliativa do quadro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68 / 71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Checklist do aluno — Semana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AO FINAL DO DIA 1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Conta Trello criada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Quadro do projeto criado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Proposta de listas do fluxo anotada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3 aprendizados do estudo orientado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5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11296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AO FINAL DO DIA 2</a:t>
            </a:r>
          </a:p>
        </p:txBody>
      </p:sp>
      <p:sp>
        <p:nvSpPr>
          <p:cNvPr id="21" name="Oval 20"/>
          <p:cNvSpPr/>
          <p:nvPr/>
        </p:nvSpPr>
        <p:spPr>
          <a:xfrm>
            <a:off x="3511296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Papel observado na equipe</a:t>
            </a:r>
          </a:p>
        </p:txBody>
      </p:sp>
      <p:sp>
        <p:nvSpPr>
          <p:cNvPr id="23" name="Oval 22"/>
          <p:cNvSpPr/>
          <p:nvPr/>
        </p:nvSpPr>
        <p:spPr>
          <a:xfrm>
            <a:off x="3511296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Cartões criados com descrição e prazo</a:t>
            </a:r>
          </a:p>
        </p:txBody>
      </p:sp>
      <p:sp>
        <p:nvSpPr>
          <p:cNvPr id="25" name="Oval 24"/>
          <p:cNvSpPr/>
          <p:nvPr/>
        </p:nvSpPr>
        <p:spPr>
          <a:xfrm>
            <a:off x="3511296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Responsável em todos os cartões</a:t>
            </a:r>
          </a:p>
        </p:txBody>
      </p:sp>
      <p:sp>
        <p:nvSpPr>
          <p:cNvPr id="27" name="Oval 26"/>
          <p:cNvSpPr/>
          <p:nvPr/>
        </p:nvSpPr>
        <p:spPr>
          <a:xfrm>
            <a:off x="3511296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30752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H5P de palavras concluído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81344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AO FINAL DO DIA 3</a:t>
            </a:r>
          </a:p>
        </p:txBody>
      </p:sp>
      <p:sp>
        <p:nvSpPr>
          <p:cNvPr id="31" name="Oval 30"/>
          <p:cNvSpPr/>
          <p:nvPr/>
        </p:nvSpPr>
        <p:spPr>
          <a:xfrm>
            <a:off x="6181344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Listas alinhadas ao fluxo do material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Sprint simulada com mini-daily</a:t>
            </a:r>
          </a:p>
        </p:txBody>
      </p:sp>
      <p:sp>
        <p:nvSpPr>
          <p:cNvPr id="35" name="Oval 34"/>
          <p:cNvSpPr/>
          <p:nvPr/>
        </p:nvSpPr>
        <p:spPr>
          <a:xfrm>
            <a:off x="6181344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Painel consultado e lido pela equipe</a:t>
            </a:r>
          </a:p>
        </p:txBody>
      </p:sp>
      <p:sp>
        <p:nvSpPr>
          <p:cNvPr id="37" name="Oval 36"/>
          <p:cNvSpPr/>
          <p:nvPr/>
        </p:nvSpPr>
        <p:spPr>
          <a:xfrm>
            <a:off x="6181344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Apresentação do quadro realizada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69 / 71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Momento de dúvidas e próximos passos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Sobre o conteúdo da semana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Material didático: Unidade 2 (págs. 108-117)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Vídeos de apoio com QR Code nos slides de cada dia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Ferramentas: Trello (trello.com) e H5P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11296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Compromissos da equipe</a:t>
            </a:r>
          </a:p>
        </p:txBody>
      </p:sp>
      <p:sp>
        <p:nvSpPr>
          <p:cNvPr id="19" name="Oval 18"/>
          <p:cNvSpPr/>
          <p:nvPr/>
        </p:nvSpPr>
        <p:spPr>
          <a:xfrm>
            <a:off x="3511296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752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Quadro Trello atualizado da sprint</a:t>
            </a:r>
          </a:p>
        </p:txBody>
      </p:sp>
      <p:sp>
        <p:nvSpPr>
          <p:cNvPr id="21" name="Oval 20"/>
          <p:cNvSpPr/>
          <p:nvPr/>
        </p:nvSpPr>
        <p:spPr>
          <a:xfrm>
            <a:off x="3511296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Todos os cartões com responsável e prazo</a:t>
            </a:r>
          </a:p>
        </p:txBody>
      </p:sp>
      <p:sp>
        <p:nvSpPr>
          <p:cNvPr id="23" name="Oval 22"/>
          <p:cNvSpPr/>
          <p:nvPr/>
        </p:nvSpPr>
        <p:spPr>
          <a:xfrm>
            <a:off x="3511296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Painel consultado antes da próxima aula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98464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1344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O que vem a seguir</a:t>
            </a:r>
          </a:p>
        </p:txBody>
      </p:sp>
      <p:sp>
        <p:nvSpPr>
          <p:cNvPr id="27" name="Oval 26"/>
          <p:cNvSpPr/>
          <p:nvPr/>
        </p:nvSpPr>
        <p:spPr>
          <a:xfrm>
            <a:off x="6181344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Estimativa de esforço e planejamento de datas</a:t>
            </a:r>
          </a:p>
        </p:txBody>
      </p:sp>
      <p:sp>
        <p:nvSpPr>
          <p:cNvPr id="29" name="Oval 28"/>
          <p:cNvSpPr/>
          <p:nvPr/>
        </p:nvSpPr>
        <p:spPr>
          <a:xfrm>
            <a:off x="6181344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Entregas parciais ao cliente do projeto</a:t>
            </a:r>
          </a:p>
        </p:txBody>
      </p:sp>
      <p:sp>
        <p:nvSpPr>
          <p:cNvPr id="31" name="Oval 30"/>
          <p:cNvSpPr/>
          <p:nvPr/>
        </p:nvSpPr>
        <p:spPr>
          <a:xfrm>
            <a:off x="6181344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Continuidade da sprint com o quadro do Trello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70 / 71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Referências da semana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Fontes usadas nos slides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167127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MELLO, H.; OLIVEIRA, B. App Clicks — Construção rápida de Apps para mídias digitais. Unidade 2: Fluxos de trabalho, tarefas e entregas (págs. 108-117).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944368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Trello — Sua ferramenta de produtividade. Disponível em: https://trello.com/pt-BR/tour (referência citada no material, pág. 118).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21608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630168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Vídeos de apoio (YouTube, links e QR Codes nos slides): Mario Trentim, MindMaster, A Mente do Gestor, Canal Bizz-up, Engenharia Detalhada, IESDE e Jiraverso.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498848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407407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Challenge Based Learning Framework. The Challenge Institute, 2018 (referência citada no material, pág. 118).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799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222E40"/>
                </a:solidFill>
                <a:latin typeface="Aptos"/>
              </a:rPr>
              <a:t>Todo o conteúdo teórico desta apresentação provém do material didático citado; figuras recortadas e inseridas: 83, 84, 85, 86, 87, 89, 90, 91, 92, 93, 94 e 95 (págs. 108-117).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3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800" b="1">
                <a:solidFill>
                  <a:srgbClr val="606E84"/>
                </a:solidFill>
                <a:latin typeface="Aptos"/>
              </a:rPr>
              <a:t>APPCLICKS  • 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42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lang="pt-BR" sz="864" b="0">
                <a:solidFill>
                  <a:srgbClr val="606E84"/>
                </a:solidFill>
                <a:latin typeface="Aptos"/>
              </a:rPr>
              <a:t>71 / 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7772400" cy="59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600" b="1">
                <a:solidFill>
                  <a:srgbClr val="142341"/>
                </a:solidFill>
                <a:latin typeface="Aptos Display"/>
              </a:rPr>
              <a:t>AppClicks - Semana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15468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22E40"/>
                </a:solidFill>
                <a:latin typeface="Aptos"/>
              </a:rPr>
              <a:t>Fluxos de trabalho, tarefas e entregas no Trello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7772400" cy="280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1700" b="0">
                <a:solidFill>
                  <a:srgbClr val="606E84"/>
                </a:solidFill>
                <a:latin typeface="Aptos"/>
              </a:rPr>
              <a:t>Sua sprint já começou — veja o quadro!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67728" y="2395728"/>
            <a:ext cx="1024128" cy="1024128"/>
          </a:xfrm>
          <a:prstGeom prst="roundRect">
            <a:avLst>
              <a:gd name="adj" fmla="val 15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5257800"/>
            <a:ext cx="1965960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5532120"/>
            <a:ext cx="1325880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5806440"/>
            <a:ext cx="822960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10641</Words>
  <Application>Microsoft Office PowerPoint</Application>
  <PresentationFormat>Apresentação na tela (4:3)</PresentationFormat>
  <Paragraphs>1093</Paragraphs>
  <Slides>59</Slides>
  <Notes>59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59</vt:i4>
      </vt:variant>
    </vt:vector>
  </HeadingPairs>
  <TitlesOfParts>
    <vt:vector size="64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AppClicks - Semana 2</dc:title>
  <dc:subject>Introdução ao No-code e Banco de Dados</dc:subject>
  <dc:creator>AppClicks</dc:creator>
  <cp:keywords>AppSheet, Google Sheets, No-code, CRUD</cp:keywords>
  <dc:description>generated using python-pptx</dc:description>
  <cp:lastModifiedBy>Ivan Lucas</cp:lastModifiedBy>
  <cp:revision>3</cp:revision>
  <dcterms:created xsi:type="dcterms:W3CDTF">2013-01-27T09:14:16Z</dcterms:created>
  <dcterms:modified xsi:type="dcterms:W3CDTF">2026-09-20T20:06:40Z</dcterms:modified>
  <cp:category/>
</cp:coreProperties>
</file>