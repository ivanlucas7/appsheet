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98" r:id="rId3"/>
    <p:sldId id="258" r:id="rId4"/>
    <p:sldId id="259" r:id="rId5"/>
    <p:sldId id="299" r:id="rId6"/>
    <p:sldId id="261" r:id="rId7"/>
    <p:sldId id="262" r:id="rId8"/>
    <p:sldId id="263" r:id="rId9"/>
    <p:sldId id="264" r:id="rId10"/>
    <p:sldId id="265" r:id="rId11"/>
    <p:sldId id="303" r:id="rId12"/>
    <p:sldId id="302" r:id="rId13"/>
    <p:sldId id="301" r:id="rId14"/>
    <p:sldId id="300" r:id="rId15"/>
    <p:sldId id="266" r:id="rId16"/>
    <p:sldId id="313" r:id="rId17"/>
    <p:sldId id="316" r:id="rId18"/>
    <p:sldId id="315" r:id="rId19"/>
    <p:sldId id="314" r:id="rId20"/>
    <p:sldId id="318" r:id="rId21"/>
    <p:sldId id="267" r:id="rId22"/>
    <p:sldId id="268" r:id="rId23"/>
    <p:sldId id="307" r:id="rId24"/>
    <p:sldId id="306" r:id="rId25"/>
    <p:sldId id="305" r:id="rId26"/>
    <p:sldId id="304" r:id="rId27"/>
    <p:sldId id="270" r:id="rId28"/>
    <p:sldId id="271" r:id="rId29"/>
    <p:sldId id="272" r:id="rId30"/>
    <p:sldId id="273" r:id="rId31"/>
    <p:sldId id="274" r:id="rId32"/>
    <p:sldId id="275" r:id="rId33"/>
    <p:sldId id="309" r:id="rId34"/>
    <p:sldId id="308" r:id="rId35"/>
    <p:sldId id="276" r:id="rId36"/>
    <p:sldId id="319" r:id="rId37"/>
    <p:sldId id="277" r:id="rId38"/>
    <p:sldId id="278" r:id="rId39"/>
    <p:sldId id="311" r:id="rId40"/>
    <p:sldId id="310" r:id="rId41"/>
    <p:sldId id="312" r:id="rId42"/>
    <p:sldId id="279" r:id="rId43"/>
    <p:sldId id="280" r:id="rId44"/>
    <p:sldId id="281" r:id="rId45"/>
    <p:sldId id="282" r:id="rId46"/>
    <p:sldId id="320" r:id="rId47"/>
    <p:sldId id="321" r:id="rId48"/>
    <p:sldId id="283" r:id="rId49"/>
    <p:sldId id="322" r:id="rId50"/>
    <p:sldId id="284" r:id="rId51"/>
    <p:sldId id="285" r:id="rId52"/>
    <p:sldId id="323" r:id="rId53"/>
    <p:sldId id="286" r:id="rId54"/>
    <p:sldId id="287" r:id="rId55"/>
    <p:sldId id="324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57145-B07C-49CE-82FD-B1F7373CECAB}" v="10" dt="2026-08-09T04:18:02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958" autoAdjust="0"/>
  </p:normalViewPr>
  <p:slideViewPr>
    <p:cSldViewPr snapToGrid="0" snapToObjects="1">
      <p:cViewPr varScale="1">
        <p:scale>
          <a:sx n="46" d="100"/>
          <a:sy n="46" d="100"/>
        </p:scale>
        <p:origin x="8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6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Lucas" userId="f488f667df7b9828" providerId="LiveId" clId="{7341C001-F0AF-4418-95D9-934B15DF2660}"/>
    <pc:docChg chg="undo custSel addSld delSld modSld">
      <pc:chgData name="Ivan Lucas" userId="f488f667df7b9828" providerId="LiveId" clId="{7341C001-F0AF-4418-95D9-934B15DF2660}" dt="2026-08-09T04:26:10.233" v="321" actId="26606"/>
      <pc:docMkLst>
        <pc:docMk/>
      </pc:docMkLst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8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1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2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4203154631" sldId="263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4203154631" sldId="263"/>
            <ac:spMk id="11" creationId="{2600EB72-32DA-D179-46CF-AC1907A605AA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4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5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5"/>
            <ac:spMk id="11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66"/>
        </pc:sldMkLst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13" creationId="{00000000-0000-0000-0000-000000000000}"/>
          </ac:spMkLst>
        </pc:spChg>
        <pc:spChg chg="del">
          <ac:chgData name="Ivan Lucas" userId="f488f667df7b9828" providerId="LiveId" clId="{7341C001-F0AF-4418-95D9-934B15DF2660}" dt="2026-08-08T19:33:43.325" v="6" actId="2660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3:43.325" v="6" actId="26606"/>
          <ac:spMkLst>
            <pc:docMk/>
            <pc:sldMk cId="0" sldId="266"/>
            <ac:spMk id="23" creationId="{00000000-0000-0000-0000-000000000000}"/>
          </ac:spMkLst>
        </pc:spChg>
        <pc:picChg chg="del">
          <ac:chgData name="Ivan Lucas" userId="f488f667df7b9828" providerId="LiveId" clId="{7341C001-F0AF-4418-95D9-934B15DF2660}" dt="2026-08-08T19:30:00.806" v="1" actId="478"/>
          <ac:picMkLst>
            <pc:docMk/>
            <pc:sldMk cId="0" sldId="266"/>
            <ac:picMk id="19" creationId="{00000000-0000-0000-0000-000000000000}"/>
          </ac:picMkLst>
        </pc:picChg>
        <pc:picChg chg="add mod">
          <ac:chgData name="Ivan Lucas" userId="f488f667df7b9828" providerId="LiveId" clId="{7341C001-F0AF-4418-95D9-934B15DF2660}" dt="2026-08-08T20:48:38.273" v="29" actId="26606"/>
          <ac:picMkLst>
            <pc:docMk/>
            <pc:sldMk cId="0" sldId="266"/>
            <ac:picMk id="25" creationId="{933A83D7-3A5C-AE36-2CBD-0E67D769369A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7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12" creationId="{00000000-0000-0000-0000-000000000000}"/>
          </ac:spMkLst>
        </pc:spChg>
        <pc:picChg chg="mod">
          <ac:chgData name="Ivan Lucas" userId="f488f667df7b9828" providerId="LiveId" clId="{7341C001-F0AF-4418-95D9-934B15DF2660}" dt="2026-08-08T20:48:38.273" v="29" actId="26606"/>
          <ac:picMkLst>
            <pc:docMk/>
            <pc:sldMk cId="0" sldId="267"/>
            <ac:picMk id="8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8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12" creationId="{00000000-0000-0000-0000-000000000000}"/>
          </ac:spMkLst>
        </pc:spChg>
        <pc:picChg chg="mod">
          <ac:chgData name="Ivan Lucas" userId="f488f667df7b9828" providerId="LiveId" clId="{7341C001-F0AF-4418-95D9-934B15DF2660}" dt="2026-08-08T21:44:23.636" v="56" actId="26606"/>
          <ac:picMkLst>
            <pc:docMk/>
            <pc:sldMk cId="0" sldId="268"/>
            <ac:picMk id="8" creationId="{00000000-0000-0000-0000-000000000000}"/>
          </ac:picMkLst>
        </pc:picChg>
      </pc:sldChg>
      <pc:sldChg chg="modSp del mod">
        <pc:chgData name="Ivan Lucas" userId="f488f667df7b9828" providerId="LiveId" clId="{7341C001-F0AF-4418-95D9-934B15DF2660}" dt="2026-08-08T20:48:38.273" v="29" actId="26606"/>
        <pc:sldMkLst>
          <pc:docMk/>
          <pc:sldMk cId="0" sldId="269"/>
        </pc:sldMkLst>
        <pc:spChg chg="mod">
          <ac:chgData name="Ivan Lucas" userId="f488f667df7b9828" providerId="LiveId" clId="{7341C001-F0AF-4418-95D9-934B15DF2660}" dt="2026-08-08T19:25:17.112" v="0" actId="26606"/>
          <ac:spMkLst>
            <pc:docMk/>
            <pc:sldMk cId="0" sldId="269"/>
            <ac:spMk id="11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0"/>
        </pc:sldMkLst>
        <pc:spChg chg="mod">
          <ac:chgData name="Ivan Lucas" userId="f488f667df7b9828" providerId="LiveId" clId="{7341C001-F0AF-4418-95D9-934B15DF2660}" dt="2026-08-08T21:09:49.520" v="35" actId="26606"/>
          <ac:spMkLst>
            <pc:docMk/>
            <pc:sldMk cId="0" sldId="270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8T21:07:27.093" v="34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8T21:07:26.510" v="33" actId="478"/>
          <ac:spMkLst>
            <pc:docMk/>
            <pc:sldMk cId="0" sldId="270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8T21:10:09.251" v="39" actId="478"/>
          <ac:spMkLst>
            <pc:docMk/>
            <pc:sldMk cId="0" sldId="270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8T21:07:24.143" v="32" actId="478"/>
          <ac:picMkLst>
            <pc:docMk/>
            <pc:sldMk cId="0" sldId="270"/>
            <ac:picMk id="8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71"/>
        </pc:sldMkLst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8T21:37:02.129" v="40" actId="478"/>
          <ac:picMkLst>
            <pc:docMk/>
            <pc:sldMk cId="0" sldId="271"/>
            <ac:picMk id="8" creationId="{00000000-0000-0000-0000-000000000000}"/>
          </ac:picMkLst>
        </pc:picChg>
        <pc:picChg chg="add mod">
          <ac:chgData name="Ivan Lucas" userId="f488f667df7b9828" providerId="LiveId" clId="{7341C001-F0AF-4418-95D9-934B15DF2660}" dt="2026-08-08T21:41:29.750" v="49" actId="26606"/>
          <ac:picMkLst>
            <pc:docMk/>
            <pc:sldMk cId="0" sldId="271"/>
            <ac:picMk id="14" creationId="{D6A18CF1-64F0-21E8-6FE9-DBAEC0182B7C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2"/>
        </pc:sldMkLst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12" creationId="{00000000-0000-0000-0000-000000000000}"/>
          </ac:spMkLst>
        </pc:spChg>
        <pc:picChg chg="mod">
          <ac:chgData name="Ivan Lucas" userId="f488f667df7b9828" providerId="LiveId" clId="{7341C001-F0AF-4418-95D9-934B15DF2660}" dt="2026-08-08T21:44:23.636" v="56" actId="26606"/>
          <ac:picMkLst>
            <pc:docMk/>
            <pc:sldMk cId="0" sldId="272"/>
            <ac:picMk id="8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73"/>
        </pc:sldMkLst>
        <pc:spChg chg="mod">
          <ac:chgData name="Ivan Lucas" userId="f488f667df7b9828" providerId="LiveId" clId="{7341C001-F0AF-4418-95D9-934B15DF2660}" dt="2026-08-08T21:44:23.636" v="56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4:23.636" v="56" actId="26606"/>
          <ac:spMkLst>
            <pc:docMk/>
            <pc:sldMk cId="0" sldId="273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3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4:23.636" v="56" actId="26606"/>
          <ac:spMkLst>
            <pc:docMk/>
            <pc:sldMk cId="0" sldId="273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8T21:40:09.289" v="46" actId="478"/>
          <ac:picMkLst>
            <pc:docMk/>
            <pc:sldMk cId="0" sldId="273"/>
            <ac:picMk id="8" creationId="{00000000-0000-0000-0000-000000000000}"/>
          </ac:picMkLst>
        </pc:picChg>
        <pc:picChg chg="add mod">
          <ac:chgData name="Ivan Lucas" userId="f488f667df7b9828" providerId="LiveId" clId="{7341C001-F0AF-4418-95D9-934B15DF2660}" dt="2026-08-08T21:47:20.855" v="59" actId="26606"/>
          <ac:picMkLst>
            <pc:docMk/>
            <pc:sldMk cId="0" sldId="273"/>
            <ac:picMk id="14" creationId="{5B964C9B-D9C3-D252-9E94-E7B46748B959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4"/>
        </pc:sldMkLst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12" creationId="{00000000-0000-0000-0000-000000000000}"/>
          </ac:spMkLst>
        </pc:spChg>
        <pc:picChg chg="mod">
          <ac:chgData name="Ivan Lucas" userId="f488f667df7b9828" providerId="LiveId" clId="{7341C001-F0AF-4418-95D9-934B15DF2660}" dt="2026-08-08T21:45:46.700" v="58" actId="26606"/>
          <ac:picMkLst>
            <pc:docMk/>
            <pc:sldMk cId="0" sldId="274"/>
            <ac:picMk id="8" creationId="{00000000-0000-0000-0000-000000000000}"/>
          </ac:picMkLst>
        </pc:picChg>
      </pc:sldChg>
      <pc:sldChg chg="delSp modSp mod modNotes">
        <pc:chgData name="Ivan Lucas" userId="f488f667df7b9828" providerId="LiveId" clId="{7341C001-F0AF-4418-95D9-934B15DF2660}" dt="2026-08-09T04:26:10.233" v="321" actId="26606"/>
        <pc:sldMkLst>
          <pc:docMk/>
          <pc:sldMk cId="0" sldId="275"/>
        </pc:sldMkLst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3:14:28.481" v="210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6" creationId="{00000000-0000-0000-0000-000000000000}"/>
          </ac:spMkLst>
        </pc:spChg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2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5"/>
            <ac:spMk id="2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26" creationId="{00000000-0000-0000-0000-000000000000}"/>
          </ac:spMkLst>
        </pc:spChg>
        <pc:picChg chg="mod">
          <ac:chgData name="Ivan Lucas" userId="f488f667df7b9828" providerId="LiveId" clId="{7341C001-F0AF-4418-95D9-934B15DF2660}" dt="2026-08-09T02:25:10.646" v="153" actId="26606"/>
          <ac:picMkLst>
            <pc:docMk/>
            <pc:sldMk cId="0" sldId="275"/>
            <ac:picMk id="27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6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76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8T21:49:04.025" v="61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8T21:49:06.053" v="62" actId="478"/>
          <ac:spMkLst>
            <pc:docMk/>
            <pc:sldMk cId="0" sldId="27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6"/>
            <ac:spMk id="11" creationId="{00000000-0000-0000-0000-000000000000}"/>
          </ac:spMkLst>
        </pc:spChg>
        <pc:spChg chg="add del mod">
          <ac:chgData name="Ivan Lucas" userId="f488f667df7b9828" providerId="LiveId" clId="{7341C001-F0AF-4418-95D9-934B15DF2660}" dt="2026-08-09T02:25:10.646" v="153" actId="26606"/>
          <ac:spMkLst>
            <pc:docMk/>
            <pc:sldMk cId="0" sldId="276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8T21:49:03.176" v="60" actId="478"/>
          <ac:picMkLst>
            <pc:docMk/>
            <pc:sldMk cId="0" sldId="276"/>
            <ac:picMk id="8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7"/>
        </pc:sldMkLst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7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0:59.842" v="115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1.793" v="116" actId="478"/>
          <ac:spMkLst>
            <pc:docMk/>
            <pc:sldMk cId="0" sldId="27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7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5.726" v="117" actId="478"/>
          <ac:spMkLst>
            <pc:docMk/>
            <pc:sldMk cId="0" sldId="277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9T02:10:58.774" v="114" actId="478"/>
          <ac:picMkLst>
            <pc:docMk/>
            <pc:sldMk cId="0" sldId="277"/>
            <ac:picMk id="8" creationId="{00000000-0000-0000-0000-000000000000}"/>
          </ac:picMkLst>
        </pc:picChg>
      </pc:sldChg>
      <pc:sldChg chg="addSp delSp modSp mod modNotes">
        <pc:chgData name="Ivan Lucas" userId="f488f667df7b9828" providerId="LiveId" clId="{7341C001-F0AF-4418-95D9-934B15DF2660}" dt="2026-08-09T04:03:19.820" v="306" actId="26606"/>
        <pc:sldMkLst>
          <pc:docMk/>
          <pc:sldMk cId="0" sldId="278"/>
        </pc:sldMkLst>
        <pc:spChg chg="mod">
          <ac:chgData name="Ivan Lucas" userId="f488f667df7b9828" providerId="LiveId" clId="{7341C001-F0AF-4418-95D9-934B15DF2660}" dt="2026-08-08T22:04:04.953" v="66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8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8T22:00:12.055" v="65" actId="478"/>
          <ac:spMkLst>
            <pc:docMk/>
            <pc:sldMk cId="0" sldId="27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8T22:04:04.953" v="66" actId="26606"/>
          <ac:spMkLst>
            <pc:docMk/>
            <pc:sldMk cId="0" sldId="278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8"/>
            <ac:spMk id="11" creationId="{00000000-0000-0000-0000-000000000000}"/>
          </ac:spMkLst>
        </pc:spChg>
        <pc:spChg chg="add del mod">
          <ac:chgData name="Ivan Lucas" userId="f488f667df7b9828" providerId="LiveId" clId="{7341C001-F0AF-4418-95D9-934B15DF2660}" dt="2026-08-09T02:25:10.646" v="153" actId="26606"/>
          <ac:spMkLst>
            <pc:docMk/>
            <pc:sldMk cId="0" sldId="278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8T22:00:10.543" v="64" actId="478"/>
          <ac:picMkLst>
            <pc:docMk/>
            <pc:sldMk cId="0" sldId="278"/>
            <ac:picMk id="8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9"/>
        </pc:sldMkLst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5" creationId="{00000000-0000-0000-0000-000000000000}"/>
          </ac:spMkLst>
        </pc:spChg>
        <pc:spChg chg="del">
          <ac:chgData name="Ivan Lucas" userId="f488f667df7b9828" providerId="LiveId" clId="{7341C001-F0AF-4418-95D9-934B15DF2660}" dt="2026-08-08T22:10:19.759" v="69" actId="478"/>
          <ac:spMkLst>
            <pc:docMk/>
            <pc:sldMk cId="0" sldId="279"/>
            <ac:spMk id="20" creationId="{00000000-0000-0000-0000-000000000000}"/>
          </ac:spMkLst>
        </pc:spChg>
        <pc:spChg chg="del">
          <ac:chgData name="Ivan Lucas" userId="f488f667df7b9828" providerId="LiveId" clId="{7341C001-F0AF-4418-95D9-934B15DF2660}" dt="2026-08-08T22:10:22.648" v="70" actId="478"/>
          <ac:spMkLst>
            <pc:docMk/>
            <pc:sldMk cId="0" sldId="279"/>
            <ac:spMk id="22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9"/>
            <ac:spMk id="24" creationId="{00000000-0000-0000-0000-000000000000}"/>
          </ac:spMkLst>
        </pc:spChg>
        <pc:spChg chg="del mod">
          <ac:chgData name="Ivan Lucas" userId="f488f667df7b9828" providerId="LiveId" clId="{7341C001-F0AF-4418-95D9-934B15DF2660}" dt="2026-08-08T22:12:55.796" v="72" actId="478"/>
          <ac:spMkLst>
            <pc:docMk/>
            <pc:sldMk cId="0" sldId="279"/>
            <ac:spMk id="25" creationId="{00000000-0000-0000-0000-000000000000}"/>
          </ac:spMkLst>
        </pc:spChg>
        <pc:picChg chg="del">
          <ac:chgData name="Ivan Lucas" userId="f488f667df7b9828" providerId="LiveId" clId="{7341C001-F0AF-4418-95D9-934B15DF2660}" dt="2026-08-08T22:10:19.034" v="68" actId="478"/>
          <ac:picMkLst>
            <pc:docMk/>
            <pc:sldMk cId="0" sldId="279"/>
            <ac:picMk id="26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80"/>
        </pc:sldMkLst>
        <pc:spChg chg="mod">
          <ac:chgData name="Ivan Lucas" userId="f488f667df7b9828" providerId="LiveId" clId="{7341C001-F0AF-4418-95D9-934B15DF2660}" dt="2026-08-09T02:28:39.081" v="163" actId="26606"/>
          <ac:spMkLst>
            <pc:docMk/>
            <pc:sldMk cId="0" sldId="28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0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3:27.856" v="166"/>
          <ac:spMkLst>
            <pc:docMk/>
            <pc:sldMk cId="0" sldId="280"/>
            <ac:spMk id="12" creationId="{00000000-0000-0000-0000-000000000000}"/>
          </ac:spMkLst>
        </pc:spChg>
        <pc:picChg chg="add del mod">
          <ac:chgData name="Ivan Lucas" userId="f488f667df7b9828" providerId="LiveId" clId="{7341C001-F0AF-4418-95D9-934B15DF2660}" dt="2026-08-09T02:28:39.081" v="163" actId="26606"/>
          <ac:picMkLst>
            <pc:docMk/>
            <pc:sldMk cId="0" sldId="280"/>
            <ac:picMk id="8" creationId="{00000000-0000-0000-0000-000000000000}"/>
          </ac:picMkLst>
        </pc:picChg>
        <pc:picChg chg="add del mod">
          <ac:chgData name="Ivan Lucas" userId="f488f667df7b9828" providerId="LiveId" clId="{7341C001-F0AF-4418-95D9-934B15DF2660}" dt="2026-08-09T02:26:52.873" v="158" actId="22"/>
          <ac:picMkLst>
            <pc:docMk/>
            <pc:sldMk cId="0" sldId="280"/>
            <ac:picMk id="14" creationId="{5F270DCA-9AD2-809F-A7FA-FF9BCE2117E5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81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8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24:48.977" v="148" actId="14100"/>
          <ac:spMkLst>
            <pc:docMk/>
            <pc:sldMk cId="0" sldId="28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2:21:48.329" v="133" actId="26606"/>
          <ac:spMkLst>
            <pc:docMk/>
            <pc:sldMk cId="0" sldId="281"/>
            <ac:spMk id="12" creationId="{00000000-0000-0000-0000-000000000000}"/>
          </ac:spMkLst>
        </pc:spChg>
        <pc:picChg chg="del mod">
          <ac:chgData name="Ivan Lucas" userId="f488f667df7b9828" providerId="LiveId" clId="{7341C001-F0AF-4418-95D9-934B15DF2660}" dt="2026-08-09T02:24:35.810" v="141" actId="478"/>
          <ac:picMkLst>
            <pc:docMk/>
            <pc:sldMk cId="0" sldId="281"/>
            <ac:picMk id="13" creationId="{00000000-0000-0000-0000-000000000000}"/>
          </ac:picMkLst>
        </pc:picChg>
        <pc:picChg chg="add mod">
          <ac:chgData name="Ivan Lucas" userId="f488f667df7b9828" providerId="LiveId" clId="{7341C001-F0AF-4418-95D9-934B15DF2660}" dt="2026-08-09T02:28:39.081" v="163" actId="26606"/>
          <ac:picMkLst>
            <pc:docMk/>
            <pc:sldMk cId="0" sldId="281"/>
            <ac:picMk id="14" creationId="{9AB84AB5-8188-8641-F907-AB16B073F814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82"/>
        </pc:sldMkLst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2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4" creationId="{00000000-0000-0000-0000-000000000000}"/>
          </ac:spMkLst>
        </pc:spChg>
        <pc:spChg chg="del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5" creationId="{00000000-0000-0000-0000-000000000000}"/>
          </ac:spMkLst>
        </pc:spChg>
        <pc:spChg chg="del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7" creationId="{00000000-0000-0000-0000-000000000000}"/>
          </ac:spMkLst>
        </pc:spChg>
        <pc:picChg chg="add del">
          <ac:chgData name="Ivan Lucas" userId="f488f667df7b9828" providerId="LiveId" clId="{7341C001-F0AF-4418-95D9-934B15DF2660}" dt="2026-08-09T02:27:05.705" v="160" actId="478"/>
          <ac:picMkLst>
            <pc:docMk/>
            <pc:sldMk cId="0" sldId="282"/>
            <ac:picMk id="8" creationId="{00000000-0000-0000-0000-000000000000}"/>
          </ac:picMkLst>
        </pc:picChg>
        <pc:picChg chg="mod">
          <ac:chgData name="Ivan Lucas" userId="f488f667df7b9828" providerId="LiveId" clId="{7341C001-F0AF-4418-95D9-934B15DF2660}" dt="2026-08-09T02:20:17.372" v="128" actId="1076"/>
          <ac:picMkLst>
            <pc:docMk/>
            <pc:sldMk cId="0" sldId="282"/>
            <ac:picMk id="13" creationId="{00000000-0000-0000-0000-000000000000}"/>
          </ac:picMkLst>
        </pc:picChg>
        <pc:picChg chg="add del mod">
          <ac:chgData name="Ivan Lucas" userId="f488f667df7b9828" providerId="LiveId" clId="{7341C001-F0AF-4418-95D9-934B15DF2660}" dt="2026-08-09T02:25:10.646" v="153" actId="26606"/>
          <ac:picMkLst>
            <pc:docMk/>
            <pc:sldMk cId="0" sldId="282"/>
            <ac:picMk id="19" creationId="{8A055515-FA03-1746-81C2-C18CC6CA0574}"/>
          </ac:picMkLst>
        </pc:picChg>
        <pc:picChg chg="add mod">
          <ac:chgData name="Ivan Lucas" userId="f488f667df7b9828" providerId="LiveId" clId="{7341C001-F0AF-4418-95D9-934B15DF2660}" dt="2026-08-09T02:27:09.477" v="162" actId="1076"/>
          <ac:picMkLst>
            <pc:docMk/>
            <pc:sldMk cId="0" sldId="282"/>
            <ac:picMk id="21" creationId="{DB81A971-0344-0A91-4299-3DDE32628D1D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83"/>
        </pc:sldMkLst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3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2" creationId="{00000000-0000-0000-0000-000000000000}"/>
          </ac:spMkLst>
        </pc:spChg>
        <pc:picChg chg="mod">
          <ac:chgData name="Ivan Lucas" userId="f488f667df7b9828" providerId="LiveId" clId="{7341C001-F0AF-4418-95D9-934B15DF2660}" dt="2026-08-09T02:46:56.708" v="175" actId="26606"/>
          <ac:picMkLst>
            <pc:docMk/>
            <pc:sldMk cId="0" sldId="283"/>
            <ac:picMk id="8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4"/>
        </pc:sldMkLst>
        <pc:spChg chg="mod">
          <ac:chgData name="Ivan Lucas" userId="f488f667df7b9828" providerId="LiveId" clId="{7341C001-F0AF-4418-95D9-934B15DF2660}" dt="2026-08-09T03:13:01.311" v="199" actId="20577"/>
          <ac:spMkLst>
            <pc:docMk/>
            <pc:sldMk cId="0" sldId="284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2.721" v="201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4.699" v="202" actId="478"/>
          <ac:spMkLst>
            <pc:docMk/>
            <pc:sldMk cId="0" sldId="28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4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6.511" v="203" actId="478"/>
          <ac:spMkLst>
            <pc:docMk/>
            <pc:sldMk cId="0" sldId="284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9T03:13:11.167" v="200" actId="478"/>
          <ac:picMkLst>
            <pc:docMk/>
            <pc:sldMk cId="0" sldId="284"/>
            <ac:picMk id="8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5"/>
        </pc:sldMkLst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6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5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6"/>
        </pc:sldMkLst>
        <pc:spChg chg="mod">
          <ac:chgData name="Ivan Lucas" userId="f488f667df7b9828" providerId="LiveId" clId="{7341C001-F0AF-4418-95D9-934B15DF2660}" dt="2026-08-09T03:24:55.948" v="215" actId="26606"/>
          <ac:spMkLst>
            <pc:docMk/>
            <pc:sldMk cId="0" sldId="286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29.067" v="213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32.972" v="214" actId="478"/>
          <ac:spMkLst>
            <pc:docMk/>
            <pc:sldMk cId="0" sldId="28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6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25:13.375" v="216" actId="478"/>
          <ac:spMkLst>
            <pc:docMk/>
            <pc:sldMk cId="0" sldId="286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9T03:23:27.555" v="212" actId="478"/>
          <ac:picMkLst>
            <pc:docMk/>
            <pc:sldMk cId="0" sldId="286"/>
            <ac:picMk id="8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7"/>
        </pc:sldMkLst>
        <pc:spChg chg="mod">
          <ac:chgData name="Ivan Lucas" userId="f488f667df7b9828" providerId="LiveId" clId="{7341C001-F0AF-4418-95D9-934B15DF2660}" dt="2026-08-09T03:26:17.968" v="217" actId="26606"/>
          <ac:spMkLst>
            <pc:docMk/>
            <pc:sldMk cId="0" sldId="287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54:00.287" v="294"/>
          <ac:spMkLst>
            <pc:docMk/>
            <pc:sldMk cId="0" sldId="287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7"/>
            <ac:spMk id="14" creationId="{00000000-0000-0000-0000-000000000000}"/>
          </ac:spMkLst>
        </pc:spChg>
        <pc:spChg chg="mod">
          <ac:chgData name="Ivan Lucas" userId="f488f667df7b9828" providerId="LiveId" clId="{7341C001-F0AF-4418-95D9-934B15DF2660}" dt="2026-08-09T03:36:56.026" v="231" actId="14100"/>
          <ac:spMkLst>
            <pc:docMk/>
            <pc:sldMk cId="0" sldId="287"/>
            <ac:spMk id="15" creationId="{00000000-0000-0000-0000-000000000000}"/>
          </ac:spMkLst>
        </pc:spChg>
        <pc:spChg chg="mod">
          <ac:chgData name="Ivan Lucas" userId="f488f667df7b9828" providerId="LiveId" clId="{7341C001-F0AF-4418-95D9-934B15DF2660}" dt="2026-08-09T03:37:06.369" v="232" actId="255"/>
          <ac:spMkLst>
            <pc:docMk/>
            <pc:sldMk cId="0" sldId="287"/>
            <ac:spMk id="17" creationId="{00000000-0000-0000-0000-000000000000}"/>
          </ac:spMkLst>
        </pc:spChg>
        <pc:spChg chg="mod">
          <ac:chgData name="Ivan Lucas" userId="f488f667df7b9828" providerId="LiveId" clId="{7341C001-F0AF-4418-95D9-934B15DF2660}" dt="2026-08-09T03:37:44.148" v="240" actId="6549"/>
          <ac:spMkLst>
            <pc:docMk/>
            <pc:sldMk cId="0" sldId="287"/>
            <ac:spMk id="18" creationId="{00000000-0000-0000-0000-000000000000}"/>
          </ac:spMkLst>
        </pc:spChg>
        <pc:spChg chg="mod">
          <ac:chgData name="Ivan Lucas" userId="f488f667df7b9828" providerId="LiveId" clId="{7341C001-F0AF-4418-95D9-934B15DF2660}" dt="2026-08-09T03:39:05.572" v="286" actId="20577"/>
          <ac:spMkLst>
            <pc:docMk/>
            <pc:sldMk cId="0" sldId="287"/>
            <ac:spMk id="19" creationId="{00000000-0000-0000-0000-000000000000}"/>
          </ac:spMkLst>
        </pc:spChg>
        <pc:picChg chg="mod">
          <ac:chgData name="Ivan Lucas" userId="f488f667df7b9828" providerId="LiveId" clId="{7341C001-F0AF-4418-95D9-934B15DF2660}" dt="2026-08-09T03:36:53.510" v="230" actId="14100"/>
          <ac:picMkLst>
            <pc:docMk/>
            <pc:sldMk cId="0" sldId="287"/>
            <ac:picMk id="16" creationId="{00000000-0000-0000-0000-000000000000}"/>
          </ac:picMkLst>
        </pc:picChg>
      </pc:sldChg>
      <pc:sldChg chg="delSp modSp del mod">
        <pc:chgData name="Ivan Lucas" userId="f488f667df7b9828" providerId="LiveId" clId="{7341C001-F0AF-4418-95D9-934B15DF2660}" dt="2026-08-09T03:53:43.044" v="291" actId="47"/>
        <pc:sldMkLst>
          <pc:docMk/>
          <pc:sldMk cId="0" sldId="288"/>
        </pc:sldMkLst>
        <pc:spChg chg="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5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6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8" creationId="{00000000-0000-0000-0000-000000000000}"/>
          </ac:spMkLst>
        </pc:spChg>
        <pc:spChg chg="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23" creationId="{00000000-0000-0000-0000-000000000000}"/>
          </ac:spMkLst>
        </pc:spChg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8"/>
            <ac:spMk id="24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4:05.438" v="307" actId="478"/>
        <pc:sldMkLst>
          <pc:docMk/>
          <pc:sldMk cId="0" sldId="28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3.885" v="288" actId="478"/>
          <ac:spMkLst>
            <pc:docMk/>
            <pc:sldMk cId="0" sldId="289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7.351" v="289" actId="478"/>
          <ac:spMkLst>
            <pc:docMk/>
            <pc:sldMk cId="0" sldId="28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4:04:05.438" v="307" actId="478"/>
          <ac:spMkLst>
            <pc:docMk/>
            <pc:sldMk cId="0" sldId="289"/>
            <ac:spMk id="12" creationId="{00000000-0000-0000-0000-000000000000}"/>
          </ac:spMkLst>
        </pc:spChg>
        <pc:picChg chg="del">
          <ac:chgData name="Ivan Lucas" userId="f488f667df7b9828" providerId="LiveId" clId="{7341C001-F0AF-4418-95D9-934B15DF2660}" dt="2026-08-09T03:39:33.151" v="287" actId="478"/>
          <ac:picMkLst>
            <pc:docMk/>
            <pc:sldMk cId="0" sldId="289"/>
            <ac:picMk id="8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90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90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7:32.087" v="312" actId="14100"/>
          <ac:spMkLst>
            <pc:docMk/>
            <pc:sldMk cId="0" sldId="290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8:12.458" v="317" actId="20577"/>
          <ac:spMkLst>
            <pc:docMk/>
            <pc:sldMk cId="0" sldId="290"/>
            <ac:spMk id="1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2:15.445" v="310" actId="26606"/>
          <ac:spMkLst>
            <pc:docMk/>
            <pc:sldMk cId="0" sldId="290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7" creationId="{00000000-0000-0000-0000-000000000000}"/>
          </ac:spMkLst>
        </pc:spChg>
        <pc:picChg chg="mod">
          <ac:chgData name="Ivan Lucas" userId="f488f667df7b9828" providerId="LiveId" clId="{7341C001-F0AF-4418-95D9-934B15DF2660}" dt="2026-08-09T04:12:15.445" v="310" actId="26606"/>
          <ac:picMkLst>
            <pc:docMk/>
            <pc:sldMk cId="0" sldId="290"/>
            <ac:picMk id="8" creationId="{00000000-0000-0000-0000-000000000000}"/>
          </ac:picMkLst>
        </pc:picChg>
        <pc:picChg chg="mod">
          <ac:chgData name="Ivan Lucas" userId="f488f667df7b9828" providerId="LiveId" clId="{7341C001-F0AF-4418-95D9-934B15DF2660}" dt="2026-08-09T04:18:02.821" v="316"/>
          <ac:picMkLst>
            <pc:docMk/>
            <pc:sldMk cId="0" sldId="290"/>
            <ac:picMk id="13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1"/>
        </pc:sldMkLst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6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2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8" creationId="{00000000-0000-0000-0000-000000000000}"/>
          </ac:spMkLst>
        </pc:spChg>
      </pc:sldChg>
      <pc:sldChg chg="delSp modSp mod modNotes">
        <pc:chgData name="Ivan Lucas" userId="f488f667df7b9828" providerId="LiveId" clId="{7341C001-F0AF-4418-95D9-934B15DF2660}" dt="2026-08-09T04:24:04.513" v="320" actId="26606"/>
        <pc:sldMkLst>
          <pc:docMk/>
          <pc:sldMk cId="0" sldId="293"/>
        </pc:sldMkLst>
        <pc:spChg chg="mod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4.108" v="295" actId="478"/>
          <ac:spMkLst>
            <pc:docMk/>
            <pc:sldMk cId="0" sldId="293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5.861" v="296" actId="478"/>
          <ac:spMkLst>
            <pc:docMk/>
            <pc:sldMk cId="0" sldId="293"/>
            <ac:spMk id="6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8.144" v="297" actId="478"/>
          <ac:spMkLst>
            <pc:docMk/>
            <pc:sldMk cId="0" sldId="293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9.542" v="298" actId="478"/>
          <ac:spMkLst>
            <pc:docMk/>
            <pc:sldMk cId="0" sldId="293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1.579" v="299" actId="478"/>
          <ac:spMkLst>
            <pc:docMk/>
            <pc:sldMk cId="0" sldId="293"/>
            <ac:spMk id="9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4.095" v="300" actId="478"/>
          <ac:spMkLst>
            <pc:docMk/>
            <pc:sldMk cId="0" sldId="293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5.743" v="301" actId="478"/>
          <ac:spMkLst>
            <pc:docMk/>
            <pc:sldMk cId="0" sldId="293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7.395" v="302" actId="478"/>
          <ac:spMkLst>
            <pc:docMk/>
            <pc:sldMk cId="0" sldId="293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8.943" v="303" actId="478"/>
          <ac:spMkLst>
            <pc:docMk/>
            <pc:sldMk cId="0" sldId="293"/>
            <ac:spMk id="1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3"/>
            <ac:spMk id="20" creationId="{00000000-0000-0000-0000-000000000000}"/>
          </ac:spMkLst>
        </pc:spChg>
        <pc:cxnChg chg="del">
          <ac:chgData name="Ivan Lucas" userId="f488f667df7b9828" providerId="LiveId" clId="{7341C001-F0AF-4418-95D9-934B15DF2660}" dt="2026-08-09T03:57:04.227" v="305" actId="478"/>
          <ac:cxnSpMkLst>
            <pc:docMk/>
            <pc:sldMk cId="0" sldId="293"/>
            <ac:cxnSpMk id="14" creationId="{00000000-0000-0000-0000-000000000000}"/>
          </ac:cxnSpMkLst>
        </pc:cxnChg>
        <pc:cxnChg chg="del">
          <ac:chgData name="Ivan Lucas" userId="f488f667df7b9828" providerId="LiveId" clId="{7341C001-F0AF-4418-95D9-934B15DF2660}" dt="2026-08-09T03:57:03.162" v="304" actId="478"/>
          <ac:cxnSpMkLst>
            <pc:docMk/>
            <pc:sldMk cId="0" sldId="293"/>
            <ac:cxnSpMk id="15" creationId="{00000000-0000-0000-0000-000000000000}"/>
          </ac:cxnSpMkLst>
        </pc:cxn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4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4"/>
            <ac:spMk id="15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16:32.582" v="311" actId="478"/>
        <pc:sldMkLst>
          <pc:docMk/>
          <pc:sldMk cId="0" sldId="295"/>
        </pc:sldMkLst>
        <pc:spChg chg="del">
          <ac:chgData name="Ivan Lucas" userId="f488f667df7b9828" providerId="LiveId" clId="{7341C001-F0AF-4418-95D9-934B15DF2660}" dt="2026-08-09T04:16:32.582" v="311" actId="478"/>
          <ac:spMkLst>
            <pc:docMk/>
            <pc:sldMk cId="0" sldId="295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5"/>
            <ac:spMk id="14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6"/>
            <ac:spMk id="8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21:47.072" v="319" actId="27636"/>
        <pc:sldMkLst>
          <pc:docMk/>
          <pc:sldMk cId="0" sldId="297"/>
        </pc:sldMkLst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72" v="319" actId="27636"/>
          <ac:spMkLst>
            <pc:docMk/>
            <pc:sldMk cId="0" sldId="297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1802648218" sldId="298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802648218" sldId="298"/>
            <ac:spMk id="18" creationId="{1DDBF280-5E0D-28D8-E695-4F26359B160B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3109739728" sldId="29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3109739728" sldId="299"/>
            <ac:spMk id="16" creationId="{441272B4-26F8-F485-06E8-6D9A184250E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1352657124" sldId="300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352657124" sldId="300"/>
            <ac:spMk id="24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1776653694" sldId="301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776653694" sldId="301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89810962" sldId="302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89810962" sldId="302"/>
            <ac:spMk id="24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2512413668" sldId="303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2512413668" sldId="303"/>
            <ac:spMk id="11" creationId="{2600EB72-32DA-D179-46CF-AC1907A605AA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2748235476" sldId="304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2748235476" sldId="304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3919268527" sldId="305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3919268527" sldId="305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287239931" sldId="30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287239931" sldId="306"/>
            <ac:spMk id="11" creationId="{2600EB72-32DA-D179-46CF-AC1907A605AA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3619826356" sldId="307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3619826356" sldId="307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1659378389" sldId="308"/>
        </pc:sldMkLst>
        <pc:spChg chg="mod">
          <ac:chgData name="Ivan Lucas" userId="f488f667df7b9828" providerId="LiveId" clId="{7341C001-F0AF-4418-95D9-934B15DF2660}" dt="2026-08-09T02:09:16.672" v="109" actId="123"/>
          <ac:spMkLst>
            <pc:docMk/>
            <pc:sldMk cId="1659378389" sldId="308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659378389" sldId="308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3858846137" sldId="30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3858846137" sldId="309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3234483313" sldId="310"/>
        </pc:sldMkLst>
        <pc:spChg chg="mod">
          <ac:chgData name="Ivan Lucas" userId="f488f667df7b9828" providerId="LiveId" clId="{7341C001-F0AF-4418-95D9-934B15DF2660}" dt="2026-08-08T22:19:42.586" v="73" actId="26606"/>
          <ac:spMkLst>
            <pc:docMk/>
            <pc:sldMk cId="3234483313" sldId="310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9:42.586" v="73" actId="26606"/>
          <ac:spMkLst>
            <pc:docMk/>
            <pc:sldMk cId="3234483313" sldId="31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3234483313" sldId="310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03:19.820" v="306" actId="26606"/>
        <pc:sldMkLst>
          <pc:docMk/>
          <pc:sldMk cId="4274092639" sldId="311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4274092639" sldId="311"/>
            <ac:spMk id="8" creationId="{00000000-0000-0000-0000-000000000000}"/>
          </ac:spMkLst>
        </pc:spChg>
      </pc:sldChg>
      <pc:sldChg chg="modSp add mod">
        <pc:chgData name="Ivan Lucas" userId="f488f667df7b9828" providerId="LiveId" clId="{7341C001-F0AF-4418-95D9-934B15DF2660}" dt="2026-08-09T04:03:19.820" v="306" actId="26606"/>
        <pc:sldMkLst>
          <pc:docMk/>
          <pc:sldMk cId="909592759" sldId="312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909592759" sldId="312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3460524621" sldId="313"/>
        </pc:sldMkLst>
        <pc:spChg chg="mod">
          <ac:chgData name="Ivan Lucas" userId="f488f667df7b9828" providerId="LiveId" clId="{7341C001-F0AF-4418-95D9-934B15DF2660}" dt="2026-08-09T02:09:30.253" v="110" actId="123"/>
          <ac:spMkLst>
            <pc:docMk/>
            <pc:sldMk cId="3460524621" sldId="31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3460524621" sldId="313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1402039505" sldId="314"/>
        </pc:sldMkLst>
        <pc:spChg chg="mod">
          <ac:chgData name="Ivan Lucas" userId="f488f667df7b9828" providerId="LiveId" clId="{7341C001-F0AF-4418-95D9-934B15DF2660}" dt="2026-08-09T02:00:44.037" v="78" actId="113"/>
          <ac:spMkLst>
            <pc:docMk/>
            <pc:sldMk cId="1402039505" sldId="314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402039505" sldId="314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4126425208" sldId="315"/>
        </pc:sldMkLst>
        <pc:spChg chg="mod">
          <ac:chgData name="Ivan Lucas" userId="f488f667df7b9828" providerId="LiveId" clId="{7341C001-F0AF-4418-95D9-934B15DF2660}" dt="2026-08-09T02:00:38.136" v="77" actId="113"/>
          <ac:spMkLst>
            <pc:docMk/>
            <pc:sldMk cId="4126425208" sldId="315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4126425208" sldId="315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784480116" sldId="316"/>
        </pc:sldMkLst>
        <pc:spChg chg="mod">
          <ac:chgData name="Ivan Lucas" userId="f488f667df7b9828" providerId="LiveId" clId="{7341C001-F0AF-4418-95D9-934B15DF2660}" dt="2026-08-09T02:09:40.872" v="113" actId="123"/>
          <ac:spMkLst>
            <pc:docMk/>
            <pc:sldMk cId="784480116" sldId="316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784480116" sldId="316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2055122484" sldId="318"/>
        </pc:sldMkLst>
        <pc:spChg chg="mod">
          <ac:chgData name="Ivan Lucas" userId="f488f667df7b9828" providerId="LiveId" clId="{7341C001-F0AF-4418-95D9-934B15DF2660}" dt="2026-08-09T02:01:11.451" v="83" actId="255"/>
          <ac:spMkLst>
            <pc:docMk/>
            <pc:sldMk cId="2055122484" sldId="318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2055122484" sldId="318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2564367022" sldId="319"/>
        </pc:sldMkLst>
        <pc:spChg chg="mod">
          <ac:chgData name="Ivan Lucas" userId="f488f667df7b9828" providerId="LiveId" clId="{7341C001-F0AF-4418-95D9-934B15DF2660}" dt="2026-08-09T02:09:10.664" v="108" actId="123"/>
          <ac:spMkLst>
            <pc:docMk/>
            <pc:sldMk cId="2564367022" sldId="319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2564367022" sldId="319"/>
            <ac:spMk id="8" creationId="{00000000-0000-0000-0000-000000000000}"/>
          </ac:spMkLst>
        </pc:spChg>
      </pc:sldChg>
      <pc:sldChg chg="delSp modSp add mod modNotes">
        <pc:chgData name="Ivan Lucas" userId="f488f667df7b9828" providerId="LiveId" clId="{7341C001-F0AF-4418-95D9-934B15DF2660}" dt="2026-08-09T04:24:04.513" v="320" actId="26606"/>
        <pc:sldMkLst>
          <pc:docMk/>
          <pc:sldMk cId="1745590184" sldId="320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745590184" sldId="32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4:05.629" v="168" actId="14100"/>
          <ac:spMkLst>
            <pc:docMk/>
            <pc:sldMk cId="1745590184" sldId="320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4:23.005" v="173" actId="255"/>
          <ac:spMkLst>
            <pc:docMk/>
            <pc:sldMk cId="1745590184" sldId="320"/>
            <ac:spMk id="14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4:27.677" v="174" actId="255"/>
          <ac:spMkLst>
            <pc:docMk/>
            <pc:sldMk cId="1745590184" sldId="320"/>
            <ac:spMk id="15" creationId="{00000000-0000-0000-0000-000000000000}"/>
          </ac:spMkLst>
        </pc:spChg>
        <pc:spChg chg="del">
          <ac:chgData name="Ivan Lucas" userId="f488f667df7b9828" providerId="LiveId" clId="{7341C001-F0AF-4418-95D9-934B15DF2660}" dt="2026-08-09T02:33:55.742" v="167" actId="478"/>
          <ac:spMkLst>
            <pc:docMk/>
            <pc:sldMk cId="1745590184" sldId="320"/>
            <ac:spMk id="17" creationId="{00000000-0000-0000-0000-000000000000}"/>
          </ac:spMkLst>
        </pc:spChg>
        <pc:picChg chg="mod">
          <ac:chgData name="Ivan Lucas" userId="f488f667df7b9828" providerId="LiveId" clId="{7341C001-F0AF-4418-95D9-934B15DF2660}" dt="2026-08-09T02:34:11.383" v="170" actId="14100"/>
          <ac:picMkLst>
            <pc:docMk/>
            <pc:sldMk cId="1745590184" sldId="320"/>
            <ac:picMk id="13" creationId="{00000000-0000-0000-0000-000000000000}"/>
          </ac:picMkLst>
        </pc:pic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2651375936" sldId="321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2651375936" sldId="321"/>
            <ac:spMk id="8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6:10.233" v="321" actId="26606"/>
        <pc:sldMkLst>
          <pc:docMk/>
          <pc:sldMk cId="2508572017" sldId="322"/>
        </pc:sldMkLst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2508572017" sldId="32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2508572017" sldId="322"/>
            <ac:spMk id="11" creationId="{00000000-0000-0000-0000-000000000000}"/>
          </ac:spMkLst>
        </pc:spChg>
      </pc:sldChg>
      <pc:sldChg chg="modSp add mod modNotes">
        <pc:chgData name="Ivan Lucas" userId="f488f667df7b9828" providerId="LiveId" clId="{7341C001-F0AF-4418-95D9-934B15DF2660}" dt="2026-08-09T04:24:04.513" v="320" actId="26606"/>
        <pc:sldMkLst>
          <pc:docMk/>
          <pc:sldMk cId="1322622835" sldId="323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322622835" sldId="323"/>
            <ac:spMk id="12" creationId="{00000000-0000-0000-0000-000000000000}"/>
          </ac:spMkLst>
        </pc:spChg>
      </pc:sldChg>
      <pc:sldChg chg="modSp add mod">
        <pc:chgData name="Ivan Lucas" userId="f488f667df7b9828" providerId="LiveId" clId="{7341C001-F0AF-4418-95D9-934B15DF2660}" dt="2026-08-09T04:03:19.820" v="306" actId="26606"/>
        <pc:sldMkLst>
          <pc:docMk/>
          <pc:sldMk cId="1443884006" sldId="324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1443884006" sldId="324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2D-732C-4A6F-A165-9F9F2A837CF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1387E-BDC5-4E5A-BF5D-EFF9FD58FC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55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abrir a aula e criar conexão com a turma (2-3 min).</a:t>
            </a:r>
          </a:p>
          <a:p>
            <a:r>
              <a:rPr lang="pt-BR"/>
              <a:t>O que falar: "Bem-vindos à Semana 1 do App Clicks. Sou o prof. Ivan Lucas e junto comigo o prof. Claudio. Nesta semana vocês vão sair daqui entendendo como uma ideia vira um aplicativo de verdade."</a:t>
            </a:r>
          </a:p>
          <a:p>
            <a:r>
              <a:rPr lang="pt-BR"/>
              <a:t>Reforce: não é preciso saber programar para acompanhar o curso.</a:t>
            </a:r>
          </a:p>
          <a:p>
            <a:r>
              <a:rPr lang="pt-BR"/>
              <a:t>Pergunta para quebrar o gelo: "Quem aqui já teve uma ideia de app? Guardem essa ideia, vamos usá-la durante a semana."</a:t>
            </a:r>
          </a:p>
          <a:p>
            <a:r>
              <a:rPr lang="pt-BR"/>
              <a:t>Dica: fale devagar nesse slide, é o momento em que a turma calibra o seu ritmo.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dar o mapa da semana para ninguém se perder (2 min).</a:t>
            </a:r>
          </a:p>
          <a:p>
            <a:r>
              <a:rPr lang="pt-BR"/>
              <a:t>O que falar: percorra os três cartões em voz alta, um por vez: Dia 1 é mercado e primeiro contato com a ferramenta; Dia 2 é conversar com o cliente e registrar o que ele pede; Dia 3 é desenhar a tela e conhecer o no-code.</a:t>
            </a:r>
          </a:p>
          <a:p>
            <a:r>
              <a:rPr lang="pt-BR"/>
              <a:t>Frase útil: "Cada dia entrega uma peça. No fim da semana vocês têm o ciclo completo."</a:t>
            </a:r>
          </a:p>
          <a:p>
            <a:r>
              <a:rPr lang="pt-BR"/>
              <a:t>Dica: avise que a instalação do AppSheet acontece ainda no Dia 1, para quem quiser já deixar o celular à mão.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66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contratar com a turma o que será aprendido (2 min).</a:t>
            </a:r>
          </a:p>
          <a:p>
            <a:r>
              <a:rPr lang="pt-BR"/>
              <a:t>O que falar: leia os objetivos de forma corrida, sem detalhar - eles serão detalhados ao longo da semana.</a:t>
            </a:r>
          </a:p>
          <a:p>
            <a:r>
              <a:rPr lang="pt-BR"/>
              <a:t>Destaque dois: "compreender a importância do contato com clientes" e "criar um aplicativo básico no AppSheet" - são o coração da semana.</a:t>
            </a:r>
          </a:p>
          <a:p>
            <a:r>
              <a:rPr lang="pt-BR"/>
              <a:t>Pergunta: "Qual desses objetivos é o que mais interessa a vocês?" Anote as respostas, elas ajudam a calibrar os exemplos.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definir empreendedorismo digital com exemplos concretos (4 min).</a:t>
            </a:r>
          </a:p>
          <a:p>
            <a:r>
              <a:rPr lang="pt-BR" dirty="0"/>
              <a:t>O que falar: comece pela definição - criar, gerenciar e expandir um negócio usando a internet. Depois marque a diferença para o modelo tradicional: a operação é digital, exige mentalidade inovadora e o mercado muda o tempo todo.</a:t>
            </a:r>
          </a:p>
          <a:p>
            <a:r>
              <a:rPr lang="pt-BR" dirty="0"/>
              <a:t>Use os exemplos da tela: Uber, Netflix, Shopify, Instagram. Pergunte quais deles a turma usa hoje.</a:t>
            </a:r>
          </a:p>
          <a:p>
            <a:r>
              <a:rPr lang="pt-BR" dirty="0"/>
              <a:t>Frase de fechamento: "Todos esses começaram resolvendo um problema simples de alguém."</a:t>
            </a:r>
          </a:p>
          <a:p>
            <a:r>
              <a:rPr lang="pt-BR" dirty="0"/>
              <a:t>Cuidado: não se alongue em histórias de empresas, o foco é o conceito.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72F4-43E5-0B6B-40A9-6484D2844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1B0A47-3FEF-72EF-2F8C-F9E9FABE4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5F1880-CC1A-C1C0-27FA-E740CEA06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o tamanho da oportunidade com números (4 min).</a:t>
            </a:r>
          </a:p>
          <a:p>
            <a:r>
              <a:rPr lang="pt-BR" dirty="0"/>
              <a:t>O que falar: 6 bilhões de smartphones no mundo significa um potencial de clientes imenso. Em contrapartida, a concorrência é grande - por isso o app precisa resolver algo de verdade.</a:t>
            </a:r>
          </a:p>
          <a:p>
            <a:r>
              <a:rPr lang="pt-BR" dirty="0"/>
              <a:t>Sobre receita: estima-se ultrapassar 750 bilhões de dólares até 2027, vindos de downloads, compras dentro do app, assinaturas e publicidade.</a:t>
            </a:r>
          </a:p>
          <a:p>
            <a:r>
              <a:rPr lang="pt-BR" dirty="0"/>
              <a:t>Pergunta: "Quantos apps vocês têm no celular? E quantos usam de verdade toda semana?" Isso ilustra a concorrência melhor que qualquer número.</a:t>
            </a:r>
          </a:p>
          <a:p>
            <a:r>
              <a:rPr lang="pt-BR" dirty="0"/>
              <a:t>Cite a fonte: material didático da disciplina.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8BD807-4196-8AF7-6A4A-5B07CEBDD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206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explicar como um app ganha dinheiro (5 min).</a:t>
            </a:r>
          </a:p>
          <a:p>
            <a:r>
              <a:rPr lang="pt-BR" dirty="0"/>
              <a:t>O que falar: percorra os cinco modelos - pagos, freemium, assinaturas, publicidade e compras dentro do app.</a:t>
            </a:r>
          </a:p>
          <a:p>
            <a:r>
              <a:rPr lang="pt-BR" dirty="0"/>
              <a:t>Destaque o freemium como o mais comum e use Duolingo e Spotify, que a turma conhece.</a:t>
            </a:r>
          </a:p>
          <a:p>
            <a:r>
              <a:rPr lang="pt-BR" dirty="0"/>
              <a:t>Pergunta: "Qual modelo vocês acham que funcionaria para um app de agendamento de serviços?" Deixe a turma discutir por 1 minuto.</a:t>
            </a:r>
          </a:p>
          <a:p>
            <a:r>
              <a:rPr lang="pt-BR" dirty="0"/>
              <a:t>Dica: modelos podem ser combinados, isso costuma gerar dúvida.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para onde o mercado está indo (3 min).</a:t>
            </a:r>
          </a:p>
          <a:p>
            <a:r>
              <a:rPr lang="pt-BR" dirty="0"/>
              <a:t>O que falar: comente as cinco tendências em ritmo rápido - IA integrada, produtividade e bem-estar, jogos mobile, super apps e no-code.</a:t>
            </a:r>
          </a:p>
          <a:p>
            <a:r>
              <a:rPr lang="pt-BR" dirty="0"/>
              <a:t>Explique super app com o exemplo do WeChat: mensagem, pagamento, delivery e banco no mesmo lugar.</a:t>
            </a:r>
          </a:p>
          <a:p>
            <a:r>
              <a:rPr lang="pt-BR" dirty="0"/>
              <a:t>Amarração importante: "O último item, no-code, é exatamente o que vocês vão usar neste curso."</a:t>
            </a:r>
          </a:p>
          <a:p>
            <a:r>
              <a:rPr lang="pt-BR" dirty="0"/>
              <a:t>Cuidado com o tempo: é um slide de panorama, não de aprofundamento.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9D58-D925-B314-2803-A0653F7C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E8371D-491C-4BF3-5D29-B1F10240D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8943A0-17F3-94A5-BFD9-BDA3458FF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ajudar cada aluno a enxergar uma oportunidade própria (4 min).</a:t>
            </a:r>
          </a:p>
          <a:p>
            <a:r>
              <a:rPr lang="pt-BR" dirty="0"/>
              <a:t>O que falar: apresente as quatro frentes - nichos locais, soluções para pequenos negócios, educação e automação de tarefas do dia a dia.</a:t>
            </a:r>
          </a:p>
          <a:p>
            <a:r>
              <a:rPr lang="pt-BR" dirty="0"/>
              <a:t>Use o exemplo local (app para o setor de pescado) para mostrar que oportunidade não é só app global.</a:t>
            </a:r>
          </a:p>
          <a:p>
            <a:r>
              <a:rPr lang="pt-BR" dirty="0"/>
              <a:t>Mensagem-chave, diga com ênfase: "Escolha um nicho que você já conhece. Conhecimento do problema vale mais que ideia genial."</a:t>
            </a:r>
          </a:p>
          <a:p>
            <a:r>
              <a:rPr lang="pt-BR" dirty="0"/>
              <a:t>Atividade rápida: peça para cada um anotar um nicho que domina.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422094-5BA0-A9F3-36AF-6D022D48E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381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desfazer o mito de que a ideia é tudo (4 min).</a:t>
            </a:r>
          </a:p>
          <a:p>
            <a:r>
              <a:rPr lang="pt-BR" dirty="0"/>
              <a:t>O que falar: a ideia importa, mas o diferencial está em entender o problema do cliente, entregar boa experiência de uso, saber divulgar e saber monetizar.</a:t>
            </a:r>
          </a:p>
          <a:p>
            <a:r>
              <a:rPr lang="pt-BR" dirty="0"/>
              <a:t>Apresente a proporção da tela: 10% ideia, 40% execução, 50% marketing e monetização.</a:t>
            </a:r>
          </a:p>
          <a:p>
            <a:r>
              <a:rPr lang="pt-BR" dirty="0"/>
              <a:t>Pergunta provocativa: "Quem aqui já viu um app ótimo que ninguém usa? Por que isso acontece?"</a:t>
            </a:r>
          </a:p>
          <a:p>
            <a:r>
              <a:rPr lang="pt-BR" dirty="0"/>
              <a:t>Frase para fixar: "Ideia não executada não vira negócio."</a:t>
            </a:r>
          </a:p>
          <a:p>
            <a:r>
              <a:rPr lang="pt-BR" dirty="0"/>
              <a:t>Este é um dos slides mais importantes do Dia 1.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apoio real e gratuito a quem quer empreender (3 min).</a:t>
            </a:r>
          </a:p>
          <a:p>
            <a:r>
              <a:rPr lang="pt-BR" dirty="0"/>
              <a:t>O que falar: o SEBRAE apoia micro e pequenas empresas com consultoria, cursos, ajuda no planejamento financeiro, rede de contatos e acesso a editais.</a:t>
            </a:r>
          </a:p>
          <a:p>
            <a:r>
              <a:rPr lang="pt-BR" dirty="0"/>
              <a:t>Recomendação direta: "Se você pretende empreender, procure o SEBRAE antes de gastar dinheiro."</a:t>
            </a:r>
          </a:p>
          <a:p>
            <a:r>
              <a:rPr lang="pt-BR" dirty="0"/>
              <a:t>Deixe o site visível na tela por alguns segundos para quem quiser anotar.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9D58-D925-B314-2803-A0653F7C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E8371D-491C-4BF3-5D29-B1F10240D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8943A0-17F3-94A5-BFD9-BDA3458FF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</a:t>
            </a:r>
            <a:r>
              <a:rPr lang="pt-BR"/>
              <a:t>mostrar que identificar oportunidades no mercado de software é </a:t>
            </a:r>
            <a:r>
              <a:rPr lang="pt-BR" dirty="0"/>
              <a:t>uma </a:t>
            </a:r>
            <a:r>
              <a:rPr lang="pt-BR"/>
              <a:t>combinação de fatores </a:t>
            </a:r>
            <a:r>
              <a:rPr lang="pt-BR" dirty="0"/>
              <a:t>(4 min).</a:t>
            </a:r>
          </a:p>
          <a:p>
            <a:r>
              <a:rPr lang="pt-BR" dirty="0"/>
              <a:t>O que falar: </a:t>
            </a:r>
            <a:r>
              <a:rPr lang="pt-BR"/>
              <a:t>percorra os </a:t>
            </a:r>
            <a:r>
              <a:rPr lang="pt-BR" dirty="0"/>
              <a:t>quatro </a:t>
            </a:r>
            <a:r>
              <a:rPr lang="pt-BR"/>
              <a:t>cards </a:t>
            </a:r>
            <a:r>
              <a:rPr lang="pt-BR" dirty="0"/>
              <a:t>- </a:t>
            </a:r>
            <a:r>
              <a:rPr lang="pt-BR"/>
              <a:t>observação estratégica (mercado, concorrentes e novas tecnologias), escuta ativa (entrevistas</a:t>
            </a:r>
            <a:r>
              <a:rPr lang="pt-BR" dirty="0"/>
              <a:t>, </a:t>
            </a:r>
            <a:r>
              <a:rPr lang="pt-BR"/>
              <a:t>fóruns e redes sociais), análise de dados (demanda</a:t>
            </a:r>
            <a:r>
              <a:rPr lang="pt-BR" dirty="0"/>
              <a:t>, </a:t>
            </a:r>
            <a:r>
              <a:rPr lang="pt-BR"/>
              <a:t>tendências e comportamento de uso) </a:t>
            </a:r>
            <a:r>
              <a:rPr lang="pt-BR" dirty="0"/>
              <a:t>e </a:t>
            </a:r>
            <a:r>
              <a:rPr lang="pt-BR"/>
              <a:t>senso </a:t>
            </a:r>
            <a:r>
              <a:rPr lang="pt-BR" dirty="0"/>
              <a:t>de </a:t>
            </a:r>
            <a:r>
              <a:rPr lang="pt-BR"/>
              <a:t>timing </a:t>
            </a:r>
            <a:r>
              <a:rPr lang="pt-BR" dirty="0"/>
              <a:t>(o </a:t>
            </a:r>
            <a:r>
              <a:rPr lang="pt-BR"/>
              <a:t>momento certo </a:t>
            </a:r>
            <a:r>
              <a:rPr lang="pt-BR" dirty="0"/>
              <a:t>de </a:t>
            </a:r>
            <a:r>
              <a:rPr lang="pt-BR"/>
              <a:t>lançar).</a:t>
            </a:r>
          </a:p>
          <a:p>
            <a:r>
              <a:rPr lang="pt-BR"/>
              <a:t>Reforçe </a:t>
            </a:r>
            <a:r>
              <a:rPr lang="pt-BR" dirty="0"/>
              <a:t>que </a:t>
            </a:r>
            <a:r>
              <a:rPr lang="pt-BR"/>
              <a:t>os quatro fatores andam juntos: sozinha, nenhuma das frentes sustenta uma boa </a:t>
            </a:r>
            <a:r>
              <a:rPr lang="pt-BR" dirty="0"/>
              <a:t>oportunidade.</a:t>
            </a:r>
          </a:p>
          <a:p>
            <a:r>
              <a:rPr lang="pt-BR" dirty="0"/>
              <a:t>Mensagem-chave, diga com ênfase: "</a:t>
            </a:r>
            <a:r>
              <a:rPr lang="pt-BR"/>
              <a:t>Oportunidade se percebe observando e escutando, não esperando a </a:t>
            </a:r>
            <a:r>
              <a:rPr lang="pt-BR" dirty="0"/>
              <a:t>ideia genial</a:t>
            </a:r>
            <a:r>
              <a:rPr lang="pt-BR"/>
              <a:t> aparecer</a:t>
            </a:r>
            <a:r>
              <a:rPr lang="pt-BR" dirty="0"/>
              <a:t>."</a:t>
            </a:r>
          </a:p>
          <a:p>
            <a:r>
              <a:rPr lang="pt-BR" dirty="0"/>
              <a:t>Atividade rápida: peça </a:t>
            </a:r>
            <a:r>
              <a:rPr lang="pt-BR"/>
              <a:t>que </a:t>
            </a:r>
            <a:r>
              <a:rPr lang="pt-BR" dirty="0"/>
              <a:t>cada </a:t>
            </a:r>
            <a:r>
              <a:rPr lang="pt-BR"/>
              <a:t>aluno escolha </a:t>
            </a:r>
            <a:r>
              <a:rPr lang="pt-BR" dirty="0"/>
              <a:t>um </a:t>
            </a:r>
            <a:r>
              <a:rPr lang="pt-BR"/>
              <a:t>dos quatro fatores e cite algo </a:t>
            </a:r>
            <a:r>
              <a:rPr lang="pt-BR" dirty="0"/>
              <a:t>que </a:t>
            </a:r>
            <a:r>
              <a:rPr lang="pt-BR"/>
              <a:t>já observou usando ele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422094-5BA0-A9F3-36AF-6D022D48E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381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apresentar três caminhos práticos para encontrar oportunidades (5 min).</a:t>
            </a:r>
          </a:p>
          <a:p>
            <a:r>
              <a:rPr lang="pt-BR"/>
              <a:t>O que falar: percorra as três colunas - problemas não resolvidos, tendências de mercado e tecnologia, e a própria experiência pessoal.</a:t>
            </a:r>
          </a:p>
          <a:p>
            <a:r>
              <a:rPr lang="pt-BR"/>
              <a:t>Destaques: "se muita gente reclama da mesma coisa, pode haver oportunidade"; mudanças como LGPD e GDPR criam demanda; o trabalho remoto impulsionou Zoom, Meet e Notion.</a:t>
            </a:r>
          </a:p>
          <a:p>
            <a:r>
              <a:rPr lang="pt-BR"/>
              <a:t>Use o Slack como exemplo: nasceu da equipe da Tiny Speck tentando se comunicar melhor - alguém resolvendo o próprio problema.</a:t>
            </a:r>
          </a:p>
          <a:p>
            <a:r>
              <a:rPr lang="pt-BR"/>
              <a:t>Atividade rápida: peça que cada aluno anote um problema que vive ou observa e que poderia virar um aplicativo.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definir o que é um modelo de negócios (4 min).</a:t>
            </a:r>
          </a:p>
          <a:p>
            <a:r>
              <a:rPr lang="pt-BR"/>
              <a:t>O que falar: modelo de negócios é a forma como uma empresa cria, entrega e captura valor - como ela funciona, ganha dinheiro e se sustenta no mercado.</a:t>
            </a:r>
          </a:p>
          <a:p>
            <a:r>
              <a:rPr lang="pt-BR"/>
              <a:t>Leia as perguntas do slide em ritmo de checklist: quem são os clientes, qual problema a empresa resolve, como entrega a solução, como gera receita, quais são custos e canais, e quais recursos e parceiros são necessários.</a:t>
            </a:r>
          </a:p>
          <a:p>
            <a:r>
              <a:rPr lang="pt-BR"/>
              <a:t>Avise que essas perguntas serão aplicadas no exemplo do próximo slide - peça que mantenham a lista em mente.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aplicar o modelo de negócios a um caso conhecido, o app de delivery (5 min).</a:t>
            </a:r>
          </a:p>
          <a:p>
            <a:r>
              <a:rPr lang="pt-BR"/>
              <a:t>O que falar: percorra os cinco blocos - clientes, valor oferecido, canais, fontes de receita e recursos-chave.</a:t>
            </a:r>
          </a:p>
          <a:p>
            <a:r>
              <a:rPr lang="pt-BR"/>
              <a:t>Destaque que há dois públicos ao mesmo tempo: quem pede comida ganha comodidade e o restaurante ganha visibilidade e vendas.</a:t>
            </a:r>
          </a:p>
          <a:p>
            <a:r>
              <a:rPr lang="pt-BR"/>
              <a:t>Mostre a receita vindo de três fontes - taxas dos restaurantes, frete e anúncios - e os recursos-chave: tecnologia, base de usuários e parcerias com restaurantes e entregadores.</a:t>
            </a:r>
          </a:p>
          <a:p>
            <a:r>
              <a:rPr lang="pt-BR"/>
              <a:t>Atividade rápida: peça que a turma preencha os mesmos cinco blocos para um app de agendamento de serviços.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apresentar a ferramenta central do curso (4 min).</a:t>
            </a:r>
          </a:p>
          <a:p>
            <a:r>
              <a:rPr lang="pt-BR" dirty="0"/>
              <a:t>O que falar: o AppSheet é a plataforma no-code do Google. A criação é visual, arrastando e soltando, sem programação tradicional, funciona em Android e iOS e integra com Google Sheets, Firebase e APIs.</a:t>
            </a:r>
          </a:p>
          <a:p>
            <a:r>
              <a:rPr lang="pt-BR" dirty="0"/>
              <a:t>Ponto de credibilidade: é uma ferramenta do Google, não um experimento.</a:t>
            </a:r>
          </a:p>
          <a:p>
            <a:r>
              <a:rPr lang="pt-BR" dirty="0"/>
              <a:t>Amarração: "O Atende+, que vamos explorar daqui a pouco, foi construído exatamente com essa ferramenta."</a:t>
            </a:r>
          </a:p>
          <a:p>
            <a:r>
              <a:rPr lang="pt-BR" dirty="0"/>
              <a:t>Se houver dúvida sobre "sem código", explique que a lógica existe, mas é configurada visualmente.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apresentar os quatro planos do AppSheet e o que cada um define (4 min).</a:t>
            </a:r>
          </a:p>
          <a:p>
            <a:r>
              <a:rPr lang="pt-BR"/>
              <a:t>O que falar: a escolha do plano define três coisas - como o usuário acessa, onde ficam os dados e o que o app consegue fazer.</a:t>
            </a:r>
          </a:p>
          <a:p>
            <a:r>
              <a:rPr lang="pt-BR"/>
              <a:t>Percorra os quatro planos em ritmo rápido: Starter (acesso individual com login, dados em planilhas), Publisher Pro (app público, sem login, para muitos usuários), Core (padrão para sistemas comerciais, com permissões e automações) e Enterprise Plus (escala, bancos relacionais e integrações complexas).</a:t>
            </a:r>
          </a:p>
          <a:p>
            <a:r>
              <a:rPr lang="pt-BR"/>
              <a:t>Avise que cada plano será detalhado nos próximos slides - aqui é só o panorama.</a:t>
            </a:r>
          </a:p>
          <a:p>
            <a:r>
              <a:rPr lang="pt-BR"/>
              <a:t>Dica: peça que já pensem qual plano combinaria com o projeto que imaginam.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detalhar o plano Starter (3 min).</a:t>
            </a:r>
          </a:p>
          <a:p>
            <a:r>
              <a:rPr lang="pt-BR"/>
              <a:t>O que falar: a regra é cobrança por usuário, e cada pessoa faz login com o próprio e-mail. O banco de dados fica limitado a planilhas, como o Google Sheets.</a:t>
            </a:r>
          </a:p>
          <a:p>
            <a:r>
              <a:rPr lang="pt-BR"/>
              <a:t>Que tipo de aplicação fazer: apps internos simples para equipes pequenas - controle de estoque de filamentos e peças de impressora 3D, registro de presença e horas de estagiários.</a:t>
            </a:r>
          </a:p>
          <a:p>
            <a:r>
              <a:rPr lang="pt-BR"/>
              <a:t>Ponto-chave: como cada pessoa entra com a própria conta, o sistema sabe quem fez o quê.</a:t>
            </a:r>
          </a:p>
          <a:p>
            <a:r>
              <a:rPr lang="pt-BR"/>
              <a:t>Pergunta: “Quais rotinas do dia a dia de vocês caberiam num app assim?”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detalhar o plano Publisher Pro (3 min).</a:t>
            </a:r>
          </a:p>
          <a:p>
            <a:r>
              <a:rPr lang="pt-BR"/>
              <a:t>O que falar: a regra é valor fixo pelo aplicativo, atendendo milhares de usuários sem custo adicional, e não existe tela de login. O banco continua sendo o Google Sheets, com todos acessando a mesma base.</a:t>
            </a:r>
          </a:p>
          <a:p>
            <a:r>
              <a:rPr lang="pt-BR"/>
              <a:t>Que tipo de aplicação fazer: apps sem dados sensíveis, em que a privacidade não é exigida - guia para visitantes de uma feira, catálogo público de componentes, formulário de ouvidoria anônimo.</a:t>
            </a:r>
          </a:p>
          <a:p>
            <a:r>
              <a:rPr lang="pt-BR"/>
              <a:t>Alerta importante: sem login não há como saber quem fez cada registro; nunca use este plano para dados pessoais ou financeiros.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detalhar o plano Core (4 min).</a:t>
            </a:r>
          </a:p>
          <a:p>
            <a:r>
              <a:rPr lang="pt-BR"/>
              <a:t>O que falar: é o padrão para a maioria das empresas e sistemas B2B, e já vem incluído nas assinaturas corporativas do Google Workspace. A cobrança é por usuário logado, ou sem custo extra para quem já tem o Workspace. As planilhas seguem como banco, mas com automações nativas bem mais complexas.</a:t>
            </a:r>
          </a:p>
          <a:p>
            <a:r>
              <a:rPr lang="pt-BR"/>
              <a:t>Que tipo de aplicação fazer: apps comerciais robustos e seguros, como o próprio Atende+ - gestão de clientes, envio automático de e-mails, leitura de código de barras ou QR Code pelo celular.</a:t>
            </a:r>
          </a:p>
          <a:p>
            <a:r>
              <a:rPr lang="pt-BR"/>
              <a:t>Destaque as permissões por perfil: o funcionário não vê o faturamento que só o gerente acessa.</a:t>
            </a:r>
          </a:p>
          <a:p>
            <a:r>
              <a:rPr lang="pt-BR"/>
              <a:t>Amarração: é o plano que sustenta o app usado como exemplo no curso.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detalhar o plano Enterprise Plus (3 min).</a:t>
            </a:r>
          </a:p>
          <a:p>
            <a:r>
              <a:rPr lang="pt-BR"/>
              <a:t>O que falar: é o plano de alta performance, para operações que exigem escala de dados e integrações complexas. A cobrança é por usuário e destrava todo o potencial técnico da plataforma.</a:t>
            </a:r>
          </a:p>
          <a:p>
            <a:r>
              <a:rPr lang="pt-BR"/>
              <a:t>Sobre o banco de dados: aqui é possível deixar o Google Sheets e conectar bancos relacionais em nuvem, como Supabase ou servidores SQL dedicados.</a:t>
            </a:r>
          </a:p>
          <a:p>
            <a:r>
              <a:rPr lang="pt-BR"/>
              <a:t>Que tipo de aplicação fazer: sistemas empresariais de larga escala, registro em campo disparando webhooks para ferramentas como o n8n, fluxos com APIs de inteligência artificial e processos para licitações e leilões eletrônicos.</a:t>
            </a:r>
          </a:p>
          <a:p>
            <a:r>
              <a:rPr lang="pt-BR"/>
              <a:t>Mensagem de fechamento: neste plano o AppSheet deixa de ser uma tela para planilhas e vira parte de uma arquitetura corporativa.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instalar o AppSheet com todos juntos (5 min de prática).</a:t>
            </a:r>
          </a:p>
          <a:p>
            <a:r>
              <a:rPr lang="pt-BR" dirty="0"/>
              <a:t>O que falar: peça que peguem o celular agora. Android vai na Play Store, iOS na App Store, buscam por "Google AppSheet" e instalam.</a:t>
            </a:r>
          </a:p>
          <a:p>
            <a:r>
              <a:rPr lang="pt-BR" dirty="0"/>
              <a:t>Conduza em voz alta, passo a passo, e espere a turma acompanhar.</a:t>
            </a:r>
          </a:p>
          <a:p>
            <a:r>
              <a:rPr lang="pt-BR" dirty="0"/>
              <a:t>Diga: "Levante a mão quem travou em algum passo." Circule pela sala.</a:t>
            </a:r>
          </a:p>
          <a:p>
            <a:r>
              <a:rPr lang="pt-BR" dirty="0"/>
              <a:t>Dica de professor iniciante: não avance enquanto houver mãos levantadas - instalação incompleta atrapalha todo o resto do dia.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garantir que todos consigam entrar na conta (5 min de prática).</a:t>
            </a:r>
          </a:p>
          <a:p>
            <a:r>
              <a:rPr lang="pt-BR" dirty="0"/>
              <a:t>O que falar: a opção mais rápida é entrar com a conta Google já existente no celular. Quem não tiver, cria uma conta com e-mail e senha e confirma o e-mail, o que pode levar um ou dois minutos.</a:t>
            </a:r>
          </a:p>
          <a:p>
            <a:r>
              <a:rPr lang="pt-BR" dirty="0"/>
              <a:t>Reforce: anotem a senha em local seguro, vamos usar essa conta o curso inteiro.</a:t>
            </a:r>
          </a:p>
          <a:p>
            <a:r>
              <a:rPr lang="pt-BR" dirty="0"/>
              <a:t>Enquanto a turma confirma o e-mail, aproveite para atender quem ficou para trás na instalação.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</a:t>
            </a:r>
            <a:r>
              <a:rPr lang="pt-BR"/>
              <a:t>apresentar </a:t>
            </a:r>
            <a:r>
              <a:rPr lang="pt-BR" dirty="0"/>
              <a:t>o </a:t>
            </a:r>
            <a:r>
              <a:rPr lang="pt-BR"/>
              <a:t>Atende+ como exemplo real de aplicativo criado sem programação </a:t>
            </a:r>
            <a:r>
              <a:rPr lang="pt-BR" dirty="0"/>
              <a:t>(</a:t>
            </a:r>
            <a:r>
              <a:rPr lang="pt-BR"/>
              <a:t>4 </a:t>
            </a:r>
            <a:r>
              <a:rPr lang="pt-BR" dirty="0"/>
              <a:t>min).</a:t>
            </a:r>
          </a:p>
          <a:p>
            <a:r>
              <a:rPr lang="pt-BR"/>
              <a:t>Contexto</a:t>
            </a:r>
            <a:r>
              <a:rPr lang="pt-BR" dirty="0"/>
              <a:t>: </a:t>
            </a:r>
            <a:r>
              <a:rPr lang="pt-BR"/>
              <a:t>o modelo foi desenvolvido pelo IFCE - Campus Fortaleza, dentro do projeto Pronatec Empreender, com foco na organização </a:t>
            </a:r>
            <a:r>
              <a:rPr lang="pt-BR" dirty="0"/>
              <a:t>de </a:t>
            </a:r>
            <a:r>
              <a:rPr lang="pt-BR"/>
              <a:t>atendimentos</a:t>
            </a:r>
            <a:r>
              <a:rPr lang="pt-BR" dirty="0"/>
              <a:t>, </a:t>
            </a:r>
            <a:r>
              <a:rPr lang="pt-BR"/>
              <a:t>agendamentos e gestão de serviços</a:t>
            </a:r>
            <a:r>
              <a:rPr lang="pt-BR" dirty="0"/>
              <a:t>.</a:t>
            </a:r>
          </a:p>
          <a:p>
            <a:r>
              <a:rPr lang="pt-BR" dirty="0"/>
              <a:t>Destaque </a:t>
            </a:r>
            <a:r>
              <a:rPr lang="pt-BR"/>
              <a:t>as quatro entregas do app</a:t>
            </a:r>
            <a:r>
              <a:rPr lang="pt-BR" dirty="0"/>
              <a:t>: </a:t>
            </a:r>
            <a:r>
              <a:rPr lang="pt-BR"/>
              <a:t>agendamento de atendimentos, controle de pagamentos, notificações automatizadas </a:t>
            </a:r>
            <a:r>
              <a:rPr lang="pt-BR" dirty="0"/>
              <a:t>e </a:t>
            </a:r>
            <a:r>
              <a:rPr lang="pt-BR"/>
              <a:t>integração com ferramentas como </a:t>
            </a:r>
            <a:r>
              <a:rPr lang="pt-BR" dirty="0"/>
              <a:t>o </a:t>
            </a:r>
            <a:r>
              <a:rPr lang="pt-BR"/>
              <a:t>WhatsApp - juntas, elas trazem mais organização e eficiência na relação entre prestador e cliente</a:t>
            </a:r>
            <a:r>
              <a:rPr lang="pt-BR" dirty="0"/>
              <a:t>.</a:t>
            </a:r>
          </a:p>
          <a:p>
            <a:r>
              <a:rPr lang="pt-BR"/>
              <a:t>Mensagem-chave: é inovação tecnológica aplicada ao empreendedorismo. Pergunte</a:t>
            </a:r>
            <a:r>
              <a:rPr lang="pt-BR" dirty="0"/>
              <a:t>: "Qual </a:t>
            </a:r>
            <a:r>
              <a:rPr lang="pt-BR"/>
              <a:t>serviço </a:t>
            </a:r>
            <a:r>
              <a:rPr lang="pt-BR" dirty="0"/>
              <a:t>que vocês</a:t>
            </a:r>
            <a:r>
              <a:rPr lang="pt-BR"/>
              <a:t> conhecem ganharia com um app assim</a:t>
            </a:r>
            <a:r>
              <a:rPr lang="pt-BR" dirty="0"/>
              <a:t>?"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9D58-D925-B314-2803-A0653F7C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E8371D-491C-4BF3-5D29-B1F10240D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8943A0-17F3-94A5-BFD9-BDA3458FF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detalhar os quatro recursos principais do Atende+ (4 min).</a:t>
            </a:r>
          </a:p>
          <a:p>
            <a:r>
              <a:rPr lang="pt-BR"/>
              <a:t>O que falar: percorra os cards na ordem - agendamento (dia, horário, serviço e local combinados com o cliente), controle de pagamentos (valores e situação de cada atendimento), notificações (avisos automáticos para prestador e cliente) e integração (conexão com ferramentas do dia a dia, como o WhatsApp).</a:t>
            </a:r>
          </a:p>
          <a:p>
            <a:r>
              <a:rPr lang="pt-BR"/>
              <a:t>Relacione cada recurso a uma dor concreta: agenda bagunçada, pagamento esquecido, cliente que não comparece e conversa perdida no WhatsApp.</a:t>
            </a:r>
          </a:p>
          <a:p>
            <a:r>
              <a:rPr lang="pt-BR"/>
              <a:t>Mensagem-chave: são recursos simples, mas que resolvem a rotina inteira de um prestador de serviços.</a:t>
            </a:r>
          </a:p>
          <a:p>
            <a:r>
              <a:rPr lang="pt-BR"/>
              <a:t>Atividade rápida: peça que cada aluno indique qual dos quatro recursos seria mais útil no negócio que tem em mente.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422094-5BA0-A9F3-36AF-6D022D48E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381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orientar a turma a assistir ao tutorial em vídeo do Atende+ (2 min).</a:t>
            </a:r>
          </a:p>
          <a:p>
            <a:r>
              <a:rPr lang="pt-BR"/>
              <a:t>O que falar: o vídeo no YouTube mostra o passo a passo completo - instalação do aplicativo, criação de um agendamento e acompanhamento dos atendimentos.</a:t>
            </a:r>
          </a:p>
          <a:p>
            <a:r>
              <a:rPr lang="pt-BR"/>
              <a:t>Link do tutorial: https://www.youtube.com/watch?v=ckVF6KgyYbk - peça que anotem ou fotografem o endereço.</a:t>
            </a:r>
          </a:p>
          <a:p>
            <a:r>
              <a:rPr lang="pt-BR"/>
              <a:t>Sugestão: exiba um trecho curto em aula e deixe o restante como estudo em casa, antes da atividade prática.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levar a turma a abrir o modelo do Atende+ e adicioná-lo à própria conta (5 min).</a:t>
            </a:r>
          </a:p>
          <a:p>
            <a:r>
              <a:rPr lang="pt-BR"/>
              <a:t>O que falar: o modelo fica no AppSheet; ao abrir o link, basta entrar com uma conta Google para copiar o aplicativo e começar a personalizar.</a:t>
            </a:r>
          </a:p>
          <a:p>
            <a:r>
              <a:rPr lang="pt-BR"/>
              <a:t>Link do modelo: https://www.appsheet.com/templates?appGuidString=eb222221-1472-4ac6-9a05-6556429bdc26</a:t>
            </a:r>
          </a:p>
          <a:p>
            <a:r>
              <a:rPr lang="pt-BR"/>
              <a:t>Atividade: acompanhe a sala enquanto todos fazem a cópia e confirme que cada aluno consegue abrir o app na própria conta antes de seguir.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dar o mapa do aplicativo antes de detalhar (3 min).</a:t>
            </a:r>
          </a:p>
          <a:p>
            <a:r>
              <a:rPr lang="pt-BR" dirty="0"/>
              <a:t>O que falar: o Atende+ tem quatro telas - Dashboard, Agendamentos, Atendimentos e Em dívidas. Cada uma resolve um problema específico de quem presta serviço.</a:t>
            </a:r>
          </a:p>
          <a:p>
            <a:r>
              <a:rPr lang="pt-BR" dirty="0"/>
              <a:t>Peça que naveguem pelas quatro telas rapidamente enquanto você fala.</a:t>
            </a:r>
          </a:p>
          <a:p>
            <a:r>
              <a:rPr lang="pt-BR" dirty="0"/>
              <a:t>Frase de transição: "Agora vamos entrar em cada uma e entender por que ela existe."</a:t>
            </a:r>
          </a:p>
          <a:p>
            <a:r>
              <a:rPr lang="pt-BR" dirty="0"/>
              <a:t>Essa lógica de "cada tela resolve um problema" é o que vocês vão repetir nos próprios projetos.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analisar o Dashboard como decisão de design (4 min).</a:t>
            </a:r>
          </a:p>
          <a:p>
            <a:r>
              <a:rPr lang="pt-BR" dirty="0"/>
              <a:t>O que falar: o painel mostra as métricas do mês - total de atendimentos, próximos agendamentos, receita e situação dos clientes.</a:t>
            </a:r>
          </a:p>
          <a:p>
            <a:r>
              <a:rPr lang="pt-BR" dirty="0"/>
              <a:t>Explique o porquê: o prestador sabe de relance como está o negócio, sem abrir cinco telas diferentes.</a:t>
            </a:r>
          </a:p>
          <a:p>
            <a:r>
              <a:rPr lang="pt-BR" dirty="0"/>
              <a:t>Dica de UX para registrar: informação importante e bem apresentada é informação que o usuário realmente usa.</a:t>
            </a:r>
          </a:p>
          <a:p>
            <a:r>
              <a:rPr lang="pt-BR" dirty="0"/>
              <a:t>Pergunta: "Que outro número vocês colocariam nesse painel?" Boas respostas viram requisitos.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entender a tela onde o serviço é agendado (4 min).</a:t>
            </a:r>
          </a:p>
          <a:p>
            <a:r>
              <a:rPr lang="pt-BR" dirty="0"/>
              <a:t>O que falar: aqui se cria e gerencia agendamentos, registrando cliente, serviço, data e hora, local, valor estimado e status.</a:t>
            </a:r>
          </a:p>
          <a:p>
            <a:r>
              <a:rPr lang="pt-BR" dirty="0"/>
              <a:t>Chame atenção para dois elementos de interface: o botão grande de novo agendamento e a barra de busca para localizar registros antigos.</a:t>
            </a:r>
          </a:p>
          <a:p>
            <a:r>
              <a:rPr lang="pt-BR" dirty="0"/>
              <a:t>Peça que criem um agendamento fictício de teste.</a:t>
            </a:r>
          </a:p>
          <a:p>
            <a:r>
              <a:rPr lang="pt-BR" dirty="0"/>
              <a:t>Comentário de UX: a ação mais usada precisa ser a mais fácil de achar.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o valor do histórico (3 min).</a:t>
            </a:r>
          </a:p>
          <a:p>
            <a:r>
              <a:rPr lang="pt-BR" dirty="0"/>
              <a:t>O que falar: esta tela guarda os serviços já realizados, com cliente, serviço, data, duração, valor cobrado e situação do pagamento.</a:t>
            </a:r>
          </a:p>
          <a:p>
            <a:r>
              <a:rPr lang="pt-BR" dirty="0"/>
              <a:t>Explique por que importa: serve de comprovação do que foi feito, permite que o cliente consulte o histórico e ajuda a perceber tendências no negócio.</a:t>
            </a:r>
          </a:p>
          <a:p>
            <a:r>
              <a:rPr lang="pt-BR" dirty="0"/>
              <a:t>Pergunta: "Como um prestador controla isso hoje sem app?" A resposta costuma ser caderno ou WhatsApp - e isso justifica o aplicativo.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conectar funcionalidade e dinheiro no bolso (3 min).</a:t>
            </a:r>
          </a:p>
          <a:p>
            <a:r>
              <a:rPr lang="pt-BR" dirty="0"/>
              <a:t>O que falar: a tela Em dívidas lista os pagamentos pendentes, mostrando quem deve, quanto deve, quantos atendimentos não foram pagos e o vencimento.</a:t>
            </a:r>
          </a:p>
          <a:p>
            <a:r>
              <a:rPr lang="pt-BR" dirty="0"/>
              <a:t>Por que é crítica: a renda do prestador depende de receber, e é fácil esquecer quem ficou devendo. Dali ele pode cobrar por WhatsApp.</a:t>
            </a:r>
          </a:p>
          <a:p>
            <a:r>
              <a:rPr lang="pt-BR" dirty="0"/>
              <a:t>Frase forte: "Funcionalidade boa é aquela que resolve uma dor real - e dor de não receber é bem real."</a:t>
            </a:r>
          </a:p>
          <a:p>
            <a:r>
              <a:rPr lang="pt-BR" dirty="0"/>
              <a:t>Encerre aqui o Dia 1 e avise o que vem no Dia 2.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abrir o Dia 2 </a:t>
            </a:r>
            <a:r>
              <a:rPr lang="pt-BR"/>
              <a:t>mostrando por que o contato </a:t>
            </a:r>
            <a:r>
              <a:rPr lang="pt-BR" dirty="0"/>
              <a:t>com o </a:t>
            </a:r>
            <a:r>
              <a:rPr lang="pt-BR"/>
              <a:t>cliente é o ponto de partida do projeto </a:t>
            </a:r>
            <a:r>
              <a:rPr lang="pt-BR" dirty="0"/>
              <a:t>(4 min).</a:t>
            </a:r>
          </a:p>
          <a:p>
            <a:r>
              <a:rPr lang="pt-BR" dirty="0"/>
              <a:t>O que falar: </a:t>
            </a:r>
            <a:r>
              <a:rPr lang="pt-BR"/>
              <a:t>percorra os quatro blocos do slide - </a:t>
            </a:r>
            <a:r>
              <a:rPr lang="pt-BR" dirty="0"/>
              <a:t>o </a:t>
            </a:r>
            <a:r>
              <a:rPr lang="pt-BR"/>
              <a:t>contato </a:t>
            </a:r>
            <a:r>
              <a:rPr lang="pt-BR" dirty="0"/>
              <a:t>é </a:t>
            </a:r>
            <a:r>
              <a:rPr lang="pt-BR"/>
              <a:t>essencial porque nenhum negócio funciona sem ouvir </a:t>
            </a:r>
            <a:r>
              <a:rPr lang="pt-BR" dirty="0"/>
              <a:t>o cliente</a:t>
            </a:r>
            <a:r>
              <a:rPr lang="pt-BR"/>
              <a:t>; os requisitos, ou seja</a:t>
            </a:r>
            <a:r>
              <a:rPr lang="pt-BR" dirty="0"/>
              <a:t>, </a:t>
            </a:r>
            <a:r>
              <a:rPr lang="pt-BR"/>
              <a:t>as funcionalidades do </a:t>
            </a:r>
            <a:r>
              <a:rPr lang="pt-BR" dirty="0"/>
              <a:t>app, </a:t>
            </a:r>
            <a:r>
              <a:rPr lang="pt-BR"/>
              <a:t>partem dele; </a:t>
            </a:r>
            <a:r>
              <a:rPr lang="pt-BR" dirty="0"/>
              <a:t>o </a:t>
            </a:r>
            <a:r>
              <a:rPr lang="pt-BR"/>
              <a:t>cuidado é achar </a:t>
            </a:r>
            <a:r>
              <a:rPr lang="pt-BR" dirty="0"/>
              <a:t>que </a:t>
            </a:r>
            <a:r>
              <a:rPr lang="pt-BR"/>
              <a:t>já sabemos tudo; </a:t>
            </a:r>
            <a:r>
              <a:rPr lang="pt-BR" dirty="0"/>
              <a:t>e </a:t>
            </a:r>
            <a:r>
              <a:rPr lang="pt-BR"/>
              <a:t>existem técnicas que tornam essa etapa mais eficiente</a:t>
            </a:r>
            <a:r>
              <a:rPr lang="pt-BR" dirty="0"/>
              <a:t>.</a:t>
            </a:r>
          </a:p>
          <a:p>
            <a:r>
              <a:rPr lang="pt-BR"/>
              <a:t>Destaque</a:t>
            </a:r>
            <a:r>
              <a:rPr lang="pt-BR" dirty="0"/>
              <a:t>: requisito do cliente vale mais que ideia do desenvolvedor.</a:t>
            </a:r>
            <a:r>
              <a:rPr lang="pt-BR"/>
              <a:t> Escreva essa frase no quadro.</a:t>
            </a:r>
            <a:endParaRPr lang="pt-BR" dirty="0"/>
          </a:p>
          <a:p>
            <a:r>
              <a:rPr lang="pt-BR" dirty="0"/>
              <a:t>Pergunta</a:t>
            </a:r>
            <a:r>
              <a:rPr lang="pt-BR"/>
              <a:t> para a turma</a:t>
            </a:r>
            <a:r>
              <a:rPr lang="pt-BR" dirty="0"/>
              <a:t>: "Alguém já recebeu algo diferente do que pediu? Como se sentiu?" Isso cria empatia com o cliente.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explicar por que o entendimento do que o cliente precisa costuma falhar (4 min).</a:t>
            </a:r>
          </a:p>
          <a:p>
            <a:r>
              <a:rPr lang="pt-BR"/>
              <a:t>O que falar: entender o que o cliente realmente deseja exige cuidado, e as falhas são comuns. Cite os dois motivos principais do slide - a comunicação ineficiente entre cliente e equipe e a limitação do cliente quanto a conhecimento de tecnologia da informação - além de outros fatores do dia a dia do projeto.</a:t>
            </a:r>
          </a:p>
          <a:p>
            <a:r>
              <a:rPr lang="pt-BR"/>
              <a:t>Destaque: a falha raramente é má vontade; é falta de linguagem comum entre quem pede e quem desenvolve.</a:t>
            </a:r>
          </a:p>
          <a:p>
            <a:r>
              <a:rPr lang="pt-BR"/>
              <a:t>Transição: existem técnicas e ferramentas que aumentam a eficiência dessa etapa, chamada de coleta de requisitos, tema do próximo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posicionar a coleta de requisitos como etapa decisiva do desenvolvimento (4 min).</a:t>
            </a:r>
          </a:p>
          <a:p>
            <a:r>
              <a:rPr lang="pt-BR"/>
              <a:t>O que falar: é uma das etapas mais cruciais e, ao mesmo tempo, uma das mais subestimadas pelas equipes. Ela garante que o time entenda de fato o que o cliente ou usuário final precisa, antes de qualquer linha de código ser escrita.</a:t>
            </a:r>
          </a:p>
          <a:p>
            <a:r>
              <a:rPr lang="pt-BR"/>
              <a:t>Destaque: todos os requisitos devem ser solicitados pelo cliente, nunca presumidos pelo desenvolvedor.</a:t>
            </a:r>
          </a:p>
          <a:p>
            <a:r>
              <a:rPr lang="pt-BR"/>
              <a:t>Pergunta: "O que costuma acontecer quando o time começa a programar sem essa etapa?" Conduza para retrabalho, atraso e frustração.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justificar por que a análise de requisitos compensa (3 min).</a:t>
            </a:r>
          </a:p>
          <a:p>
            <a:r>
              <a:rPr lang="pt-BR" dirty="0"/>
              <a:t>O que falar: percorra os cinco benefícios - evita retrabalho, alinha expectativas, ajuda a priorizar, dá base para estimar prazo e guia o desenvolvimento.</a:t>
            </a:r>
          </a:p>
          <a:p>
            <a:r>
              <a:rPr lang="pt-BR" dirty="0"/>
              <a:t>Reforce o primeiro: corrigir depois custa muito mais caro que perguntar antes.</a:t>
            </a:r>
          </a:p>
          <a:p>
            <a:r>
              <a:rPr lang="pt-BR" dirty="0"/>
              <a:t>Frase útil: "Cada hora conversando com o cliente economiza várias horas refazendo tela."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apresentar as boas práticas de coleta de requisitos (4 min).</a:t>
            </a:r>
          </a:p>
          <a:p>
            <a:r>
              <a:rPr lang="pt-BR"/>
              <a:t>O que falar: percorra as cinco práticas - entrevistas com usuários e stakeholders, workshops de ideação ou Design Thinking, prototipagem rápida para validar o entendimento, user stories e casos de uso, e revisões e validações constantes.</a:t>
            </a:r>
          </a:p>
          <a:p>
            <a:r>
              <a:rPr lang="pt-BR"/>
              <a:t>Destaque a última: validar com o cliente não é uma etapa no fim, é algo contínuo.</a:t>
            </a:r>
          </a:p>
          <a:p>
            <a:r>
              <a:rPr lang="pt-BR"/>
              <a:t>Amarração: as três primeiras aparecem em detalhe nos próximos slides e na prática do Dia 3.</a:t>
            </a:r>
          </a:p>
          <a:p>
            <a:r>
              <a:rPr lang="pt-BR"/>
              <a:t>Pergunta: “Qual dessas práticas vocês acham mais fácil de aplicar com um cliente pequeno?”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dar um roteiro prático de entrevista (5 min).</a:t>
            </a:r>
          </a:p>
          <a:p>
            <a:r>
              <a:rPr lang="pt-BR" dirty="0"/>
              <a:t>O que falar: apresente os cinco passos - preparação, abertura, escuta ativa, validação e encerramento.</a:t>
            </a:r>
          </a:p>
          <a:p>
            <a:r>
              <a:rPr lang="pt-BR" dirty="0"/>
              <a:t>Detalhe a escuta ativa: perguntas abertas e deixar o cliente falar mais que você.</a:t>
            </a:r>
          </a:p>
          <a:p>
            <a:r>
              <a:rPr lang="pt-BR" dirty="0"/>
              <a:t>Detalhe a validação: repetir o que entendeu e confirmar.</a:t>
            </a:r>
          </a:p>
          <a:p>
            <a:r>
              <a:rPr lang="pt-BR" dirty="0"/>
              <a:t>Sugestão de dinâmica: peça para dois alunos simularem uma entrevista de 2 minutos na frente da turma, e comente o que funcionou.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</a:t>
            </a:r>
            <a:r>
              <a:rPr lang="pt-BR"/>
              <a:t>preparar a turma </a:t>
            </a:r>
            <a:r>
              <a:rPr lang="pt-BR" dirty="0"/>
              <a:t>para </a:t>
            </a:r>
            <a:r>
              <a:rPr lang="pt-BR"/>
              <a:t>o que fazer antes da entrevista </a:t>
            </a:r>
            <a:r>
              <a:rPr lang="pt-BR" dirty="0"/>
              <a:t>(4 min).</a:t>
            </a:r>
          </a:p>
          <a:p>
            <a:r>
              <a:rPr lang="pt-BR" dirty="0"/>
              <a:t>O que falar: </a:t>
            </a:r>
            <a:r>
              <a:rPr lang="pt-BR"/>
              <a:t>no bloco Entenda, o foco é o problema real </a:t>
            </a:r>
            <a:r>
              <a:rPr lang="pt-BR" dirty="0"/>
              <a:t>do </a:t>
            </a:r>
            <a:r>
              <a:rPr lang="pt-BR"/>
              <a:t>cliente</a:t>
            </a:r>
            <a:r>
              <a:rPr lang="pt-BR" dirty="0"/>
              <a:t>, </a:t>
            </a:r>
            <a:r>
              <a:rPr lang="pt-BR"/>
              <a:t>como ele trabalha hoje</a:t>
            </a:r>
            <a:r>
              <a:rPr lang="pt-BR" dirty="0"/>
              <a:t>, </a:t>
            </a:r>
            <a:r>
              <a:rPr lang="pt-BR"/>
              <a:t>quais são suas dores </a:t>
            </a:r>
            <a:r>
              <a:rPr lang="pt-BR" dirty="0"/>
              <a:t>e </a:t>
            </a:r>
            <a:r>
              <a:rPr lang="pt-BR"/>
              <a:t>expectativas </a:t>
            </a:r>
            <a:r>
              <a:rPr lang="pt-BR" dirty="0"/>
              <a:t>e </a:t>
            </a:r>
            <a:r>
              <a:rPr lang="pt-BR"/>
              <a:t>o que é essencial em contraste com o que é apenas desejável</a:t>
            </a:r>
            <a:r>
              <a:rPr lang="pt-BR" dirty="0"/>
              <a:t>.</a:t>
            </a:r>
          </a:p>
          <a:p>
            <a:r>
              <a:rPr lang="pt-BR"/>
              <a:t>No bloco Prepare-se</a:t>
            </a:r>
            <a:r>
              <a:rPr lang="pt-BR" dirty="0"/>
              <a:t>: </a:t>
            </a:r>
            <a:r>
              <a:rPr lang="pt-BR"/>
              <a:t>estudar </a:t>
            </a:r>
            <a:r>
              <a:rPr lang="pt-BR" dirty="0"/>
              <a:t>o cliente ou o </a:t>
            </a:r>
            <a:r>
              <a:rPr lang="pt-BR"/>
              <a:t>segmento antes da conversa, montar um roteiro flexível de perguntas e escolher a pessoa certa para entrevistar.</a:t>
            </a:r>
          </a:p>
          <a:p>
            <a:r>
              <a:rPr lang="pt-BR"/>
              <a:t>Destaque: chegar preparado mostra respeito pelo tempo do cliente e rende respostas melhores</a:t>
            </a:r>
            <a:r>
              <a:rPr lang="pt-BR" dirty="0"/>
              <a:t>.</a:t>
            </a:r>
          </a:p>
          <a:p>
            <a:r>
              <a:rPr lang="pt-BR"/>
              <a:t>Atividade rápida</a:t>
            </a:r>
            <a:r>
              <a:rPr lang="pt-BR" dirty="0"/>
              <a:t>: </a:t>
            </a:r>
            <a:r>
              <a:rPr lang="pt-BR"/>
              <a:t>peça que escolham um segmento (salão, oficina, diarista) e listem duas </a:t>
            </a:r>
            <a:r>
              <a:rPr lang="pt-BR" dirty="0"/>
              <a:t>perguntas de </a:t>
            </a:r>
            <a:r>
              <a:rPr lang="pt-BR"/>
              <a:t>preparação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dar a postura e as perguntas para conduzir a entrevista (4 min).</a:t>
            </a:r>
          </a:p>
          <a:p>
            <a:r>
              <a:rPr lang="pt-BR"/>
              <a:t>O que falar: comece por perguntas amplas sobre o uso atual, depois explore a dor real perguntando o que o cliente gostaria que fosse diferente e valide expectativas pedindo que descreva o sistema ideal.</a:t>
            </a:r>
          </a:p>
          <a:p>
            <a:r>
              <a:rPr lang="pt-BR"/>
              <a:t>Destaque: ouvir mais do que falar e registrar as respostas com as palavras do cliente, sem traduzir para termos técnicos.</a:t>
            </a:r>
          </a:p>
          <a:p>
            <a:r>
              <a:rPr lang="pt-BR"/>
              <a:t>Confirme o entendimento ao final de cada tema antes de seguir para o próximo.</a:t>
            </a:r>
          </a:p>
          <a:p>
            <a:r>
              <a:rPr lang="pt-BR"/>
              <a:t>Sugestão de dinâmica: dois alunos simulam uma entrevista de 2 minutos e a turma comenta o que funcionou.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entregar uma ferramenta pronta para usar em campo (4 min).</a:t>
            </a:r>
          </a:p>
          <a:p>
            <a:r>
              <a:rPr lang="pt-BR" dirty="0"/>
              <a:t>O que falar: percorra os cinco blocos do checklist - projeto, funcionalidades principais, fluxos e processos, restrições e integrações.</a:t>
            </a:r>
          </a:p>
          <a:p>
            <a:r>
              <a:rPr lang="pt-BR" dirty="0"/>
              <a:t>Diga com clareza: este checklist é o que vocês vão levar para a entrevista com um cliente real na Semana 2.</a:t>
            </a:r>
          </a:p>
          <a:p>
            <a:r>
              <a:rPr lang="pt-BR" dirty="0"/>
              <a:t>Peça que fotografem ou copiem o slide.</a:t>
            </a:r>
          </a:p>
          <a:p>
            <a:r>
              <a:rPr lang="pt-BR" dirty="0"/>
              <a:t>Dica: pergunte quais perguntas eles acrescentariam - isso os coloca no papel de analista.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entregar uma ferramenta pronta para usar em campo (4 min).</a:t>
            </a:r>
          </a:p>
          <a:p>
            <a:r>
              <a:rPr lang="pt-BR"/>
              <a:t>O que falar: percorra os cinco blocos do checklist - projeto, funcionalidades principais, fluxos e processos, restrições e integrações.</a:t>
            </a:r>
          </a:p>
          <a:p>
            <a:r>
              <a:rPr lang="pt-BR"/>
              <a:t>Diga com clareza: este checklist é o que vocês vão levar para a entrevista com um cliente real na Semana 2.</a:t>
            </a:r>
          </a:p>
          <a:p>
            <a:r>
              <a:rPr lang="pt-BR"/>
              <a:t>Peça que fotografem ou copiem o slide.</a:t>
            </a:r>
          </a:p>
          <a:p>
            <a:r>
              <a:rPr lang="pt-BR"/>
              <a:t>Dica: pergunte quais perguntas eles acrescentariam - isso os coloca no papel de analista.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as quatro formas de registrar o que o cliente pediu (3 min).</a:t>
            </a:r>
          </a:p>
          <a:p>
            <a:r>
              <a:rPr lang="pt-BR" dirty="0"/>
              <a:t>O que falar: apresente user stories, diagrama de caso de uso, protótipos e wireframes, e tabelas ou planilhas.</a:t>
            </a:r>
          </a:p>
          <a:p>
            <a:r>
              <a:rPr lang="pt-BR" dirty="0"/>
              <a:t>Explique que não existe forma única correta: combina-se conforme o projeto.</a:t>
            </a:r>
          </a:p>
          <a:p>
            <a:r>
              <a:rPr lang="pt-BR" dirty="0"/>
              <a:t>Anuncie a sequência: "Vamos ver as duas primeiras em detalhe nos próximos slides, e os protótipos no Dia 3."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ensinar o formato de user story até virar automático (5 min).</a:t>
            </a:r>
          </a:p>
          <a:p>
            <a:r>
              <a:rPr lang="pt-BR" dirty="0"/>
              <a:t>O que falar: escreva a estrutura no quadro - como [tipo de usuário], eu quero [objetivo], para [benefício].</a:t>
            </a:r>
          </a:p>
          <a:p>
            <a:r>
              <a:rPr lang="pt-BR" dirty="0"/>
              <a:t>Leia os dois exemplos da tela em voz alta.</a:t>
            </a:r>
          </a:p>
          <a:p>
            <a:r>
              <a:rPr lang="pt-BR" dirty="0"/>
              <a:t>Exercício rápido: peça que cada aluno escreva uma user story do próprio app imaginado. Recolha duas ou três e leia para a turma, corrigindo o formato com gentileza.</a:t>
            </a:r>
          </a:p>
          <a:p>
            <a:r>
              <a:rPr lang="pt-BR" dirty="0"/>
              <a:t>Erro comum a corrigir: esquecer o "para", que é justamente onde mora o benefício.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apresentar o diagrama de caso de uso (4 min).</a:t>
            </a:r>
          </a:p>
          <a:p>
            <a:r>
              <a:rPr lang="pt-BR" dirty="0"/>
              <a:t>O que falar: são dois componentes - o ator, que é o usuário ou sistema externo, e os casos de uso, que são as funcionalidades.</a:t>
            </a:r>
          </a:p>
          <a:p>
            <a:r>
              <a:rPr lang="pt-BR" dirty="0"/>
              <a:t>Use o exemplo da tela: o vendedor realiza pedido, processa pagamento e gera fatura.</a:t>
            </a:r>
          </a:p>
          <a:p>
            <a:r>
              <a:rPr lang="pt-BR" dirty="0"/>
              <a:t>Compare com user stories: o diagrama dá visão geral do fluxo, a user story dá o detalhe. Um não substitui o outro.</a:t>
            </a:r>
          </a:p>
          <a:p>
            <a:r>
              <a:rPr lang="pt-BR" dirty="0"/>
              <a:t>Se puder, desenhe um diagrama simples no quadro junto com a turma.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introduzir wireframes antes da prática do Dia 3 (4 min).</a:t>
            </a:r>
          </a:p>
          <a:p>
            <a:r>
              <a:rPr lang="pt-BR" dirty="0"/>
              <a:t>O que falar: prototipar é criar uma versão rápida e simplificada. O wireframe é o esboço da estrutura, sem cores nem detalhes visuais, focado em layout e componentes.</a:t>
            </a:r>
          </a:p>
          <a:p>
            <a:r>
              <a:rPr lang="pt-BR" dirty="0"/>
              <a:t>Cite as ferramentas: Figma, Adobe XD, Balsamiq e, para começar, papel e lápis.</a:t>
            </a:r>
          </a:p>
          <a:p>
            <a:r>
              <a:rPr lang="pt-BR" dirty="0"/>
              <a:t>O porquê: valida a ideia com o cliente antes de desenvolver, quando mudar ainda é barato.</a:t>
            </a:r>
          </a:p>
          <a:p>
            <a:r>
              <a:rPr lang="pt-BR" dirty="0"/>
              <a:t>Há um QR code de vídeo complementar - avise que podem apontar a câmera e assistir depois da aula.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apresentar as ferramentas de prototipação e o porquê de usá-las (3 min).</a:t>
            </a:r>
          </a:p>
          <a:p>
            <a:r>
              <a:rPr lang="pt-BR"/>
              <a:t>O que falar: cite as opções - Figma, gratuito e colaborativo; Adobe XD, profissional; Balsamiq, simples e rápido; e papel e lápis, o mais rápido para brainstorm.</a:t>
            </a:r>
          </a:p>
          <a:p>
            <a:r>
              <a:rPr lang="pt-BR"/>
              <a:t>O porquê, diga com ênfase: o wireframe valida os requisitos com o cliente antes de desenvolver, quando mudar ainda é barato.</a:t>
            </a:r>
          </a:p>
          <a:p>
            <a:r>
              <a:rPr lang="pt-BR"/>
              <a:t>Recomende começar no papel e migrar para o Figma depois.</a:t>
            </a:r>
          </a:p>
          <a:p>
            <a:r>
              <a:rPr lang="pt-BR"/>
              <a:t>Há um QR code com vídeo complementar sobre wireframe no Figma - avise que podem apontar a câmera e assistir depois da aula.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apresentar tabelas e planilhas como forma de registrar requisitos (3 min).</a:t>
            </a:r>
          </a:p>
          <a:p>
            <a:r>
              <a:rPr lang="pt-BR"/>
              <a:t>O que falar: planilhas são úteis para organizar os requisitos por prioridade, status e responsável. O formato é simples - Excel ou Google Sheets - e o uso mais comum é em projetos menores ou quando várias equipes revisam o mesmo documento.</a:t>
            </a:r>
          </a:p>
          <a:p>
            <a:r>
              <a:rPr lang="pt-BR"/>
              <a:t>Mensagem-chave: cabe a você conhecer as técnicas e combiná-las conforme o projeto, registrando tudo que está sendo analisado.</a:t>
            </a:r>
          </a:p>
          <a:p>
            <a:r>
              <a:rPr lang="pt-BR"/>
              <a:t>Reforce o fechamento do bloco de requisitos: sempre revisar e validar com o cliente o que foi registrado.</a:t>
            </a:r>
          </a:p>
          <a:p>
            <a:r>
              <a:rPr lang="pt-BR"/>
              <a:t>Atividade rápida: peça que esbocem as colunas que usariam numa planilha de requisitos.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3513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requisitos reais de um app real (4 min).</a:t>
            </a:r>
          </a:p>
          <a:p>
            <a:r>
              <a:rPr lang="pt-BR" dirty="0"/>
              <a:t>O que falar: percorra as sete user stories do Atende+, do controle de pagamentos à integração com o Google Agenda e aos relatórios.</a:t>
            </a:r>
          </a:p>
          <a:p>
            <a:r>
              <a:rPr lang="pt-BR" dirty="0"/>
              <a:t>Amarração importante: "Tudo o que vocês viram funcionando no app nasceu de uma dessas frases escritas antes."</a:t>
            </a:r>
          </a:p>
          <a:p>
            <a:r>
              <a:rPr lang="pt-BR" dirty="0"/>
              <a:t>Pergunta: "Qual dessas vocês acham que é a mais difícil de implementar? Por quê?"</a:t>
            </a:r>
          </a:p>
          <a:p>
            <a:r>
              <a:rPr lang="pt-BR" dirty="0"/>
              <a:t>Encerre o Dia 2 aqui.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ler um diagrama de casos de uso real (3 min).</a:t>
            </a:r>
          </a:p>
          <a:p>
            <a:r>
              <a:rPr lang="pt-BR"/>
              <a:t>O que falar: mostre no diagrama quem são os atores e quais casos de uso cada um alcança, ligando com as user stories do slide anterior.</a:t>
            </a:r>
          </a:p>
          <a:p>
            <a:r>
              <a:rPr lang="pt-BR"/>
              <a:t>Percorra as ações principais do Atende+ - agendar, registrar atendimento, controlar pagamento e notificar o cliente.</a:t>
            </a:r>
          </a:p>
          <a:p>
            <a:r>
              <a:rPr lang="pt-BR"/>
              <a:t>Compare os dois registros: a user story descreve o detalhe, o diagrama mostra o conjunto de uma vez.</a:t>
            </a:r>
          </a:p>
          <a:p>
            <a:r>
              <a:rPr lang="pt-BR"/>
              <a:t>Pergunta: “Que ator faltaria nesse diagrama se o app crescesse?” Encerre o Dia 2 aqui.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abrir o Dia 3 e combinar a agenda (2 min).</a:t>
            </a:r>
          </a:p>
          <a:p>
            <a:r>
              <a:rPr lang="pt-BR" dirty="0"/>
              <a:t>O que falar: manhã com conceitos de wireframe, seguida da prática criando o wireframe de um app simples, depois a introdução ao no-code e, no final, a análise dos componentes do AppSheet.</a:t>
            </a:r>
          </a:p>
          <a:p>
            <a:r>
              <a:rPr lang="pt-BR" dirty="0"/>
              <a:t>Diga o objetivo do dia: entender o ciclo completo, de requisito a wireframe e a implementação.</a:t>
            </a:r>
          </a:p>
          <a:p>
            <a:r>
              <a:rPr lang="pt-BR" dirty="0"/>
              <a:t>Avise que a parte prática exige papel e caneta - peça que já separem.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dar o vocabulário de estrutura de tela (4 min).</a:t>
            </a:r>
          </a:p>
          <a:p>
            <a:r>
              <a:rPr lang="pt-BR" dirty="0"/>
              <a:t>O que falar: apresente os cinco componentes - header com navegação, área de conteúdo, sidebar com filtros e links, footer e os botões de ação.</a:t>
            </a:r>
          </a:p>
          <a:p>
            <a:r>
              <a:rPr lang="pt-BR" dirty="0"/>
              <a:t>Aponte cada um na ilustração da tela enquanto fala.</a:t>
            </a:r>
          </a:p>
          <a:p>
            <a:r>
              <a:rPr lang="pt-BR" dirty="0"/>
              <a:t>Conecte com o Atende+: peça que identifiquem no app onde está o header e onde está a ação principal.</a:t>
            </a:r>
          </a:p>
          <a:p>
            <a:r>
              <a:rPr lang="pt-BR" dirty="0"/>
              <a:t>Esse vocabulário será usado na prática do próximo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fixar visualmente a estrutura de uma tela (2 min).</a:t>
            </a:r>
          </a:p>
          <a:p>
            <a:r>
              <a:rPr lang="pt-BR"/>
              <a:t>O que falar: aponte os três blocos do esquema - o header com a navegação principal no topo, a área de conteúdo no centro com textos, imagens e formulários, e o footer com links, contato e copyright.</a:t>
            </a:r>
          </a:p>
          <a:p>
            <a:r>
              <a:rPr lang="pt-BR"/>
              <a:t>Reforce que este é o mesmo vocabulário do slide anterior, agora desenhado.</a:t>
            </a:r>
          </a:p>
          <a:p>
            <a:r>
              <a:rPr lang="pt-BR"/>
              <a:t>Peça que comparem com a tela inicial do Atende+ e identifiquem cada bloco.</a:t>
            </a:r>
          </a:p>
          <a:p>
            <a:r>
              <a:rPr lang="pt-BR"/>
              <a:t>Transição: no próximo slide começa a prática de criar o próprio wireframe.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conduzir a prática de wireframe (15 a 20 min de atividade).</a:t>
            </a:r>
          </a:p>
          <a:p>
            <a:r>
              <a:rPr lang="pt-BR" dirty="0"/>
              <a:t>O que falar: explique os cinco passos e depois libere a turma para desenhar. Cada um escolhe uma ideia simples, desenha duas ou três telas, inclui os componentes, sem cores, e depois apresenta.</a:t>
            </a:r>
          </a:p>
          <a:p>
            <a:r>
              <a:rPr lang="pt-BR" dirty="0"/>
              <a:t>Combine o tempo em voz alta: "Vocês têm 15 minutos para desenhar e depois cada um apresenta em 1 minuto."</a:t>
            </a:r>
          </a:p>
          <a:p>
            <a:r>
              <a:rPr lang="pt-BR" dirty="0"/>
              <a:t>Enquanto desenham, circule pela sala e faça perguntas em vez de dar respostas.</a:t>
            </a:r>
          </a:p>
          <a:p>
            <a:r>
              <a:rPr lang="pt-BR" dirty="0"/>
              <a:t>Na apresentação, peça sempre a justificativa das escolhas - é isso que treina o raciocínio de design.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definir no-code com clareza (4 min).</a:t>
            </a:r>
          </a:p>
          <a:p>
            <a:r>
              <a:rPr lang="pt-BR" dirty="0"/>
              <a:t>O que falar: é desenvolver sem escrever código tradicional, usando interfaces visuais - arrastar e soltar, blocos configuráveis e menus.</a:t>
            </a:r>
          </a:p>
          <a:p>
            <a:r>
              <a:rPr lang="pt-BR" dirty="0"/>
              <a:t>O efeito: democratiza o desenvolvimento, permitindo que quem não é da área técnica crie soluções.</a:t>
            </a:r>
          </a:p>
          <a:p>
            <a:r>
              <a:rPr lang="pt-BR" dirty="0"/>
              <a:t>Cite as plataformas: AppSheet, FlutterFlow e Bubble.</a:t>
            </a:r>
          </a:p>
          <a:p>
            <a:r>
              <a:rPr lang="pt-BR" dirty="0"/>
              <a:t>Dúvida frequente, prepare-se: "no-code substitui programador?" Responda que não - ele acelera o simples e libera o programador para o que é realmente complexo.</a:t>
            </a:r>
          </a:p>
          <a:p>
            <a:r>
              <a:rPr lang="pt-BR" dirty="0"/>
              <a:t>Há um QR code com curso complementar gratuito.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justificar por que o no-code vale a pena (3 min).</a:t>
            </a:r>
          </a:p>
          <a:p>
            <a:r>
              <a:rPr lang="pt-BR"/>
              <a:t>O que falar: percorra as cinco vantagens - reduz tempo, reduz custo, é acessível a não-programadores, permite iterar rápido e é ideal para MVP.</a:t>
            </a:r>
          </a:p>
          <a:p>
            <a:r>
              <a:rPr lang="pt-BR"/>
              <a:t>Explique MVP com calma, pois é sigla nova para a turma: é a versão mínima que já permite testar a ideia com usuários reais.</a:t>
            </a:r>
          </a:p>
          <a:p>
            <a:r>
              <a:rPr lang="pt-BR"/>
              <a:t>Frase para fixar: "Melhor um app simples nas mãos do cliente que um app perfeito na sua cabeça."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explicar como o no-code funciona por dentro (4 min).</a:t>
            </a:r>
          </a:p>
          <a:p>
            <a:r>
              <a:rPr lang="pt-BR" dirty="0"/>
              <a:t>O que falar: existem componentes prontos, fluxos lógicos visuais no formato se isso, então aquilo, integrações com outros serviços via API e tudo isso sem codificar.</a:t>
            </a:r>
          </a:p>
          <a:p>
            <a:r>
              <a:rPr lang="pt-BR" dirty="0"/>
              <a:t>Use a analogia da tela: é como montar uma apresentação de slides, só que o resultado é um aplicativo.</a:t>
            </a:r>
          </a:p>
          <a:p>
            <a:r>
              <a:rPr lang="pt-BR" dirty="0"/>
              <a:t>Se alguém perguntar o que é API, explique de forma simples: é a forma como dois sistemas conversam entre si.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fechar o conteúdo técnico e criar expectativa (3 min).</a:t>
            </a:r>
          </a:p>
          <a:p>
            <a:r>
              <a:rPr lang="pt-BR" dirty="0"/>
              <a:t>O que falar: o AppSheet cria apps para web e mobile com uma interface única, integra com o Google Sheets como banco de dados, com o Firebase e com APIs, e é a ferramenta do projeto Atende+ neste curso.</a:t>
            </a:r>
          </a:p>
          <a:p>
            <a:r>
              <a:rPr lang="pt-BR" dirty="0"/>
              <a:t>Anúncio importante: a partir da próxima semana vocês começam a criar os próprios aplicativos.</a:t>
            </a:r>
          </a:p>
          <a:p>
            <a:r>
              <a:rPr lang="pt-BR" dirty="0"/>
              <a:t>Há um QR code com a aula de banco de dados no AppSheet - recomende como preparação.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amarrar tudo em um ciclo único (3 min).</a:t>
            </a:r>
          </a:p>
          <a:p>
            <a:r>
              <a:rPr lang="pt-BR" dirty="0"/>
              <a:t>O que falar: percorra as seis etapas na ordem - entender o problema conversando com o cliente, registrar requisitos, criar wireframe para validar, implementar com no-code, testar com o cliente e iterar.</a:t>
            </a:r>
          </a:p>
          <a:p>
            <a:r>
              <a:rPr lang="pt-BR" dirty="0"/>
              <a:t>Mensagem central: o ciclo não é uma linha reta, ele gira. Testar gera feedback, feedback gera nova versão.</a:t>
            </a:r>
          </a:p>
          <a:p>
            <a:r>
              <a:rPr lang="pt-BR" dirty="0"/>
              <a:t>Peça que copiem esse ciclo, é o resumo prático de toda a semana.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consolidar a memória do que foi visto (3 min).</a:t>
            </a:r>
          </a:p>
          <a:p>
            <a:r>
              <a:rPr lang="pt-BR" dirty="0"/>
              <a:t>O que falar: recapitule por dia, seguindo as três colunas da tela - mercado e instalação no Dia 1, cliente e requisitos no Dia 2, wireframes e no-code no Dia 3.</a:t>
            </a:r>
          </a:p>
          <a:p>
            <a:r>
              <a:rPr lang="pt-BR" dirty="0"/>
              <a:t>Faça a turma participar: em vez de ler, pergunte "o que vimos no Dia 1?" e complete o que faltar.</a:t>
            </a:r>
          </a:p>
          <a:p>
            <a:r>
              <a:rPr lang="pt-BR" dirty="0"/>
              <a:t>Isso vale mais que a sua repetição, porque força a turma a recuperar a informação.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o caminho </a:t>
            </a:r>
            <a:r>
              <a:rPr lang="pt-BR"/>
              <a:t>completo do curso </a:t>
            </a:r>
            <a:r>
              <a:rPr lang="pt-BR" dirty="0"/>
              <a:t>e manter o engajamento (3 min).</a:t>
            </a:r>
          </a:p>
          <a:p>
            <a:r>
              <a:rPr lang="pt-BR" dirty="0"/>
              <a:t>O que falar: percorra as semanas na ordem da tela - Semana 2, contato com o cliente real e Google </a:t>
            </a:r>
            <a:r>
              <a:rPr lang="pt-BR" dirty="0" err="1"/>
              <a:t>Sheets</a:t>
            </a:r>
            <a:r>
              <a:rPr lang="pt-BR" dirty="0"/>
              <a:t> como base de dados; Semana 3, CBL e UX; Semana 4, ajustes no App base; Semana 5, novas funcionalidades; Semana 6, projeto ágil e formulários dinâmicos; Semana 7, gestão com </a:t>
            </a:r>
            <a:r>
              <a:rPr lang="pt-BR" dirty="0" err="1"/>
              <a:t>Trello</a:t>
            </a:r>
            <a:r>
              <a:rPr lang="pt-BR" dirty="0"/>
              <a:t>; Semana 8, relatórios e integração com APIs.</a:t>
            </a:r>
          </a:p>
          <a:p>
            <a:r>
              <a:rPr lang="pt-BR" dirty="0"/>
              <a:t>Destaque a virada: a partir da Semana 3 o trabalho passa a ser em equipe, com desafios no formato CBL.</a:t>
            </a:r>
          </a:p>
          <a:p>
            <a:r>
              <a:rPr lang="pt-BR" dirty="0"/>
              <a:t>Tarefa concreta para a Semana 2: peça que já pensem em um prestador de serviço que conheçam e possam entrevistar.</a:t>
            </a:r>
          </a:p>
          <a:p>
            <a:r>
              <a:rPr lang="pt-BR" dirty="0"/>
              <a:t>Isso transforma a próxima aula em prática de verdade.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orientar a postura de estudo (2 min).</a:t>
            </a:r>
          </a:p>
          <a:p>
            <a:r>
              <a:rPr lang="pt-BR" dirty="0"/>
              <a:t>O que falar: comente as seis dicas - perguntar sempre, praticar user stories, desenhar wireframes mesmo em rascunho, explorar o AppSheet livremente e manter a curiosidade.</a:t>
            </a:r>
          </a:p>
          <a:p>
            <a:r>
              <a:rPr lang="pt-BR" dirty="0"/>
              <a:t>Diga com convicção: "Não existe pergunta boba em tecnologia. Quem pergunta aprende mais rápido."</a:t>
            </a:r>
          </a:p>
          <a:p>
            <a:r>
              <a:rPr lang="pt-BR" dirty="0"/>
              <a:t>Como professor iniciante, esse é um bom momento para se colocar disponível fora da aula.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entregar material para continuar sozinho (2 min).</a:t>
            </a:r>
          </a:p>
          <a:p>
            <a:r>
              <a:rPr lang="pt-BR" dirty="0"/>
              <a:t>O que falar: liste os recursos - SEBRAE para apoio ao empreendedor, site do AppSheet para documentação, Figma para prototipação, e as buscas sugeridas no YouTube.</a:t>
            </a:r>
          </a:p>
          <a:p>
            <a:r>
              <a:rPr lang="pt-BR" dirty="0"/>
              <a:t>Deixe o slide na tela tempo suficiente para anotarem, ou combine de enviar os links pelo canal da turma.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abrir espaço para dúvidas e ideias (5 a 10 min).</a:t>
            </a:r>
          </a:p>
          <a:p>
            <a:r>
              <a:rPr lang="pt-BR" dirty="0"/>
              <a:t>O que falar: faça as três perguntas da tela, uma de cada vez, e espere. Silêncio de alguns segundos é normal - não preencha o vazio falando.</a:t>
            </a:r>
          </a:p>
          <a:p>
            <a:r>
              <a:rPr lang="pt-BR" dirty="0"/>
              <a:t>Se ninguém falar, comece você: "Uma dúvida que costuma aparecer é..." Isso destrava a turma.</a:t>
            </a:r>
          </a:p>
          <a:p>
            <a:r>
              <a:rPr lang="pt-BR" dirty="0"/>
              <a:t>Peça que anotem qual problema querem resolver, quem seria o cliente e como monetizariam - isso alimenta a Semana 2.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encerrar com reconhecimento (2 min).</a:t>
            </a:r>
          </a:p>
          <a:p>
            <a:r>
              <a:rPr lang="pt-BR" dirty="0"/>
              <a:t>O que falar: recapitule rapidamente as cinco conquistas listadas e reforce que a Semana 1 está concluída.</a:t>
            </a:r>
          </a:p>
          <a:p>
            <a:r>
              <a:rPr lang="pt-BR" dirty="0"/>
              <a:t>Anuncie o próximo passo: na Semana 2 o contato é com cliente real.</a:t>
            </a:r>
          </a:p>
          <a:p>
            <a:r>
              <a:rPr lang="pt-BR" dirty="0"/>
              <a:t>Feche agradecendo o empenho da turma e combine data, horário e o que trazer no próximo encontro.</a:t>
            </a:r>
          </a:p>
          <a:p>
            <a:r>
              <a:rPr lang="pt-BR" dirty="0"/>
              <a:t>Dica final: termine no horário. Encerrar bem deixa boa impressão tanto quanto começar bem.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1387E-BDC5-4E5A-BF5D-EFF9FD58FCAC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72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7jXn04UTGA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hIby6b4RRU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hyperlink" Target="https://youtube.com/playlist?list=PLVXQTd7NpQ7yMWg1I7JCmUm91tECExmpl&amp;si=fSRZ-D4ZrYkTojKh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brae.com.br/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igma.com/" TargetMode="External"/><Relationship Id="rId4" Type="http://schemas.openxmlformats.org/officeDocument/2006/relationships/hyperlink" Target="https://www.appsheet.com/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yebrow"/>
          <p:cNvSpPr txBox="1"/>
          <p:nvPr/>
        </p:nvSpPr>
        <p:spPr>
          <a:xfrm>
            <a:off x="685800" y="1554480"/>
            <a:ext cx="5486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spc="300">
                <a:solidFill>
                  <a:srgbClr val="6FD6DA"/>
                </a:solidFill>
                <a:latin typeface="Aptos"/>
              </a:rPr>
              <a:t>SEMANA 1  •  IDEIAS QUE VIRAM APLICATIVOS</a:t>
            </a:r>
          </a:p>
        </p:txBody>
      </p:sp>
      <p:sp>
        <p:nvSpPr>
          <p:cNvPr id="21" name="Title"/>
          <p:cNvSpPr txBox="1"/>
          <p:nvPr/>
        </p:nvSpPr>
        <p:spPr>
          <a:xfrm>
            <a:off x="685800" y="1920240"/>
            <a:ext cx="5486400" cy="10058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 spc="0">
                <a:solidFill>
                  <a:srgbClr val="FFFFFF"/>
                </a:solidFill>
                <a:latin typeface="Aptos"/>
              </a:rPr>
              <a:t>App Clicks</a:t>
            </a:r>
          </a:p>
        </p:txBody>
      </p:sp>
      <p:sp>
        <p:nvSpPr>
          <p:cNvPr id="22" name="Accent"/>
          <p:cNvSpPr/>
          <p:nvPr/>
        </p:nvSpPr>
        <p:spPr>
          <a:xfrm>
            <a:off x="685800" y="301752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ubtitle"/>
          <p:cNvSpPr txBox="1"/>
          <p:nvPr/>
        </p:nvSpPr>
        <p:spPr>
          <a:xfrm>
            <a:off x="685800" y="3246120"/>
            <a:ext cx="5486400" cy="5486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 spc="0">
                <a:solidFill>
                  <a:srgbClr val="C8DCFF"/>
                </a:solidFill>
                <a:latin typeface="Aptos"/>
              </a:rPr>
              <a:t>Empreendedorismo Digital e Desenvolvimento</a:t>
            </a:r>
          </a:p>
        </p:txBody>
      </p:sp>
      <p:sp>
        <p:nvSpPr>
          <p:cNvPr id="24" name="Tagline"/>
          <p:cNvSpPr txBox="1"/>
          <p:nvPr/>
        </p:nvSpPr>
        <p:spPr>
          <a:xfrm>
            <a:off x="685800" y="3886200"/>
            <a:ext cx="548640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 spc="0">
                <a:solidFill>
                  <a:srgbClr val="9FB2CE"/>
                </a:solidFill>
                <a:latin typeface="Aptos"/>
              </a:rPr>
              <a:t>Construção Rápida de Apps para Mídias Digitais</a:t>
            </a:r>
          </a:p>
        </p:txBody>
      </p:sp>
      <p:sp>
        <p:nvSpPr>
          <p:cNvPr id="25" name="Divider"/>
          <p:cNvSpPr/>
          <p:nvPr/>
        </p:nvSpPr>
        <p:spPr>
          <a:xfrm>
            <a:off x="685800" y="4526280"/>
            <a:ext cx="4572000" cy="12700"/>
          </a:xfrm>
          <a:prstGeom prst="rect">
            <a:avLst/>
          </a:prstGeom>
          <a:solidFill>
            <a:srgbClr val="3448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resLabel"/>
          <p:cNvSpPr txBox="1"/>
          <p:nvPr/>
        </p:nvSpPr>
        <p:spPr>
          <a:xfrm>
            <a:off x="685800" y="4754880"/>
            <a:ext cx="5486400" cy="22860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spc="250">
                <a:solidFill>
                  <a:srgbClr val="6FD6DA"/>
                </a:solidFill>
                <a:latin typeface="Aptos"/>
              </a:rPr>
              <a:t>MINISTRADO POR</a:t>
            </a:r>
          </a:p>
        </p:txBody>
      </p:sp>
      <p:sp>
        <p:nvSpPr>
          <p:cNvPr id="27" name="Presenters"/>
          <p:cNvSpPr txBox="1"/>
          <p:nvPr/>
        </p:nvSpPr>
        <p:spPr>
          <a:xfrm>
            <a:off x="685800" y="5029200"/>
            <a:ext cx="548640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spc="0">
                <a:solidFill>
                  <a:srgbClr val="FFFFFF"/>
                </a:solidFill>
                <a:latin typeface="Aptos"/>
              </a:rPr>
              <a:t>Prof. Ivan Lucas    •    Prof. Claudio</a:t>
            </a:r>
          </a:p>
        </p:txBody>
      </p:sp>
      <p:sp>
        <p:nvSpPr>
          <p:cNvPr id="28" name="LogoCard"/>
          <p:cNvSpPr/>
          <p:nvPr/>
        </p:nvSpPr>
        <p:spPr>
          <a:xfrm>
            <a:off x="6492240" y="2011680"/>
            <a:ext cx="1965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FSPMark"/>
          <p:cNvSpPr txBox="1"/>
          <p:nvPr/>
        </p:nvSpPr>
        <p:spPr>
          <a:xfrm>
            <a:off x="6492240" y="2468880"/>
            <a:ext cx="1965960" cy="5486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 spc="0" dirty="0">
                <a:solidFill>
                  <a:srgbClr val="142341"/>
                </a:solidFill>
                <a:latin typeface="Aptos"/>
              </a:rPr>
              <a:t>IFSP</a:t>
            </a:r>
          </a:p>
        </p:txBody>
      </p:sp>
      <p:sp>
        <p:nvSpPr>
          <p:cNvPr id="30" name="IFSPName"/>
          <p:cNvSpPr txBox="1"/>
          <p:nvPr/>
        </p:nvSpPr>
        <p:spPr>
          <a:xfrm>
            <a:off x="6675120" y="3108960"/>
            <a:ext cx="1600200" cy="64008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 spc="0" dirty="0">
                <a:solidFill>
                  <a:srgbClr val="1E979D"/>
                </a:solidFill>
                <a:latin typeface="Aptos"/>
              </a:rPr>
              <a:t>Instituto Federal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 spc="0" dirty="0">
                <a:solidFill>
                  <a:srgbClr val="1E979D"/>
                </a:solidFill>
                <a:latin typeface="Aptos"/>
              </a:rPr>
              <a:t>de São Paulo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84048" y="6400800"/>
            <a:ext cx="3200400" cy="22860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pt-BR" sz="800" b="1" i="0" spc="0">
                <a:solidFill>
                  <a:srgbClr val="8FA3C0"/>
                </a:solidFill>
                <a:latin typeface="Aptos"/>
              </a:rPr>
              <a:t>APPCLICKS  •  SEMANA 1</a:t>
            </a:r>
          </a:p>
        </p:txBody>
      </p:sp>
      <p:sp>
        <p:nvSpPr>
          <p:cNvPr id="10" name="PageNum"/>
          <p:cNvSpPr txBox="1"/>
          <p:nvPr/>
        </p:nvSpPr>
        <p:spPr>
          <a:xfrm>
            <a:off x="7772400" y="6400800"/>
            <a:ext cx="960120" cy="22860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lang="pt-BR" sz="800" b="1" i="0" spc="0">
                <a:solidFill>
                  <a:srgbClr val="8FA3C0"/>
                </a:solidFill>
                <a:latin typeface="Aptos"/>
              </a:rPr>
              <a:t>1  /  64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D42F0EF-301A-BA14-9F9A-80CDCC5EE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6895"/>
            <a:ext cx="20574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3B7E-A131-F34A-D9D1-AD7CD569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DB935B6-17E2-621E-9A9C-D749BC62D386}"/>
              </a:ext>
            </a:extLst>
          </p:cNvPr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EF03AB-9AAC-78EA-3E73-180441BD1A0F}"/>
              </a:ext>
            </a:extLst>
          </p:cNvPr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934087-1AA1-A4E8-0743-3D31ED2E2013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50C672-CF5D-85A1-EEAE-2F6BFC7634E5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Agenda - Semana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6B1C4-ADDB-19CD-8E8B-E03E14C9D1C1}"/>
              </a:ext>
            </a:extLst>
          </p:cNvPr>
          <p:cNvSpPr/>
          <p:nvPr/>
        </p:nvSpPr>
        <p:spPr>
          <a:xfrm>
            <a:off x="731520" y="240030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0EDFBB8F-EC79-7865-8B15-8822F4897536}"/>
              </a:ext>
            </a:extLst>
          </p:cNvPr>
          <p:cNvSpPr/>
          <p:nvPr/>
        </p:nvSpPr>
        <p:spPr>
          <a:xfrm>
            <a:off x="1645920" y="2606040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4BB0F-E79F-439A-A681-F82F6103496B}"/>
              </a:ext>
            </a:extLst>
          </p:cNvPr>
          <p:cNvSpPr txBox="1"/>
          <p:nvPr/>
        </p:nvSpPr>
        <p:spPr>
          <a:xfrm>
            <a:off x="914400" y="3352800"/>
            <a:ext cx="201168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282828"/>
                </a:solidFill>
              </a:defRPr>
            </a:pPr>
            <a:r>
              <a:rPr lang="pt-BR" sz="1500" dirty="0">
                <a:solidFill>
                  <a:srgbClr val="222E40"/>
                </a:solidFill>
                <a:latin typeface="Aptos"/>
              </a:rPr>
              <a:t>Dia 1 </a:t>
            </a:r>
            <a:r>
              <a:rPr sz="1500" dirty="0" err="1">
                <a:solidFill>
                  <a:srgbClr val="222E40"/>
                </a:solidFill>
                <a:latin typeface="Aptos"/>
              </a:rPr>
              <a:t>Empreendedorismo</a:t>
            </a:r>
            <a:br>
              <a:rPr dirty="0"/>
            </a:br>
            <a:r>
              <a:rPr sz="1500" dirty="0">
                <a:solidFill>
                  <a:srgbClr val="222E40"/>
                </a:solidFill>
                <a:latin typeface="Aptos"/>
              </a:rPr>
              <a:t>&amp; Mercado de Apps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lang="pt-BR" sz="1200" b="0" dirty="0">
                <a:solidFill>
                  <a:srgbClr val="222E40"/>
                </a:solidFill>
                <a:latin typeface="Aptos"/>
              </a:rPr>
              <a:t>• Fundamentos e oportunidades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lang="pt-BR" sz="1200" b="0" dirty="0">
                <a:solidFill>
                  <a:srgbClr val="222E40"/>
                </a:solidFill>
                <a:latin typeface="Aptos"/>
              </a:rPr>
              <a:t>• Instalação </a:t>
            </a:r>
            <a:r>
              <a:rPr lang="pt-BR" sz="1200" b="0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lang="pt-BR" sz="1200" b="0" dirty="0">
                <a:solidFill>
                  <a:srgbClr val="222E40"/>
                </a:solidFill>
                <a:latin typeface="Aptos"/>
              </a:rPr>
              <a:t> e Atende+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BEBE79-CCB5-09AB-F5AD-29A60530CF3A}"/>
              </a:ext>
            </a:extLst>
          </p:cNvPr>
          <p:cNvSpPr/>
          <p:nvPr/>
        </p:nvSpPr>
        <p:spPr>
          <a:xfrm>
            <a:off x="3383280" y="240030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5554EADC-BD9D-E18B-7AB8-0824E9786988}"/>
              </a:ext>
            </a:extLst>
          </p:cNvPr>
          <p:cNvSpPr/>
          <p:nvPr/>
        </p:nvSpPr>
        <p:spPr>
          <a:xfrm>
            <a:off x="4297680" y="2606040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C5FD4F-2A50-81C9-D011-0374EC1EEB7C}"/>
              </a:ext>
            </a:extLst>
          </p:cNvPr>
          <p:cNvSpPr txBox="1"/>
          <p:nvPr/>
        </p:nvSpPr>
        <p:spPr>
          <a:xfrm>
            <a:off x="3566160" y="3352800"/>
            <a:ext cx="2011680" cy="155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282828"/>
                </a:solidFill>
              </a:defRPr>
            </a:pPr>
            <a:r>
              <a:rPr lang="pt-BR" sz="1500" dirty="0">
                <a:solidFill>
                  <a:srgbClr val="222E40"/>
                </a:solidFill>
                <a:latin typeface="Aptos"/>
              </a:rPr>
              <a:t>Dia 2 </a:t>
            </a:r>
          </a:p>
          <a:p>
            <a:pPr algn="ctr">
              <a:spcAft>
                <a:spcPts val="300"/>
              </a:spcAft>
              <a:defRPr sz="1800" b="1">
                <a:solidFill>
                  <a:srgbClr val="282828"/>
                </a:solidFill>
              </a:defRPr>
            </a:pPr>
            <a:r>
              <a:rPr sz="1500" dirty="0" err="1">
                <a:solidFill>
                  <a:srgbClr val="222E40"/>
                </a:solidFill>
                <a:latin typeface="Aptos"/>
              </a:rPr>
              <a:t>Cliente</a:t>
            </a:r>
            <a:r>
              <a:rPr sz="1500" dirty="0">
                <a:solidFill>
                  <a:srgbClr val="222E40"/>
                </a:solidFill>
                <a:latin typeface="Aptos"/>
              </a:rPr>
              <a:t> e</a:t>
            </a:r>
            <a:br>
              <a:rPr dirty="0"/>
            </a:br>
            <a:r>
              <a:rPr sz="1500" dirty="0" err="1">
                <a:solidFill>
                  <a:srgbClr val="222E40"/>
                </a:solidFill>
                <a:latin typeface="Aptos"/>
              </a:rPr>
              <a:t>Requisitos</a:t>
            </a:r>
            <a:endParaRPr sz="1500" dirty="0">
              <a:solidFill>
                <a:srgbClr val="222E40"/>
              </a:solidFill>
              <a:latin typeface="Aptos"/>
            </a:endParaRP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lang="pt-BR" sz="1200" b="0" dirty="0">
                <a:solidFill>
                  <a:srgbClr val="222E40"/>
                </a:solidFill>
                <a:latin typeface="Aptos"/>
              </a:rPr>
              <a:t>• Técnicas de coleta de requisitos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lang="pt-BR" sz="1200" b="0" dirty="0">
                <a:solidFill>
                  <a:srgbClr val="222E40"/>
                </a:solidFill>
                <a:latin typeface="Aptos"/>
              </a:rPr>
              <a:t>• </a:t>
            </a:r>
            <a:r>
              <a:rPr lang="pt-BR" sz="1200" b="0" dirty="0" err="1">
                <a:solidFill>
                  <a:srgbClr val="222E40"/>
                </a:solidFill>
                <a:latin typeface="Aptos"/>
              </a:rPr>
              <a:t>User</a:t>
            </a:r>
            <a:r>
              <a:rPr lang="pt-BR" sz="1200" b="0" dirty="0">
                <a:solidFill>
                  <a:srgbClr val="222E40"/>
                </a:solidFill>
                <a:latin typeface="Aptos"/>
              </a:rPr>
              <a:t> Stories e Diagramas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ECA49-DCDF-C39E-389C-899B5C25DE5A}"/>
              </a:ext>
            </a:extLst>
          </p:cNvPr>
          <p:cNvSpPr/>
          <p:nvPr/>
        </p:nvSpPr>
        <p:spPr>
          <a:xfrm>
            <a:off x="6035040" y="240030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09FE194D-6A39-6978-D366-25B2F600B96B}"/>
              </a:ext>
            </a:extLst>
          </p:cNvPr>
          <p:cNvSpPr/>
          <p:nvPr/>
        </p:nvSpPr>
        <p:spPr>
          <a:xfrm>
            <a:off x="6949440" y="2606040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5E0FAF-3002-9EAA-85AC-C500F8244C64}"/>
              </a:ext>
            </a:extLst>
          </p:cNvPr>
          <p:cNvSpPr txBox="1"/>
          <p:nvPr/>
        </p:nvSpPr>
        <p:spPr>
          <a:xfrm>
            <a:off x="6217920" y="3352800"/>
            <a:ext cx="2011680" cy="174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282828"/>
                </a:solidFill>
              </a:defRPr>
            </a:pPr>
            <a:r>
              <a:rPr lang="pt-BR" sz="1500" dirty="0">
                <a:solidFill>
                  <a:srgbClr val="222E40"/>
                </a:solidFill>
                <a:latin typeface="Aptos"/>
              </a:rPr>
              <a:t>Dia 3</a:t>
            </a:r>
          </a:p>
          <a:p>
            <a:pPr algn="ctr">
              <a:spcAft>
                <a:spcPts val="300"/>
              </a:spcAft>
              <a:defRPr sz="1800" b="1">
                <a:solidFill>
                  <a:srgbClr val="282828"/>
                </a:solidFill>
              </a:defRPr>
            </a:pPr>
            <a:r>
              <a:rPr sz="1500" dirty="0" err="1">
                <a:solidFill>
                  <a:srgbClr val="222E40"/>
                </a:solidFill>
                <a:latin typeface="Aptos"/>
              </a:rPr>
              <a:t>Prototipação</a:t>
            </a:r>
            <a:br>
              <a:rPr dirty="0"/>
            </a:br>
            <a:r>
              <a:rPr sz="1500" dirty="0">
                <a:solidFill>
                  <a:srgbClr val="222E40"/>
                </a:solidFill>
                <a:latin typeface="Aptos"/>
              </a:rPr>
              <a:t>e No-Code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lang="pt-BR" sz="1200" b="0" dirty="0">
                <a:solidFill>
                  <a:srgbClr val="222E40"/>
                </a:solidFill>
                <a:latin typeface="Aptos"/>
              </a:rPr>
              <a:t>• </a:t>
            </a:r>
            <a:r>
              <a:rPr lang="pt-BR" sz="1200" b="0" dirty="0" err="1">
                <a:solidFill>
                  <a:srgbClr val="222E40"/>
                </a:solidFill>
                <a:latin typeface="Aptos"/>
              </a:rPr>
              <a:t>Wireframes</a:t>
            </a:r>
            <a:r>
              <a:rPr lang="pt-BR" sz="1200" b="0" dirty="0">
                <a:solidFill>
                  <a:srgbClr val="222E40"/>
                </a:solidFill>
                <a:latin typeface="Aptos"/>
              </a:rPr>
              <a:t> e Prototipação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lang="pt-BR" sz="1200" b="0" dirty="0">
                <a:solidFill>
                  <a:srgbClr val="222E40"/>
                </a:solidFill>
                <a:latin typeface="Aptos"/>
              </a:rPr>
              <a:t>• Desenvolvimento No-</a:t>
            </a:r>
            <a:r>
              <a:rPr lang="pt-BR" sz="1200" b="0" dirty="0" err="1">
                <a:solidFill>
                  <a:srgbClr val="222E40"/>
                </a:solidFill>
                <a:latin typeface="Aptos"/>
              </a:rPr>
              <a:t>Code</a:t>
            </a:r>
            <a:endParaRPr lang="pt-BR" sz="1200" b="0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7A27E7-6209-B90F-DCC0-8CD39891E0FE}"/>
              </a:ext>
            </a:extLst>
          </p:cNvPr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BF280-5E0D-28D8-E695-4F26359B160B}"/>
              </a:ext>
            </a:extLst>
          </p:cNvPr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0264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Objetivos de Aprendizagem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Conhecer conceitos fundamentais sobre empreendedorismo e negócios digitais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Identificar oportunidades no mercado digital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Compreender a importância do contato com clientes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Documentar requisitos de forma eficiente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Compreender o conceito de desenvolvimento No-code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Entender o papel do Google Sheets como banco de dados em soluções No-code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Criar um aplicativo básico utilizando o Google AppSheet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O que e Empreendedorismo Digital?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526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CRIAR, GERENCIAR E EXPANDIR negcios usando INTERNET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Diferencas do modelo tradicional: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Operacao principalmente digital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Requer mentalidade INOVADORA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Mercado em CONSTANTE EVOLUCAO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Exemplos: Uber, Netflix, Shopify, Instagram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3593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people_6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81328"/>
            <a:ext cx="2770632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0" y="5093208"/>
            <a:ext cx="2770632" cy="201168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1 • Pessoas desenvolvendo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043546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 dirty="0">
                <a:solidFill>
                  <a:srgbClr val="606E84"/>
                </a:solidFill>
                <a:latin typeface="Aptos"/>
              </a:rPr>
              <a:t>Fonte visual: Material </a:t>
            </a:r>
            <a:r>
              <a:rPr sz="700" b="0" dirty="0" err="1">
                <a:solidFill>
                  <a:srgbClr val="606E84"/>
                </a:solidFill>
                <a:latin typeface="Aptos"/>
              </a:rPr>
              <a:t>Didático</a:t>
            </a:r>
            <a:r>
              <a:rPr sz="700" b="0" dirty="0">
                <a:solidFill>
                  <a:srgbClr val="606E84"/>
                </a:solidFill>
                <a:latin typeface="Aptos"/>
              </a:rPr>
              <a:t> </a:t>
            </a:r>
            <a:r>
              <a:rPr sz="700" b="0" dirty="0" err="1">
                <a:solidFill>
                  <a:srgbClr val="606E84"/>
                </a:solidFill>
                <a:latin typeface="Aptos"/>
              </a:rPr>
              <a:t>AppClicks</a:t>
            </a:r>
            <a:r>
              <a:rPr sz="700" b="0" dirty="0">
                <a:solidFill>
                  <a:srgbClr val="606E84"/>
                </a:solidFill>
                <a:latin typeface="Aptos"/>
              </a:rPr>
              <a:t> – </a:t>
            </a:r>
            <a:r>
              <a:rPr sz="700" b="0" dirty="0" err="1">
                <a:solidFill>
                  <a:srgbClr val="606E84"/>
                </a:solidFill>
                <a:latin typeface="Aptos"/>
              </a:rPr>
              <a:t>Disciplina</a:t>
            </a:r>
            <a:r>
              <a:rPr sz="700" b="0" dirty="0">
                <a:solidFill>
                  <a:srgbClr val="606E84"/>
                </a:solidFill>
                <a:latin typeface="Aptos"/>
              </a:rPr>
              <a:t> 1 (IFCE, 2025).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C6AA-DEEB-C987-68E3-9926B687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5ABCFF-0786-D090-082E-6701CAF83D52}"/>
              </a:ext>
            </a:extLst>
          </p:cNvPr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727A5-D820-0B0F-4FD3-B37BF2F21285}"/>
              </a:ext>
            </a:extLst>
          </p:cNvPr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10320-62DC-B6C3-5B2B-A7870D0BAF2F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E590D7-CFC3-8A3F-DE9B-9857BD55BBDF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Números do Mercado de Apps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05F25-7C21-522B-C792-D7F76F1A42DD}"/>
              </a:ext>
            </a:extLst>
          </p:cNvPr>
          <p:cNvSpPr txBox="1"/>
          <p:nvPr/>
        </p:nvSpPr>
        <p:spPr>
          <a:xfrm>
            <a:off x="822960" y="1417320"/>
            <a:ext cx="3657600" cy="11887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Aft>
                <a:spcPts val="200"/>
              </a:spcAft>
            </a:pPr>
            <a:r>
              <a:rPr lang="pt-BR" sz="2600" b="1">
                <a:solidFill>
                  <a:srgbClr val="1E979D"/>
                </a:solidFill>
                <a:latin typeface="Aptos"/>
              </a:rPr>
              <a:t>6 BILHÕES</a:t>
            </a:r>
          </a:p>
          <a:p>
            <a:pPr algn="l">
              <a:spcAft>
                <a:spcPts val="200"/>
              </a:spcAft>
            </a:pPr>
            <a:r>
              <a:rPr lang="pt-BR" sz="1200" b="0">
                <a:solidFill>
                  <a:srgbClr val="5B6B85"/>
                </a:solidFill>
                <a:latin typeface="Aptos"/>
              </a:rPr>
              <a:t>de smartphones no mundo</a:t>
            </a:r>
          </a:p>
          <a:p>
            <a:pPr algn="l">
              <a:spcAft>
                <a:spcPts val="200"/>
              </a:spcAft>
            </a:pPr>
            <a:r>
              <a:rPr lang="pt-BR" sz="1150" b="1">
                <a:solidFill>
                  <a:srgbClr val="142341"/>
                </a:solidFill>
                <a:latin typeface="Aptos"/>
              </a:rPr>
              <a:t>→ Potencial de clientes: IMENSO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F9ABD-054B-8A4B-F57E-11060EA68626}"/>
              </a:ext>
            </a:extLst>
          </p:cNvPr>
          <p:cNvSpPr txBox="1"/>
          <p:nvPr/>
        </p:nvSpPr>
        <p:spPr>
          <a:xfrm>
            <a:off x="4663440" y="1417320"/>
            <a:ext cx="3657600" cy="11887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Aft>
                <a:spcPts val="200"/>
              </a:spcAft>
            </a:pPr>
            <a:r>
              <a:rPr lang="pt-BR" sz="2600" b="1" dirty="0">
                <a:solidFill>
                  <a:srgbClr val="1E979D"/>
                </a:solidFill>
                <a:latin typeface="Aptos"/>
              </a:rPr>
              <a:t>US$ 750 BILHÕES</a:t>
            </a:r>
          </a:p>
          <a:p>
            <a:pPr algn="l">
              <a:spcAft>
                <a:spcPts val="200"/>
              </a:spcAft>
            </a:pPr>
            <a:r>
              <a:rPr lang="pt-BR" sz="1200" b="0" dirty="0">
                <a:solidFill>
                  <a:srgbClr val="5B6B85"/>
                </a:solidFill>
                <a:latin typeface="Aptos"/>
              </a:rPr>
              <a:t>estimativa de receitas globais até 2027</a:t>
            </a:r>
          </a:p>
          <a:p>
            <a:pPr algn="l">
              <a:spcAft>
                <a:spcPts val="200"/>
              </a:spcAft>
            </a:pPr>
            <a:r>
              <a:rPr lang="pt-BR" sz="1150" b="1" dirty="0">
                <a:solidFill>
                  <a:srgbClr val="142341"/>
                </a:solidFill>
                <a:latin typeface="Aptos"/>
              </a:rPr>
              <a:t>→ Fontes das receitas: downloads, </a:t>
            </a:r>
            <a:r>
              <a:rPr lang="pt-BR" sz="1150" b="1" dirty="0" err="1">
                <a:solidFill>
                  <a:srgbClr val="142341"/>
                </a:solidFill>
                <a:latin typeface="Aptos"/>
              </a:rPr>
              <a:t>in-app</a:t>
            </a:r>
            <a:r>
              <a:rPr lang="pt-BR" sz="1150" b="1" dirty="0">
                <a:solidFill>
                  <a:srgbClr val="142341"/>
                </a:solidFill>
                <a:latin typeface="Aptos"/>
              </a:rPr>
              <a:t>, assinaturas, publicidade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74879-106A-12C3-74CA-F3ADEF78219D}"/>
              </a:ext>
            </a:extLst>
          </p:cNvPr>
          <p:cNvSpPr txBox="1"/>
          <p:nvPr/>
        </p:nvSpPr>
        <p:spPr>
          <a:xfrm>
            <a:off x="822960" y="2697480"/>
            <a:ext cx="7315200" cy="2743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Aft>
                <a:spcPts val="200"/>
              </a:spcAft>
            </a:pPr>
            <a:r>
              <a:rPr lang="pt-BR" sz="1250" b="1">
                <a:solidFill>
                  <a:srgbClr val="142341"/>
                </a:solidFill>
                <a:latin typeface="Aptos"/>
              </a:rPr>
              <a:t>Concorrência é GRANDE → precisa de uma solução que REALMENTE resolve.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F617F4B-D9B0-D8AD-FFC6-65FD5BC348E7}"/>
              </a:ext>
            </a:extLst>
          </p:cNvPr>
          <p:cNvSpPr/>
          <p:nvPr/>
        </p:nvSpPr>
        <p:spPr>
          <a:xfrm>
            <a:off x="1743840" y="3017520"/>
            <a:ext cx="56563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6F85A-A039-CBFA-F8E3-FA073008E20D}"/>
              </a:ext>
            </a:extLst>
          </p:cNvPr>
          <p:cNvSpPr txBox="1"/>
          <p:nvPr/>
        </p:nvSpPr>
        <p:spPr>
          <a:xfrm>
            <a:off x="1743840" y="5943600"/>
            <a:ext cx="5656320" cy="201168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>
              <a:spcAft>
                <a:spcPts val="200"/>
              </a:spcAft>
            </a:pPr>
            <a:r>
              <a:rPr lang="pt-BR" sz="900" b="0" dirty="0">
                <a:solidFill>
                  <a:srgbClr val="8090A8"/>
                </a:solidFill>
                <a:latin typeface="Aptos"/>
              </a:rPr>
              <a:t>Figura 2 • Receitas com apps no mundo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BF1530-279C-FEC8-7AC2-0A34BE5FDA10}"/>
              </a:ext>
            </a:extLst>
          </p:cNvPr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272B4-26F8-F485-06E8-6D9A184250E0}"/>
              </a:ext>
            </a:extLst>
          </p:cNvPr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C9F74-C86C-AB23-90E7-EB6C43E1C684}"/>
              </a:ext>
            </a:extLst>
          </p:cNvPr>
          <p:cNvSpPr txBox="1"/>
          <p:nvPr/>
        </p:nvSpPr>
        <p:spPr>
          <a:xfrm>
            <a:off x="548640" y="6135624"/>
            <a:ext cx="4200000" cy="146304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Aft>
                <a:spcPts val="200"/>
              </a:spcAft>
            </a:pPr>
            <a:r>
              <a:rPr lang="pt-BR" sz="800" b="0">
                <a:solidFill>
                  <a:srgbClr val="8090A8"/>
                </a:solidFill>
                <a:latin typeface="Aptos"/>
              </a:rPr>
              <a:t>Fonte visual: Material Didático AppClicks – Disciplina 1 (IFCE, 2025).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49A53F1-D706-50FF-99E2-108A7977F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500" y="3063240"/>
            <a:ext cx="556500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3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Tipos de Monetização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" y="2080330"/>
            <a:ext cx="2560320" cy="1554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532" y="226321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Apps Pagos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" y="2674690"/>
            <a:ext cx="2286000" cy="7772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Usuário paga para baixar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6412" y="2080330"/>
            <a:ext cx="2560320" cy="1554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3572" y="226321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Freemium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3572" y="2674690"/>
            <a:ext cx="2286000" cy="7772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Grátis + recursos pagos (MAIS COMUM)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050" b="0">
                <a:solidFill>
                  <a:srgbClr val="142341"/>
                </a:solidFill>
                <a:latin typeface="Aptos"/>
              </a:rPr>
              <a:t>Ex.: Duolingo, Spotify, WhatsApp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2452" y="2080330"/>
            <a:ext cx="2560320" cy="1554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9612" y="226321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Assinaturas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9612" y="2674690"/>
            <a:ext cx="2286000" cy="7772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Pagamento recorrente (Spotify)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3392" y="4000570"/>
            <a:ext cx="2560320" cy="1554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30552" y="418345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Publicidade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4594930"/>
            <a:ext cx="2286000" cy="7772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Anúncios dentro do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9432" y="4000570"/>
            <a:ext cx="2560320" cy="1554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418345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Compras In-App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594930"/>
            <a:ext cx="2286000" cy="77724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Itens/funções extras (jogos)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050" b="0">
                <a:solidFill>
                  <a:srgbClr val="142341"/>
                </a:solidFill>
                <a:latin typeface="Aptos"/>
              </a:rPr>
              <a:t>Ex.: moedas, skins em jogos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6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Tendencias Atuais 2024-2025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IA INTEGRADA: Chatbots, assistentes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PRODUTIVIDADE &amp; BEM-ESTAR: meditacao, saude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JOGOS MOBILE: continuam liderando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SUPER APPS: um app faz muita coisa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Ex: WeChat (mensagens + pagamentos + delivery + banco)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NO-CODE/LOW-CODE: facilitam criacao para nao-programadores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Tendências Atuais 2024-2025</a:t>
            </a:r>
          </a:p>
        </p:txBody>
      </p:sp>
      <p:sp>
        <p:nvSpPr>
          <p:cNvPr id="5" name="Trapezoid 4"/>
          <p:cNvSpPr/>
          <p:nvPr/>
        </p:nvSpPr>
        <p:spPr>
          <a:xfrm>
            <a:off x="548640" y="1554480"/>
            <a:ext cx="457200" cy="45720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IA Integrada: Chatbots, assistentes</a:t>
            </a:r>
          </a:p>
        </p:txBody>
      </p:sp>
      <p:sp>
        <p:nvSpPr>
          <p:cNvPr id="7" name="Trapezoid 6"/>
          <p:cNvSpPr/>
          <p:nvPr/>
        </p:nvSpPr>
        <p:spPr>
          <a:xfrm>
            <a:off x="548640" y="2423160"/>
            <a:ext cx="457200" cy="45720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Produtividade: Meditacao, saude mental</a:t>
            </a:r>
          </a:p>
        </p:txBody>
      </p:sp>
      <p:sp>
        <p:nvSpPr>
          <p:cNvPr id="9" name="Trapezoid 8"/>
          <p:cNvSpPr/>
          <p:nvPr/>
        </p:nvSpPr>
        <p:spPr>
          <a:xfrm>
            <a:off x="548640" y="3291840"/>
            <a:ext cx="457200" cy="45720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Jogos Mobile: Continuam liderando</a:t>
            </a:r>
          </a:p>
        </p:txBody>
      </p:sp>
      <p:sp>
        <p:nvSpPr>
          <p:cNvPr id="11" name="Trapezoid 10"/>
          <p:cNvSpPr/>
          <p:nvPr/>
        </p:nvSpPr>
        <p:spPr>
          <a:xfrm>
            <a:off x="548640" y="4160520"/>
            <a:ext cx="457200" cy="45720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Super Apps: Um app faz muita coisa</a:t>
            </a:r>
          </a:p>
        </p:txBody>
      </p:sp>
      <p:sp>
        <p:nvSpPr>
          <p:cNvPr id="13" name="Trapezoid 12"/>
          <p:cNvSpPr/>
          <p:nvPr/>
        </p:nvSpPr>
        <p:spPr>
          <a:xfrm>
            <a:off x="548640" y="5029200"/>
            <a:ext cx="457200" cy="45720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74920"/>
            <a:ext cx="7315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 dirty="0">
                <a:solidFill>
                  <a:srgbClr val="222E40"/>
                </a:solidFill>
                <a:latin typeface="Aptos"/>
              </a:rPr>
              <a:t>No-Code/Low-Code: </a:t>
            </a:r>
            <a:r>
              <a:rPr sz="1500" dirty="0" err="1">
                <a:solidFill>
                  <a:srgbClr val="222E40"/>
                </a:solidFill>
                <a:latin typeface="Aptos"/>
              </a:rPr>
              <a:t>Facilitam</a:t>
            </a:r>
            <a:r>
              <a:rPr sz="1500" dirty="0">
                <a:solidFill>
                  <a:srgbClr val="222E40"/>
                </a:solidFill>
                <a:latin typeface="Aptos"/>
              </a:rPr>
              <a:t> para n</a:t>
            </a:r>
            <a:r>
              <a:rPr lang="pt-BR" sz="1500" dirty="0">
                <a:solidFill>
                  <a:srgbClr val="222E40"/>
                </a:solidFill>
                <a:latin typeface="Aptos"/>
              </a:rPr>
              <a:t>ã</a:t>
            </a:r>
            <a:r>
              <a:rPr sz="1500" dirty="0">
                <a:solidFill>
                  <a:srgbClr val="222E40"/>
                </a:solidFill>
                <a:latin typeface="Aptos"/>
              </a:rPr>
              <a:t>o-</a:t>
            </a:r>
            <a:r>
              <a:rPr sz="1500" dirty="0" err="1">
                <a:solidFill>
                  <a:srgbClr val="222E40"/>
                </a:solidFill>
                <a:latin typeface="Aptos"/>
              </a:rPr>
              <a:t>programadores</a:t>
            </a:r>
            <a:endParaRPr sz="1500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7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7321-CB33-50C2-0793-C65D5BE5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B54DA7-149A-E456-01E8-57CA99FCECE3}"/>
              </a:ext>
            </a:extLst>
          </p:cNvPr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9FCE2-87C5-A5A5-2472-FFC5A41B69B5}"/>
              </a:ext>
            </a:extLst>
          </p:cNvPr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D687A-BB17-9055-2C93-8B6032200DD0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E7C18-0E18-35A0-F6F0-C9E6737B2FCB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Oportunidades no Mercado</a:t>
            </a:r>
          </a:p>
        </p:txBody>
      </p:sp>
      <p:sp>
        <p:nvSpPr>
          <p:cNvPr id="30" name="Card0">
            <a:extLst>
              <a:ext uri="{FF2B5EF4-FFF2-40B4-BE49-F238E27FC236}">
                <a16:creationId xmlns:a16="http://schemas.microsoft.com/office/drawing/2014/main" id="{31282ACA-55E3-4BA1-1377-DFC99BAF3C3B}"/>
              </a:ext>
            </a:extLst>
          </p:cNvPr>
          <p:cNvSpPr/>
          <p:nvPr/>
        </p:nvSpPr>
        <p:spPr>
          <a:xfrm>
            <a:off x="461772" y="1554480"/>
            <a:ext cx="3931920" cy="15544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Bar0">
            <a:extLst>
              <a:ext uri="{FF2B5EF4-FFF2-40B4-BE49-F238E27FC236}">
                <a16:creationId xmlns:a16="http://schemas.microsoft.com/office/drawing/2014/main" id="{FFBC4242-7331-CB11-37B3-C86C0946B934}"/>
              </a:ext>
            </a:extLst>
          </p:cNvPr>
          <p:cNvSpPr/>
          <p:nvPr/>
        </p:nvSpPr>
        <p:spPr>
          <a:xfrm>
            <a:off x="461772" y="1554480"/>
            <a:ext cx="73152" cy="155448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Num0">
            <a:extLst>
              <a:ext uri="{FF2B5EF4-FFF2-40B4-BE49-F238E27FC236}">
                <a16:creationId xmlns:a16="http://schemas.microsoft.com/office/drawing/2014/main" id="{13DA3DD6-F84F-453D-7D25-97870AB5BF23}"/>
              </a:ext>
            </a:extLst>
          </p:cNvPr>
          <p:cNvSpPr txBox="1"/>
          <p:nvPr/>
        </p:nvSpPr>
        <p:spPr>
          <a:xfrm>
            <a:off x="736092" y="17830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01</a:t>
            </a:r>
          </a:p>
        </p:txBody>
      </p:sp>
      <p:sp>
        <p:nvSpPr>
          <p:cNvPr id="33" name="CardTit0">
            <a:extLst>
              <a:ext uri="{FF2B5EF4-FFF2-40B4-BE49-F238E27FC236}">
                <a16:creationId xmlns:a16="http://schemas.microsoft.com/office/drawing/2014/main" id="{243556A5-706D-D814-183F-44FF7C0240E1}"/>
              </a:ext>
            </a:extLst>
          </p:cNvPr>
          <p:cNvSpPr txBox="1"/>
          <p:nvPr/>
        </p:nvSpPr>
        <p:spPr>
          <a:xfrm>
            <a:off x="736092" y="21031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Nichos locais e específicos</a:t>
            </a:r>
          </a:p>
        </p:txBody>
      </p:sp>
      <p:sp>
        <p:nvSpPr>
          <p:cNvPr id="34" name="CardDesc0">
            <a:extLst>
              <a:ext uri="{FF2B5EF4-FFF2-40B4-BE49-F238E27FC236}">
                <a16:creationId xmlns:a16="http://schemas.microsoft.com/office/drawing/2014/main" id="{1F4A4049-23A3-1B85-E8E5-E422D89AB258}"/>
              </a:ext>
            </a:extLst>
          </p:cNvPr>
          <p:cNvSpPr txBox="1"/>
          <p:nvPr/>
        </p:nvSpPr>
        <p:spPr>
          <a:xfrm>
            <a:off x="736092" y="25603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Ex.: app para pescado no Ceará</a:t>
            </a:r>
          </a:p>
        </p:txBody>
      </p:sp>
      <p:sp>
        <p:nvSpPr>
          <p:cNvPr id="35" name="Card1">
            <a:extLst>
              <a:ext uri="{FF2B5EF4-FFF2-40B4-BE49-F238E27FC236}">
                <a16:creationId xmlns:a16="http://schemas.microsoft.com/office/drawing/2014/main" id="{196E7AF8-2898-C20F-8721-25B8C737CC97}"/>
              </a:ext>
            </a:extLst>
          </p:cNvPr>
          <p:cNvSpPr/>
          <p:nvPr/>
        </p:nvSpPr>
        <p:spPr>
          <a:xfrm>
            <a:off x="4759452" y="1554480"/>
            <a:ext cx="3931920" cy="15544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dBar1">
            <a:extLst>
              <a:ext uri="{FF2B5EF4-FFF2-40B4-BE49-F238E27FC236}">
                <a16:creationId xmlns:a16="http://schemas.microsoft.com/office/drawing/2014/main" id="{F715D8B3-5925-28F7-1168-66E1D4EEBC08}"/>
              </a:ext>
            </a:extLst>
          </p:cNvPr>
          <p:cNvSpPr/>
          <p:nvPr/>
        </p:nvSpPr>
        <p:spPr>
          <a:xfrm>
            <a:off x="4759452" y="1554480"/>
            <a:ext cx="73152" cy="155448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Num1">
            <a:extLst>
              <a:ext uri="{FF2B5EF4-FFF2-40B4-BE49-F238E27FC236}">
                <a16:creationId xmlns:a16="http://schemas.microsoft.com/office/drawing/2014/main" id="{35B346A0-3487-3480-7816-53EA94F4DC41}"/>
              </a:ext>
            </a:extLst>
          </p:cNvPr>
          <p:cNvSpPr txBox="1"/>
          <p:nvPr/>
        </p:nvSpPr>
        <p:spPr>
          <a:xfrm>
            <a:off x="5033772" y="17830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02</a:t>
            </a:r>
          </a:p>
        </p:txBody>
      </p:sp>
      <p:sp>
        <p:nvSpPr>
          <p:cNvPr id="38" name="CardTit1">
            <a:extLst>
              <a:ext uri="{FF2B5EF4-FFF2-40B4-BE49-F238E27FC236}">
                <a16:creationId xmlns:a16="http://schemas.microsoft.com/office/drawing/2014/main" id="{2B06C769-3408-4697-24E1-92E16B1A4D89}"/>
              </a:ext>
            </a:extLst>
          </p:cNvPr>
          <p:cNvSpPr txBox="1"/>
          <p:nvPr/>
        </p:nvSpPr>
        <p:spPr>
          <a:xfrm>
            <a:off x="5033772" y="21031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Soluções para PMEs</a:t>
            </a:r>
          </a:p>
        </p:txBody>
      </p:sp>
      <p:sp>
        <p:nvSpPr>
          <p:cNvPr id="39" name="CardDesc1">
            <a:extLst>
              <a:ext uri="{FF2B5EF4-FFF2-40B4-BE49-F238E27FC236}">
                <a16:creationId xmlns:a16="http://schemas.microsoft.com/office/drawing/2014/main" id="{E6A502AF-4323-520D-BA28-1CDB465AE587}"/>
              </a:ext>
            </a:extLst>
          </p:cNvPr>
          <p:cNvSpPr txBox="1"/>
          <p:nvPr/>
        </p:nvSpPr>
        <p:spPr>
          <a:xfrm>
            <a:off x="5033772" y="25603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Delivery, agendamento, CRM simples</a:t>
            </a:r>
          </a:p>
        </p:txBody>
      </p:sp>
      <p:sp>
        <p:nvSpPr>
          <p:cNvPr id="40" name="Card2">
            <a:extLst>
              <a:ext uri="{FF2B5EF4-FFF2-40B4-BE49-F238E27FC236}">
                <a16:creationId xmlns:a16="http://schemas.microsoft.com/office/drawing/2014/main" id="{F0E2193E-83A1-6EC0-F2D2-A79E497A65A5}"/>
              </a:ext>
            </a:extLst>
          </p:cNvPr>
          <p:cNvSpPr/>
          <p:nvPr/>
        </p:nvSpPr>
        <p:spPr>
          <a:xfrm>
            <a:off x="461772" y="3383280"/>
            <a:ext cx="3931920" cy="15544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rdBar2">
            <a:extLst>
              <a:ext uri="{FF2B5EF4-FFF2-40B4-BE49-F238E27FC236}">
                <a16:creationId xmlns:a16="http://schemas.microsoft.com/office/drawing/2014/main" id="{0200C493-DA37-D1BF-9E78-07C4252D2731}"/>
              </a:ext>
            </a:extLst>
          </p:cNvPr>
          <p:cNvSpPr/>
          <p:nvPr/>
        </p:nvSpPr>
        <p:spPr>
          <a:xfrm>
            <a:off x="461772" y="3383280"/>
            <a:ext cx="73152" cy="155448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rdNum2">
            <a:extLst>
              <a:ext uri="{FF2B5EF4-FFF2-40B4-BE49-F238E27FC236}">
                <a16:creationId xmlns:a16="http://schemas.microsoft.com/office/drawing/2014/main" id="{375AF65B-F765-E422-3208-12250F04EE83}"/>
              </a:ext>
            </a:extLst>
          </p:cNvPr>
          <p:cNvSpPr txBox="1"/>
          <p:nvPr/>
        </p:nvSpPr>
        <p:spPr>
          <a:xfrm>
            <a:off x="736092" y="36118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03</a:t>
            </a:r>
          </a:p>
        </p:txBody>
      </p:sp>
      <p:sp>
        <p:nvSpPr>
          <p:cNvPr id="43" name="CardTit2">
            <a:extLst>
              <a:ext uri="{FF2B5EF4-FFF2-40B4-BE49-F238E27FC236}">
                <a16:creationId xmlns:a16="http://schemas.microsoft.com/office/drawing/2014/main" id="{98EE096B-2E42-6B8A-2B26-5E965507B90C}"/>
              </a:ext>
            </a:extLst>
          </p:cNvPr>
          <p:cNvSpPr txBox="1"/>
          <p:nvPr/>
        </p:nvSpPr>
        <p:spPr>
          <a:xfrm>
            <a:off x="736092" y="39319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Educação</a:t>
            </a:r>
          </a:p>
        </p:txBody>
      </p:sp>
      <p:sp>
        <p:nvSpPr>
          <p:cNvPr id="44" name="CardDesc2">
            <a:extLst>
              <a:ext uri="{FF2B5EF4-FFF2-40B4-BE49-F238E27FC236}">
                <a16:creationId xmlns:a16="http://schemas.microsoft.com/office/drawing/2014/main" id="{1DC30F4F-4A1A-3A9A-3901-C6EBF197283F}"/>
              </a:ext>
            </a:extLst>
          </p:cNvPr>
          <p:cNvSpPr txBox="1"/>
          <p:nvPr/>
        </p:nvSpPr>
        <p:spPr>
          <a:xfrm>
            <a:off x="736092" y="43891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Cursos via app (microlearning)</a:t>
            </a:r>
          </a:p>
        </p:txBody>
      </p:sp>
      <p:sp>
        <p:nvSpPr>
          <p:cNvPr id="45" name="Card3">
            <a:extLst>
              <a:ext uri="{FF2B5EF4-FFF2-40B4-BE49-F238E27FC236}">
                <a16:creationId xmlns:a16="http://schemas.microsoft.com/office/drawing/2014/main" id="{47A45455-B53C-9C6F-FE52-B6596CA1F94C}"/>
              </a:ext>
            </a:extLst>
          </p:cNvPr>
          <p:cNvSpPr/>
          <p:nvPr/>
        </p:nvSpPr>
        <p:spPr>
          <a:xfrm>
            <a:off x="4759452" y="3383280"/>
            <a:ext cx="3931920" cy="15544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ardBar3">
            <a:extLst>
              <a:ext uri="{FF2B5EF4-FFF2-40B4-BE49-F238E27FC236}">
                <a16:creationId xmlns:a16="http://schemas.microsoft.com/office/drawing/2014/main" id="{0DBDC4D3-AB7C-50D7-B220-6F7F4B7FE442}"/>
              </a:ext>
            </a:extLst>
          </p:cNvPr>
          <p:cNvSpPr/>
          <p:nvPr/>
        </p:nvSpPr>
        <p:spPr>
          <a:xfrm>
            <a:off x="4759452" y="3383280"/>
            <a:ext cx="73152" cy="155448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ardNum3">
            <a:extLst>
              <a:ext uri="{FF2B5EF4-FFF2-40B4-BE49-F238E27FC236}">
                <a16:creationId xmlns:a16="http://schemas.microsoft.com/office/drawing/2014/main" id="{3A5B759D-F616-9972-8499-3D8363FF568A}"/>
              </a:ext>
            </a:extLst>
          </p:cNvPr>
          <p:cNvSpPr txBox="1"/>
          <p:nvPr/>
        </p:nvSpPr>
        <p:spPr>
          <a:xfrm>
            <a:off x="5033772" y="36118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04</a:t>
            </a:r>
          </a:p>
        </p:txBody>
      </p:sp>
      <p:sp>
        <p:nvSpPr>
          <p:cNvPr id="48" name="CardTit3">
            <a:extLst>
              <a:ext uri="{FF2B5EF4-FFF2-40B4-BE49-F238E27FC236}">
                <a16:creationId xmlns:a16="http://schemas.microsoft.com/office/drawing/2014/main" id="{0FB3AEC2-CEAB-8878-2C9B-3CC24F645DB0}"/>
              </a:ext>
            </a:extLst>
          </p:cNvPr>
          <p:cNvSpPr txBox="1"/>
          <p:nvPr/>
        </p:nvSpPr>
        <p:spPr>
          <a:xfrm>
            <a:off x="5033772" y="39319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Automação de tarefas diárias</a:t>
            </a:r>
          </a:p>
        </p:txBody>
      </p:sp>
      <p:sp>
        <p:nvSpPr>
          <p:cNvPr id="49" name="CardDesc3">
            <a:extLst>
              <a:ext uri="{FF2B5EF4-FFF2-40B4-BE49-F238E27FC236}">
                <a16:creationId xmlns:a16="http://schemas.microsoft.com/office/drawing/2014/main" id="{39D8ABBB-2A8E-AF23-DC87-7ADCCC19F76D}"/>
              </a:ext>
            </a:extLst>
          </p:cNvPr>
          <p:cNvSpPr txBox="1"/>
          <p:nvPr/>
        </p:nvSpPr>
        <p:spPr>
          <a:xfrm>
            <a:off x="5033772" y="43891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Finanças, organização, saúde</a:t>
            </a:r>
          </a:p>
        </p:txBody>
      </p:sp>
      <p:sp>
        <p:nvSpPr>
          <p:cNvPr id="50" name="KeyBar">
            <a:extLst>
              <a:ext uri="{FF2B5EF4-FFF2-40B4-BE49-F238E27FC236}">
                <a16:creationId xmlns:a16="http://schemas.microsoft.com/office/drawing/2014/main" id="{B7594239-CE87-374E-1BC5-149A5647F7B5}"/>
              </a:ext>
            </a:extLst>
          </p:cNvPr>
          <p:cNvSpPr/>
          <p:nvPr/>
        </p:nvSpPr>
        <p:spPr>
          <a:xfrm>
            <a:off x="461772" y="5300472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1423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KeyText">
            <a:extLst>
              <a:ext uri="{FF2B5EF4-FFF2-40B4-BE49-F238E27FC236}">
                <a16:creationId xmlns:a16="http://schemas.microsoft.com/office/drawing/2014/main" id="{987B310D-9A6D-33E7-3189-6ED8791E81FE}"/>
              </a:ext>
            </a:extLst>
          </p:cNvPr>
          <p:cNvSpPr txBox="1"/>
          <p:nvPr/>
        </p:nvSpPr>
        <p:spPr>
          <a:xfrm>
            <a:off x="461772" y="5455092"/>
            <a:ext cx="82296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endParaRPr lang="pt-BR" sz="1400" b="1" spc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C97CC-AE91-B32D-348D-51FC19E44A61}"/>
              </a:ext>
            </a:extLst>
          </p:cNvPr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0EB72-32DA-D179-46CF-AC1907A605AA}"/>
              </a:ext>
            </a:extLst>
          </p:cNvPr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8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0315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0372" y="1508760"/>
            <a:ext cx="7772400" cy="64008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1800" b="1" spc="0">
                <a:solidFill>
                  <a:srgbClr val="142341"/>
                </a:solidFill>
                <a:latin typeface="Aptos"/>
              </a:rPr>
              <a:t>A IDEIA é importante, mas não é TUDO</a:t>
            </a:r>
          </a:p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1000" b="1" spc="250">
                <a:solidFill>
                  <a:srgbClr val="1E979D"/>
                </a:solidFill>
                <a:latin typeface="Aptos"/>
              </a:rPr>
              <a:t>PROPORÇÃO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O Diferencial - Fórmula do Sucesso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" y="2468880"/>
            <a:ext cx="256032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3200" b="1" spc="0">
                <a:solidFill>
                  <a:srgbClr val="1E979D"/>
                </a:solidFill>
                <a:latin typeface="Aptos"/>
              </a:rPr>
              <a:t>10%</a:t>
            </a:r>
          </a:p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1200" b="1" spc="200">
                <a:solidFill>
                  <a:srgbClr val="222E40"/>
                </a:solidFill>
                <a:latin typeface="Aptos"/>
              </a:rPr>
              <a:t>IDEIA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6412" y="2468880"/>
            <a:ext cx="256032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3200" b="1" spc="0">
                <a:solidFill>
                  <a:srgbClr val="1E979D"/>
                </a:solidFill>
                <a:latin typeface="Aptos"/>
              </a:rPr>
              <a:t>40%</a:t>
            </a:r>
          </a:p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1200" b="1" spc="200">
                <a:solidFill>
                  <a:srgbClr val="222E40"/>
                </a:solidFill>
                <a:latin typeface="Aptos"/>
              </a:rPr>
              <a:t>EXECUÇÃO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2452" y="2468880"/>
            <a:ext cx="256032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3200" b="1" spc="0">
                <a:solidFill>
                  <a:srgbClr val="1E979D"/>
                </a:solidFill>
                <a:latin typeface="Aptos"/>
              </a:rPr>
              <a:t>50%</a:t>
            </a:r>
          </a:p>
          <a:p>
            <a:pPr marL="0" indent="0" algn="ctr">
              <a:lnSpc>
                <a:spcPct val="100000"/>
              </a:lnSpc>
              <a:spcAft>
                <a:spcPts val="300"/>
              </a:spcAft>
            </a:pPr>
            <a:r>
              <a:rPr lang="pt-BR" sz="1200" b="1" spc="100">
                <a:solidFill>
                  <a:srgbClr val="222E40"/>
                </a:solidFill>
                <a:latin typeface="Aptos"/>
              </a:rPr>
              <a:t>MARKETING / MONETIZAÇÃO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" y="4526280"/>
            <a:ext cx="7772400" cy="160020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pt-BR" sz="1400" b="1" spc="0">
                <a:solidFill>
                  <a:srgbClr val="142341"/>
                </a:solidFill>
                <a:latin typeface="Aptos"/>
              </a:rPr>
              <a:t>Diferenciais de um app de sucesso:</a:t>
            </a:r>
          </a:p>
          <a:p>
            <a:pPr marL="342900" indent="-342900" algn="l">
              <a:lnSpc>
                <a:spcPct val="100000"/>
              </a:lnSpc>
              <a:spcAft>
                <a:spcPts val="300"/>
              </a:spcAft>
              <a:buClr>
                <a:srgbClr val="1E979D"/>
              </a:buClr>
              <a:buFont typeface="Arial"/>
              <a:buChar char="•"/>
            </a:pPr>
            <a:r>
              <a:rPr lang="pt-BR" sz="1250" b="0" spc="0">
                <a:solidFill>
                  <a:srgbClr val="222E40"/>
                </a:solidFill>
                <a:latin typeface="Aptos"/>
              </a:rPr>
              <a:t>Entender bem o problema do cliente</a:t>
            </a:r>
          </a:p>
          <a:p>
            <a:pPr marL="342900" indent="-342900" algn="l">
              <a:lnSpc>
                <a:spcPct val="100000"/>
              </a:lnSpc>
              <a:spcAft>
                <a:spcPts val="300"/>
              </a:spcAft>
              <a:buClr>
                <a:srgbClr val="1E979D"/>
              </a:buClr>
              <a:buFont typeface="Arial"/>
              <a:buChar char="•"/>
            </a:pPr>
            <a:r>
              <a:rPr lang="pt-BR" sz="1250" b="0" spc="0">
                <a:solidFill>
                  <a:srgbClr val="222E40"/>
                </a:solidFill>
                <a:latin typeface="Aptos"/>
              </a:rPr>
              <a:t>Boa experiência de usuário (UX)</a:t>
            </a:r>
          </a:p>
          <a:p>
            <a:pPr marL="342900" indent="-342900" algn="l">
              <a:lnSpc>
                <a:spcPct val="100000"/>
              </a:lnSpc>
              <a:spcAft>
                <a:spcPts val="300"/>
              </a:spcAft>
              <a:buClr>
                <a:srgbClr val="1E979D"/>
              </a:buClr>
              <a:buFont typeface="Arial"/>
              <a:buChar char="•"/>
            </a:pPr>
            <a:r>
              <a:rPr lang="pt-BR" sz="1250" b="0" spc="0">
                <a:solidFill>
                  <a:srgbClr val="222E40"/>
                </a:solidFill>
                <a:latin typeface="Aptos"/>
              </a:rPr>
              <a:t>Saber divulgar (marketing digital)</a:t>
            </a:r>
          </a:p>
          <a:p>
            <a:pPr marL="342900" indent="-342900" algn="l">
              <a:lnSpc>
                <a:spcPct val="100000"/>
              </a:lnSpc>
              <a:spcAft>
                <a:spcPts val="300"/>
              </a:spcAft>
              <a:buClr>
                <a:srgbClr val="1E979D"/>
              </a:buClr>
              <a:buFont typeface="Arial"/>
              <a:buChar char="•"/>
            </a:pPr>
            <a:r>
              <a:rPr lang="pt-BR" sz="1250" b="0" spc="0">
                <a:solidFill>
                  <a:srgbClr val="222E40"/>
                </a:solidFill>
                <a:latin typeface="Aptos"/>
              </a:rPr>
              <a:t>Saber monetizar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0182" y="6492240"/>
            <a:ext cx="34233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9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Iniciativas de Apoio - SEBRAE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526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SEBRAE = Servico Brasileiro de Apoio as Micro e Pequenas Empresas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O que oferece: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Consultoria especializada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Cursos de empreendedorismo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Ajuda no planejamento financeiro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Redes de contatos (networking)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Acesso a editais e financiamentos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Site: www.sebrae.com.br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Se empreender, procure SEBRAE!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3593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sultoria a pequenos empreendedores"/>
          <p:cNvPicPr>
            <a:picLocks noChangeAspect="1"/>
          </p:cNvPicPr>
          <p:nvPr/>
        </p:nvPicPr>
        <p:blipFill>
          <a:blip r:embed="rId3"/>
          <a:srcRect t="5612" b="9622"/>
          <a:stretch>
            <a:fillRect/>
          </a:stretch>
        </p:blipFill>
        <p:spPr>
          <a:xfrm>
            <a:off x="5669280" y="1481328"/>
            <a:ext cx="2770632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74286" y="5093208"/>
            <a:ext cx="156061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 dirty="0" err="1">
                <a:solidFill>
                  <a:srgbClr val="606E84"/>
                </a:solidFill>
                <a:latin typeface="Aptos"/>
              </a:rPr>
              <a:t>Figura</a:t>
            </a:r>
            <a:r>
              <a:rPr sz="800" b="0" dirty="0">
                <a:solidFill>
                  <a:srgbClr val="606E84"/>
                </a:solidFill>
                <a:latin typeface="Aptos"/>
              </a:rPr>
              <a:t> </a:t>
            </a:r>
            <a:r>
              <a:rPr lang="pt-BR" sz="800" b="0" dirty="0">
                <a:solidFill>
                  <a:srgbClr val="606E84"/>
                </a:solidFill>
                <a:latin typeface="Aptos"/>
              </a:rPr>
              <a:t>3</a:t>
            </a:r>
            <a:r>
              <a:rPr sz="800" b="0" dirty="0">
                <a:solidFill>
                  <a:srgbClr val="606E84"/>
                </a:solidFill>
                <a:latin typeface="Aptos"/>
              </a:rPr>
              <a:t> • </a:t>
            </a:r>
            <a:r>
              <a:rPr lang="pt-BR" sz="800" b="0" dirty="0">
                <a:solidFill>
                  <a:srgbClr val="606E84"/>
                </a:solidFill>
                <a:latin typeface="Aptos"/>
              </a:rPr>
              <a:t>Apoio ao empreendedor</a:t>
            </a:r>
            <a:endParaRPr sz="800" b="0" dirty="0">
              <a:solidFill>
                <a:srgbClr val="606E8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10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3126753" cy="16312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lang="en-US" sz="700" b="0" dirty="0">
                <a:solidFill>
                  <a:srgbClr val="606E84"/>
                </a:solidFill>
                <a:latin typeface="Aptos"/>
              </a:rPr>
              <a:t>Fonte visual: </a:t>
            </a:r>
            <a:r>
              <a:rPr lang="en-US" sz="700" b="0" dirty="0" err="1">
                <a:solidFill>
                  <a:srgbClr val="606E84"/>
                </a:solidFill>
                <a:latin typeface="Aptos"/>
              </a:rPr>
              <a:t>imagem</a:t>
            </a:r>
            <a:r>
              <a:rPr lang="en-US" sz="700" b="0" dirty="0">
                <a:solidFill>
                  <a:srgbClr val="606E84"/>
                </a:solidFill>
                <a:latin typeface="Aptos"/>
              </a:rPr>
              <a:t> </a:t>
            </a:r>
            <a:r>
              <a:rPr lang="en-US" sz="700" b="0" dirty="0" err="1">
                <a:solidFill>
                  <a:srgbClr val="606E84"/>
                </a:solidFill>
                <a:latin typeface="Aptos"/>
              </a:rPr>
              <a:t>gerada</a:t>
            </a:r>
            <a:r>
              <a:rPr lang="en-US" sz="700" b="0" dirty="0">
                <a:solidFill>
                  <a:srgbClr val="606E84"/>
                </a:solidFill>
                <a:latin typeface="Aptos"/>
              </a:rPr>
              <a:t> </a:t>
            </a:r>
            <a:r>
              <a:rPr lang="en-US" sz="700" b="0" dirty="0" err="1">
                <a:solidFill>
                  <a:srgbClr val="606E84"/>
                </a:solidFill>
                <a:latin typeface="Aptos"/>
              </a:rPr>
              <a:t>por</a:t>
            </a:r>
            <a:r>
              <a:rPr lang="en-US" sz="700" b="0" dirty="0">
                <a:solidFill>
                  <a:srgbClr val="606E84"/>
                </a:solidFill>
                <a:latin typeface="Aptos"/>
              </a:rPr>
              <a:t> </a:t>
            </a:r>
            <a:r>
              <a:rPr lang="en-US" sz="700" b="0" dirty="0" err="1">
                <a:solidFill>
                  <a:srgbClr val="606E84"/>
                </a:solidFill>
                <a:latin typeface="Aptos"/>
              </a:rPr>
              <a:t>inteligência</a:t>
            </a:r>
            <a:r>
              <a:rPr lang="en-US" sz="700" b="0" dirty="0">
                <a:solidFill>
                  <a:srgbClr val="606E84"/>
                </a:solidFill>
                <a:latin typeface="Aptos"/>
              </a:rPr>
              <a:t> artificial (PowerPoint Agent, 2026).</a:t>
            </a:r>
            <a:endParaRPr sz="700" b="0" dirty="0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7321-CB33-50C2-0793-C65D5BE5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B54DA7-149A-E456-01E8-57CA99FCECE3}"/>
              </a:ext>
            </a:extLst>
          </p:cNvPr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9FCE2-87C5-A5A5-2472-FFC5A41B69B5}"/>
              </a:ext>
            </a:extLst>
          </p:cNvPr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D687A-BB17-9055-2C93-8B6032200DD0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E7C18-0E18-35A0-F6F0-C9E6737B2FCB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Como Identificar Oportunidades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Card0">
            <a:extLst>
              <a:ext uri="{FF2B5EF4-FFF2-40B4-BE49-F238E27FC236}">
                <a16:creationId xmlns:a16="http://schemas.microsoft.com/office/drawing/2014/main" id="{31282ACA-55E3-4BA1-1377-DFC99BAF3C3B}"/>
              </a:ext>
            </a:extLst>
          </p:cNvPr>
          <p:cNvSpPr/>
          <p:nvPr/>
        </p:nvSpPr>
        <p:spPr>
          <a:xfrm>
            <a:off x="461772" y="171450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Bar0">
            <a:extLst>
              <a:ext uri="{FF2B5EF4-FFF2-40B4-BE49-F238E27FC236}">
                <a16:creationId xmlns:a16="http://schemas.microsoft.com/office/drawing/2014/main" id="{FFBC4242-7331-CB11-37B3-C86C0946B934}"/>
              </a:ext>
            </a:extLst>
          </p:cNvPr>
          <p:cNvSpPr/>
          <p:nvPr/>
        </p:nvSpPr>
        <p:spPr>
          <a:xfrm>
            <a:off x="461772" y="171450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Num0">
            <a:extLst>
              <a:ext uri="{FF2B5EF4-FFF2-40B4-BE49-F238E27FC236}">
                <a16:creationId xmlns:a16="http://schemas.microsoft.com/office/drawing/2014/main" id="{13DA3DD6-F84F-453D-7D25-97870AB5BF23}"/>
              </a:ext>
            </a:extLst>
          </p:cNvPr>
          <p:cNvSpPr txBox="1"/>
          <p:nvPr/>
        </p:nvSpPr>
        <p:spPr>
          <a:xfrm>
            <a:off x="736092" y="21259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01</a:t>
            </a:r>
          </a:p>
        </p:txBody>
      </p:sp>
      <p:sp>
        <p:nvSpPr>
          <p:cNvPr id="33" name="CardTit0">
            <a:extLst>
              <a:ext uri="{FF2B5EF4-FFF2-40B4-BE49-F238E27FC236}">
                <a16:creationId xmlns:a16="http://schemas.microsoft.com/office/drawing/2014/main" id="{243556A5-706D-D814-183F-44FF7C0240E1}"/>
              </a:ext>
            </a:extLst>
          </p:cNvPr>
          <p:cNvSpPr txBox="1"/>
          <p:nvPr/>
        </p:nvSpPr>
        <p:spPr>
          <a:xfrm>
            <a:off x="736092" y="24460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Observação estratégica</a:t>
            </a:r>
          </a:p>
        </p:txBody>
      </p:sp>
      <p:sp>
        <p:nvSpPr>
          <p:cNvPr id="34" name="CardDesc0">
            <a:extLst>
              <a:ext uri="{FF2B5EF4-FFF2-40B4-BE49-F238E27FC236}">
                <a16:creationId xmlns:a16="http://schemas.microsoft.com/office/drawing/2014/main" id="{1F4A4049-23A3-1B85-E8E5-E422D89AB258}"/>
              </a:ext>
            </a:extLst>
          </p:cNvPr>
          <p:cNvSpPr txBox="1"/>
          <p:nvPr/>
        </p:nvSpPr>
        <p:spPr>
          <a:xfrm>
            <a:off x="736092" y="29032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Acompanhar o mercado, os concorrentes e as novas tecnologias</a:t>
            </a:r>
          </a:p>
        </p:txBody>
      </p:sp>
      <p:sp>
        <p:nvSpPr>
          <p:cNvPr id="35" name="Card1">
            <a:extLst>
              <a:ext uri="{FF2B5EF4-FFF2-40B4-BE49-F238E27FC236}">
                <a16:creationId xmlns:a16="http://schemas.microsoft.com/office/drawing/2014/main" id="{196E7AF8-2898-C20F-8721-25B8C737CC97}"/>
              </a:ext>
            </a:extLst>
          </p:cNvPr>
          <p:cNvSpPr/>
          <p:nvPr/>
        </p:nvSpPr>
        <p:spPr>
          <a:xfrm>
            <a:off x="4759452" y="171450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dBar1">
            <a:extLst>
              <a:ext uri="{FF2B5EF4-FFF2-40B4-BE49-F238E27FC236}">
                <a16:creationId xmlns:a16="http://schemas.microsoft.com/office/drawing/2014/main" id="{F715D8B3-5925-28F7-1168-66E1D4EEBC08}"/>
              </a:ext>
            </a:extLst>
          </p:cNvPr>
          <p:cNvSpPr/>
          <p:nvPr/>
        </p:nvSpPr>
        <p:spPr>
          <a:xfrm>
            <a:off x="4759452" y="171450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Num1">
            <a:extLst>
              <a:ext uri="{FF2B5EF4-FFF2-40B4-BE49-F238E27FC236}">
                <a16:creationId xmlns:a16="http://schemas.microsoft.com/office/drawing/2014/main" id="{35B346A0-3487-3480-7816-53EA94F4DC41}"/>
              </a:ext>
            </a:extLst>
          </p:cNvPr>
          <p:cNvSpPr txBox="1"/>
          <p:nvPr/>
        </p:nvSpPr>
        <p:spPr>
          <a:xfrm>
            <a:off x="5033772" y="21259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02</a:t>
            </a:r>
          </a:p>
        </p:txBody>
      </p:sp>
      <p:sp>
        <p:nvSpPr>
          <p:cNvPr id="38" name="CardTit1">
            <a:extLst>
              <a:ext uri="{FF2B5EF4-FFF2-40B4-BE49-F238E27FC236}">
                <a16:creationId xmlns:a16="http://schemas.microsoft.com/office/drawing/2014/main" id="{2B06C769-3408-4697-24E1-92E16B1A4D89}"/>
              </a:ext>
            </a:extLst>
          </p:cNvPr>
          <p:cNvSpPr txBox="1"/>
          <p:nvPr/>
        </p:nvSpPr>
        <p:spPr>
          <a:xfrm>
            <a:off x="5033772" y="24460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Escuta ativa</a:t>
            </a:r>
          </a:p>
        </p:txBody>
      </p:sp>
      <p:sp>
        <p:nvSpPr>
          <p:cNvPr id="39" name="CardDesc1">
            <a:extLst>
              <a:ext uri="{FF2B5EF4-FFF2-40B4-BE49-F238E27FC236}">
                <a16:creationId xmlns:a16="http://schemas.microsoft.com/office/drawing/2014/main" id="{E6A502AF-4323-520D-BA28-1CDB465AE587}"/>
              </a:ext>
            </a:extLst>
          </p:cNvPr>
          <p:cNvSpPr txBox="1"/>
          <p:nvPr/>
        </p:nvSpPr>
        <p:spPr>
          <a:xfrm>
            <a:off x="5033772" y="29032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Ouvir usuários reais: entrevistas, fóruns e redes sociais</a:t>
            </a:r>
          </a:p>
        </p:txBody>
      </p:sp>
      <p:sp>
        <p:nvSpPr>
          <p:cNvPr id="40" name="Card2">
            <a:extLst>
              <a:ext uri="{FF2B5EF4-FFF2-40B4-BE49-F238E27FC236}">
                <a16:creationId xmlns:a16="http://schemas.microsoft.com/office/drawing/2014/main" id="{F0E2193E-83A1-6EC0-F2D2-A79E497A65A5}"/>
              </a:ext>
            </a:extLst>
          </p:cNvPr>
          <p:cNvSpPr/>
          <p:nvPr/>
        </p:nvSpPr>
        <p:spPr>
          <a:xfrm>
            <a:off x="461772" y="390906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rdBar2">
            <a:extLst>
              <a:ext uri="{FF2B5EF4-FFF2-40B4-BE49-F238E27FC236}">
                <a16:creationId xmlns:a16="http://schemas.microsoft.com/office/drawing/2014/main" id="{0200C493-DA37-D1BF-9E78-07C4252D2731}"/>
              </a:ext>
            </a:extLst>
          </p:cNvPr>
          <p:cNvSpPr/>
          <p:nvPr/>
        </p:nvSpPr>
        <p:spPr>
          <a:xfrm>
            <a:off x="461772" y="390906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rdNum2">
            <a:extLst>
              <a:ext uri="{FF2B5EF4-FFF2-40B4-BE49-F238E27FC236}">
                <a16:creationId xmlns:a16="http://schemas.microsoft.com/office/drawing/2014/main" id="{375AF65B-F765-E422-3208-12250F04EE83}"/>
              </a:ext>
            </a:extLst>
          </p:cNvPr>
          <p:cNvSpPr txBox="1"/>
          <p:nvPr/>
        </p:nvSpPr>
        <p:spPr>
          <a:xfrm>
            <a:off x="736092" y="432054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03</a:t>
            </a:r>
          </a:p>
        </p:txBody>
      </p:sp>
      <p:sp>
        <p:nvSpPr>
          <p:cNvPr id="43" name="CardTit2">
            <a:extLst>
              <a:ext uri="{FF2B5EF4-FFF2-40B4-BE49-F238E27FC236}">
                <a16:creationId xmlns:a16="http://schemas.microsoft.com/office/drawing/2014/main" id="{98EE096B-2E42-6B8A-2B26-5E965507B90C}"/>
              </a:ext>
            </a:extLst>
          </p:cNvPr>
          <p:cNvSpPr txBox="1"/>
          <p:nvPr/>
        </p:nvSpPr>
        <p:spPr>
          <a:xfrm>
            <a:off x="736092" y="46405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Análise de dados</a:t>
            </a:r>
          </a:p>
        </p:txBody>
      </p:sp>
      <p:sp>
        <p:nvSpPr>
          <p:cNvPr id="44" name="CardDesc2">
            <a:extLst>
              <a:ext uri="{FF2B5EF4-FFF2-40B4-BE49-F238E27FC236}">
                <a16:creationId xmlns:a16="http://schemas.microsoft.com/office/drawing/2014/main" id="{1DC30F4F-4A1A-3A9A-3901-C6EBF197283F}"/>
              </a:ext>
            </a:extLst>
          </p:cNvPr>
          <p:cNvSpPr txBox="1"/>
          <p:nvPr/>
        </p:nvSpPr>
        <p:spPr>
          <a:xfrm>
            <a:off x="736092" y="50977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Avaliar demanda, tendências e comportamento de uso</a:t>
            </a:r>
          </a:p>
        </p:txBody>
      </p:sp>
      <p:sp>
        <p:nvSpPr>
          <p:cNvPr id="45" name="Card3">
            <a:extLst>
              <a:ext uri="{FF2B5EF4-FFF2-40B4-BE49-F238E27FC236}">
                <a16:creationId xmlns:a16="http://schemas.microsoft.com/office/drawing/2014/main" id="{47A45455-B53C-9C6F-FE52-B6596CA1F94C}"/>
              </a:ext>
            </a:extLst>
          </p:cNvPr>
          <p:cNvSpPr/>
          <p:nvPr/>
        </p:nvSpPr>
        <p:spPr>
          <a:xfrm>
            <a:off x="4759452" y="390906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ardBar3">
            <a:extLst>
              <a:ext uri="{FF2B5EF4-FFF2-40B4-BE49-F238E27FC236}">
                <a16:creationId xmlns:a16="http://schemas.microsoft.com/office/drawing/2014/main" id="{0DBDC4D3-AB7C-50D7-B220-6F7F4B7FE442}"/>
              </a:ext>
            </a:extLst>
          </p:cNvPr>
          <p:cNvSpPr/>
          <p:nvPr/>
        </p:nvSpPr>
        <p:spPr>
          <a:xfrm>
            <a:off x="4759452" y="390906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ardNum3">
            <a:extLst>
              <a:ext uri="{FF2B5EF4-FFF2-40B4-BE49-F238E27FC236}">
                <a16:creationId xmlns:a16="http://schemas.microsoft.com/office/drawing/2014/main" id="{3A5B759D-F616-9972-8499-3D8363FF568A}"/>
              </a:ext>
            </a:extLst>
          </p:cNvPr>
          <p:cNvSpPr txBox="1"/>
          <p:nvPr/>
        </p:nvSpPr>
        <p:spPr>
          <a:xfrm>
            <a:off x="5033772" y="432054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04</a:t>
            </a:r>
          </a:p>
        </p:txBody>
      </p:sp>
      <p:sp>
        <p:nvSpPr>
          <p:cNvPr id="48" name="CardTit3">
            <a:extLst>
              <a:ext uri="{FF2B5EF4-FFF2-40B4-BE49-F238E27FC236}">
                <a16:creationId xmlns:a16="http://schemas.microsoft.com/office/drawing/2014/main" id="{0FB3AEC2-CEAB-8878-2C9B-3CC24F645DB0}"/>
              </a:ext>
            </a:extLst>
          </p:cNvPr>
          <p:cNvSpPr txBox="1"/>
          <p:nvPr/>
        </p:nvSpPr>
        <p:spPr>
          <a:xfrm>
            <a:off x="5033772" y="46405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Senso de timing</a:t>
            </a:r>
          </a:p>
        </p:txBody>
      </p:sp>
      <p:sp>
        <p:nvSpPr>
          <p:cNvPr id="49" name="CardDesc3">
            <a:extLst>
              <a:ext uri="{FF2B5EF4-FFF2-40B4-BE49-F238E27FC236}">
                <a16:creationId xmlns:a16="http://schemas.microsoft.com/office/drawing/2014/main" id="{39D8ABBB-2A8E-AF23-DC87-7ADCCC19F76D}"/>
              </a:ext>
            </a:extLst>
          </p:cNvPr>
          <p:cNvSpPr txBox="1"/>
          <p:nvPr/>
        </p:nvSpPr>
        <p:spPr>
          <a:xfrm>
            <a:off x="5033772" y="50977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Reconhecer o momento certo de lançar a solução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C97CC-AE91-B32D-348D-51FC19E44A61}"/>
              </a:ext>
            </a:extLst>
          </p:cNvPr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0EB72-32DA-D179-46CF-AC1907A605AA}"/>
              </a:ext>
            </a:extLst>
          </p:cNvPr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11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12413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Três Formas de Encontrar Oportunidades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2484120" cy="4251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220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1. Identifique problemas não resolvidos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2209800" cy="32461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Fale com usuários reais: entrevistas, fóruns, redes sociais e análise de concorrentes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Observe ineficiências: sistemas legados e soluções improvisadas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Se muita gente reclama da mesma coisa, pode haver oportunidade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4512" y="1645920"/>
            <a:ext cx="2484120" cy="4251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1672" y="1783080"/>
            <a:ext cx="220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2. Analise tendências de mercado e tecnologia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1672" y="2514600"/>
            <a:ext cx="2209800" cy="32461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1200" b="0">
                <a:solidFill>
                  <a:srgbClr val="222E40"/>
                </a:solidFill>
                <a:latin typeface="Aptos"/>
              </a:rPr>
              <a:t>Novas tecnologias: IA, blockchain, realidade aumentada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1200" b="0">
                <a:solidFill>
                  <a:srgbClr val="222E40"/>
                </a:solidFill>
                <a:latin typeface="Aptos"/>
              </a:rPr>
              <a:t>Mudanças regulatórias: LGPD e GDPR criam demanda por compliance tech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1200" b="0">
                <a:solidFill>
                  <a:srgbClr val="222E40"/>
                </a:solidFill>
                <a:latin typeface="Aptos"/>
              </a:rPr>
              <a:t>Novos comportamentos: o trabalho remoto impulsionou Zoom, Meet e Notion</a:t>
            </a:r>
            <a:endParaRPr lang="pt-BR" sz="1050" b="0">
              <a:solidFill>
                <a:srgbClr val="142341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47232" y="1645920"/>
            <a:ext cx="2484120" cy="4251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84392" y="1783080"/>
            <a:ext cx="2209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3. Reflita sobre sua experiência pessoal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4392" y="2514600"/>
            <a:ext cx="2209800" cy="32461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Muitos negócios de software nasceram de alguém resolvendo o próprio problema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Exemplo: o Slack surgiu da equipe da Tiny Speck tentando se comunicar melhor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12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981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O Que é um Modelo de Negócios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É a forma como uma empresa cria, entrega e captura valor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Descreve como a empresa funciona, como ganha dinheiro e como se sustenta no mercado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Ele responde a perguntas como: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Quem são os clientes?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Qual problema da vida deles a empresa resolve?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Como ela entrega essa solução (produto ou serviço)?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Como ela gera receita?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Quais são os principais custos e canais de venda?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Quais são os recursos e parceiros necessários?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13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76653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Modelo de Negócios na Prática: App de Delivery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0372" y="1691640"/>
            <a:ext cx="2560320" cy="18973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532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Clientes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32" y="2286000"/>
            <a:ext cx="2286000" cy="109728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Pessoas que querem pedir comida e restaurantes que querem vender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6412" y="1691640"/>
            <a:ext cx="2560320" cy="18973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3572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Valor oferecido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33572" y="2286000"/>
            <a:ext cx="2286000" cy="109728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1200" b="0">
                <a:solidFill>
                  <a:srgbClr val="222E40"/>
                </a:solidFill>
                <a:latin typeface="Aptos"/>
              </a:rPr>
              <a:t>Comodidade para quem quer pedir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1200" b="0">
                <a:solidFill>
                  <a:srgbClr val="222E40"/>
                </a:solidFill>
                <a:latin typeface="Aptos"/>
              </a:rPr>
              <a:t>Visibilidade e vendas para os restaurantes</a:t>
            </a:r>
            <a:endParaRPr lang="pt-BR" sz="1050" b="0">
              <a:solidFill>
                <a:srgbClr val="142341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02452" y="1691640"/>
            <a:ext cx="2560320" cy="18973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9612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Canais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9612" y="2286000"/>
            <a:ext cx="2286000" cy="109728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Aplicativo mobile e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" y="3954780"/>
            <a:ext cx="2560320" cy="18973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" y="41376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Fontes de receita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532" y="4549140"/>
            <a:ext cx="2286000" cy="109728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>
                <a:solidFill>
                  <a:srgbClr val="222E40"/>
                </a:solidFill>
                <a:latin typeface="Aptos"/>
              </a:rPr>
              <a:t>Taxas dos restaurantes, frete e anúncios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6412" y="3954780"/>
            <a:ext cx="2560320" cy="18973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33572" y="41376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66C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Recursos-chave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33572" y="4549140"/>
            <a:ext cx="2286000" cy="109728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1200" b="0">
                <a:solidFill>
                  <a:srgbClr val="222E40"/>
                </a:solidFill>
                <a:latin typeface="Aptos"/>
              </a:rPr>
              <a:t>Tecnologia e base de usuários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1200" b="0">
                <a:solidFill>
                  <a:srgbClr val="222E40"/>
                </a:solidFill>
                <a:latin typeface="Aptos"/>
              </a:rPr>
              <a:t>Parcerias com restaurantes e entregadores</a:t>
            </a:r>
            <a:endParaRPr lang="pt-BR" sz="1050" b="0">
              <a:solidFill>
                <a:srgbClr val="14234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14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52657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Google AppSheet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PLATAFORMA NO-CODE para criar aplicativos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Caracteristicas: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• Criacao VISUAL (arrastar e soltar)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• SEM programacao tradicional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• Funciona Android E iOS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• Integra Google Sheets, Firebase, APIs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• Ferramenta do GOOGLE (confiavel)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Atende+ foi desenvolvido com AppSheet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Google AppSheet - O que eh?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Plataforma NO-CODE da Google para criar aplicativos</a:t>
            </a:r>
          </a:p>
        </p:txBody>
      </p:sp>
      <p:sp>
        <p:nvSpPr>
          <p:cNvPr id="6" name="Trapezoid 5"/>
          <p:cNvSpPr/>
          <p:nvPr/>
        </p:nvSpPr>
        <p:spPr>
          <a:xfrm>
            <a:off x="548640" y="2697480"/>
            <a:ext cx="411480" cy="41148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Criacao VISUAL: Arrastar e soltar</a:t>
            </a:r>
          </a:p>
        </p:txBody>
      </p:sp>
      <p:sp>
        <p:nvSpPr>
          <p:cNvPr id="8" name="Trapezoid 7"/>
          <p:cNvSpPr/>
          <p:nvPr/>
        </p:nvSpPr>
        <p:spPr>
          <a:xfrm>
            <a:off x="548640" y="3566160"/>
            <a:ext cx="411480" cy="41148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8444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0066CC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SEM programacao: Codigo tradicional nao necessario</a:t>
            </a:r>
          </a:p>
        </p:txBody>
      </p:sp>
      <p:sp>
        <p:nvSpPr>
          <p:cNvPr id="10" name="Trapezoid 9"/>
          <p:cNvSpPr/>
          <p:nvPr/>
        </p:nvSpPr>
        <p:spPr>
          <a:xfrm>
            <a:off x="548640" y="4434840"/>
            <a:ext cx="411480" cy="41148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80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Funciona em: Android E iOS</a:t>
            </a:r>
          </a:p>
        </p:txBody>
      </p:sp>
      <p:sp>
        <p:nvSpPr>
          <p:cNvPr id="12" name="Trapezoid 11"/>
          <p:cNvSpPr/>
          <p:nvPr/>
        </p:nvSpPr>
        <p:spPr>
          <a:xfrm>
            <a:off x="548640" y="5303519"/>
            <a:ext cx="411480" cy="41148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492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66CC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Integra com: Google Sheets, Firebase,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1444752"/>
            <a:ext cx="2362200" cy="4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0" y="5900000"/>
            <a:ext cx="2362200" cy="201168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4 • Google AppSheet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15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053328"/>
            <a:ext cx="3402470" cy="16312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lang="en-US" sz="700" b="0">
                <a:solidFill>
                  <a:srgbClr val="606E84"/>
                </a:solidFill>
                <a:latin typeface="Aptos"/>
              </a:rPr>
              <a:t>Fonte visual: Material Didático AppClicks – Disciplina 1 – PRONATEC/IFSP (IFCE, 2025).</a:t>
            </a:r>
            <a:endParaRPr sz="700" b="0">
              <a:solidFill>
                <a:srgbClr val="606E84"/>
              </a:solidFill>
              <a:latin typeface="Aptos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33A83D7-3A5C-AE36-2CBD-0E67D76936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0" b="9368"/>
          <a:stretch>
            <a:fillRect/>
          </a:stretch>
        </p:blipFill>
        <p:spPr>
          <a:xfrm>
            <a:off x="6096000" y="1444752"/>
            <a:ext cx="2362200" cy="44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Os Planos do AppSheet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A escolha do plano define três coisas: como o usuário acessa, onde ficam os dados e o que o app consegue fazer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1- STARTER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Acesso individual com login, dados em planilhas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2- PUBLISHER PRO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Aplicativo público, sem login, para muitos usuários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3- CORE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Padrão para sistemas comerciais, com permissões e automações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4- ENTERPRISE PLUS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Escala, bancos relacionais e integrações complexas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16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60524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Plano Starter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A REGRA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Cobrança por usuário; cada pessoa faz login com o próprio e-mail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O BANCO DE DADOS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Limitado a planilhas, como o Google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Sheets</a:t>
            </a:r>
            <a:endParaRPr lang="pt-BR" sz="1600" dirty="0">
              <a:solidFill>
                <a:srgbClr val="222E40"/>
              </a:solidFill>
              <a:latin typeface="Aptos"/>
            </a:endParaRP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QUE TIPO DE APLICAÇÃO FAZER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Aplicativos internos simples para equipes pequenas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Controle de estoque de filamentos (PLA, PETG, TPU) e peças de impressora 3D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Registro de presença e horas de estagiários e alunos</a:t>
            </a:r>
          </a:p>
          <a:p>
            <a:pPr marL="0" indent="0" algn="just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Cada pessoa acessa, registra sua ação com segurança e o sistema sabe quem fez o quê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17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84480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Plano Publisher Pro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A REGRA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Valor fixo pelo aplicativo, com milhares de usuários sem custo adicional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Não possui tela de login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O BANCO DE DADOS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Planilhas do Google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Sheets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, com todos acessando a mesma base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QUE TIPO DE APLICAÇÃO FAZER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Aplicativos sem dados sensíveis, em que a privacidade não é exigida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Guia para visitantes de uma feira de tecnologia, com cronogramas e mapas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Catálogo público de componentes de robótica disponíveis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Formulário de ouvidoria anônimo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18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26425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Plano Core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É o padrão para a maioria das empresas e sistemas B2B, e já vem incluído nas assinaturas corporativas do Google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Workspace</a:t>
            </a:r>
            <a:endParaRPr lang="pt-BR" sz="1600" dirty="0">
              <a:solidFill>
                <a:srgbClr val="222E40"/>
              </a:solidFill>
              <a:latin typeface="Aptos"/>
            </a:endParaRP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A REGRA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Cobrança por usuário logado, ou sem custo extra para quem já tem o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Workspace</a:t>
            </a:r>
            <a:endParaRPr lang="pt-BR" sz="1600" dirty="0">
              <a:solidFill>
                <a:srgbClr val="222E40"/>
              </a:solidFill>
              <a:latin typeface="Aptos"/>
            </a:endParaRP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O BANCO DE DADOS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Planilhas, com capacidade de automações nativas bem mais complexas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QUE TIPO DE APLICAÇÃO FAZER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Aplicativos comerciais robustos e seguros, como o Atende+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Gestão completa de clientes, envio automático de e-mails e leitura de código de barras ou QR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Code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 pelo celular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Permissões por perfil: o funcionário não vê o faturamento que só o gerente acessa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19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02039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5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Plano Enterprise Plus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79"/>
            <a:ext cx="7315200" cy="4485373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Plano de alta performance, para operações que exigem escala de dados e integrações complexas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A REGRA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Cobrança por usuário, destravando todo o potencial técnico da plataforma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O BANCO DE DADOS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Permite deixar o Google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Sheets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 e conectar bancos relacionais em nuvem, como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Supabase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 ou servidores SQL dedicados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QUE TIPO DE APLICAÇÃO FAZER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Sistemas empresariais de larga escala integrados a outras plataformas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Registro de dados em campo disparando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webhooks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 para ferramentas como o n8n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Fluxos com APIs de inteligência artificial e processos para licitações e leilões eletrônicos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  O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 deixa de ser uma tela para planilhas e vira a interface de uma arquitetura de software avançada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20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55122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Instalacao - Passo 1: Download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526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ANDROID: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1. Abra Google Play Store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2. Procure: 'Google AppSheet'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3. Clique 'INSTALAR'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iOS: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1. Abra Apple App Store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2. Procure: 'Google AppSheet'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3. Clique 'OBTER'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Duvidas? Levante a mao!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4375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appstore_6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260" y="1481328"/>
            <a:ext cx="2226670" cy="43020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36002" y="5920000"/>
            <a:ext cx="1437188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5</a:t>
            </a:r>
            <a:r>
              <a:rPr sz="800" b="0">
                <a:solidFill>
                  <a:srgbClr val="606E84"/>
                </a:solidFill>
                <a:latin typeface="Aptos"/>
              </a:rPr>
              <a:t> • App Store / AppSheet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21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Instalacao - Passo 2: Conta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526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 err="1">
                <a:solidFill>
                  <a:srgbClr val="222E40"/>
                </a:solidFill>
                <a:latin typeface="Aptos"/>
              </a:rPr>
              <a:t>Opcao</a:t>
            </a:r>
            <a:r>
              <a:rPr sz="1600" dirty="0">
                <a:solidFill>
                  <a:srgbClr val="222E40"/>
                </a:solidFill>
                <a:latin typeface="Aptos"/>
              </a:rPr>
              <a:t> A - Conta Google: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Clique 'Sign in with Google'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Escolha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sua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conta</a:t>
            </a: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Pronto!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 err="1">
                <a:solidFill>
                  <a:srgbClr val="222E40"/>
                </a:solidFill>
                <a:latin typeface="Aptos"/>
              </a:rPr>
              <a:t>Opcao</a:t>
            </a:r>
            <a:r>
              <a:rPr sz="1600" dirty="0">
                <a:solidFill>
                  <a:srgbClr val="222E40"/>
                </a:solidFill>
                <a:latin typeface="Aptos"/>
              </a:rPr>
              <a:t> B -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Criar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conta</a:t>
            </a:r>
            <a:r>
              <a:rPr sz="1600" dirty="0">
                <a:solidFill>
                  <a:srgbClr val="222E40"/>
                </a:solidFill>
                <a:latin typeface="Aptos"/>
              </a:rPr>
              <a:t>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Clique 'Create account'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Preencha</a:t>
            </a:r>
            <a:r>
              <a:rPr sz="1600" dirty="0">
                <a:solidFill>
                  <a:srgbClr val="222E40"/>
                </a:solidFill>
                <a:latin typeface="Aptos"/>
              </a:rPr>
              <a:t> email e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senha</a:t>
            </a: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Confirme</a:t>
            </a:r>
            <a:r>
              <a:rPr sz="1600" dirty="0">
                <a:solidFill>
                  <a:srgbClr val="222E40"/>
                </a:solidFill>
                <a:latin typeface="Aptos"/>
              </a:rPr>
              <a:t> email (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pode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levar</a:t>
            </a:r>
            <a:r>
              <a:rPr sz="1600" dirty="0">
                <a:solidFill>
                  <a:srgbClr val="222E40"/>
                </a:solidFill>
                <a:latin typeface="Aptos"/>
              </a:rPr>
              <a:t> 1-2 min)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IMPORTANTE: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Guarde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sua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senha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600" dirty="0">
                <a:solidFill>
                  <a:srgbClr val="222E40"/>
                </a:solidFill>
                <a:latin typeface="Aptos"/>
              </a:rPr>
              <a:t> local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seguro</a:t>
            </a:r>
            <a:endParaRPr sz="1600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4375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appstore_620.jpg"/>
          <p:cNvPicPr>
            <a:picLocks noChangeAspect="1"/>
          </p:cNvPicPr>
          <p:nvPr/>
        </p:nvPicPr>
        <p:blipFill>
          <a:blip r:embed="rId3"/>
          <a:srcRect t="4000" b="17700"/>
          <a:stretch>
            <a:fillRect/>
          </a:stretch>
        </p:blipFill>
        <p:spPr>
          <a:xfrm>
            <a:off x="5632704" y="1481328"/>
            <a:ext cx="2843784" cy="43020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7417" y="5920000"/>
            <a:ext cx="1634357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6</a:t>
            </a:r>
            <a:r>
              <a:rPr sz="800" b="0">
                <a:solidFill>
                  <a:srgbClr val="606E84"/>
                </a:solidFill>
                <a:latin typeface="Aptos"/>
              </a:rPr>
              <a:t> • Conta e acesso AppSheet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22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Atende+ : O Aplicativo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Desenvolvido pelo IFCE – Campus Fortaleza, no projeto Pronatec Empreender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Foco na organização de atendimentos, agendamentos e gestão de serviços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Solução completa para a rotina de prestadores de serviços: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Agendamento de atendimentos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Controle de pagamentos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Notificações automatizadas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Integração com ferramentas como o WhatsApp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Mais organização, praticidade e eficiência entre prestador e cliente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Iniciativa de inovação tecnológica aplicada ao empreendedorismo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23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19826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7321-CB33-50C2-0793-C65D5BE5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B54DA7-149A-E456-01E8-57CA99FCECE3}"/>
              </a:ext>
            </a:extLst>
          </p:cNvPr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9FCE2-87C5-A5A5-2472-FFC5A41B69B5}"/>
              </a:ext>
            </a:extLst>
          </p:cNvPr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D687A-BB17-9055-2C93-8B6032200DD0}"/>
              </a:ext>
            </a:extLst>
          </p:cNvPr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E7C18-0E18-35A0-F6F0-C9E6737B2FCB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Atende+ : Recursos Principais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Card0">
            <a:extLst>
              <a:ext uri="{FF2B5EF4-FFF2-40B4-BE49-F238E27FC236}">
                <a16:creationId xmlns:a16="http://schemas.microsoft.com/office/drawing/2014/main" id="{31282ACA-55E3-4BA1-1377-DFC99BAF3C3B}"/>
              </a:ext>
            </a:extLst>
          </p:cNvPr>
          <p:cNvSpPr/>
          <p:nvPr/>
        </p:nvSpPr>
        <p:spPr>
          <a:xfrm>
            <a:off x="461772" y="171450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Bar0">
            <a:extLst>
              <a:ext uri="{FF2B5EF4-FFF2-40B4-BE49-F238E27FC236}">
                <a16:creationId xmlns:a16="http://schemas.microsoft.com/office/drawing/2014/main" id="{FFBC4242-7331-CB11-37B3-C86C0946B934}"/>
              </a:ext>
            </a:extLst>
          </p:cNvPr>
          <p:cNvSpPr/>
          <p:nvPr/>
        </p:nvSpPr>
        <p:spPr>
          <a:xfrm>
            <a:off x="461772" y="171450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Num0">
            <a:extLst>
              <a:ext uri="{FF2B5EF4-FFF2-40B4-BE49-F238E27FC236}">
                <a16:creationId xmlns:a16="http://schemas.microsoft.com/office/drawing/2014/main" id="{13DA3DD6-F84F-453D-7D25-97870AB5BF23}"/>
              </a:ext>
            </a:extLst>
          </p:cNvPr>
          <p:cNvSpPr txBox="1"/>
          <p:nvPr/>
        </p:nvSpPr>
        <p:spPr>
          <a:xfrm>
            <a:off x="736092" y="21259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01</a:t>
            </a:r>
          </a:p>
        </p:txBody>
      </p:sp>
      <p:sp>
        <p:nvSpPr>
          <p:cNvPr id="33" name="CardTit0">
            <a:extLst>
              <a:ext uri="{FF2B5EF4-FFF2-40B4-BE49-F238E27FC236}">
                <a16:creationId xmlns:a16="http://schemas.microsoft.com/office/drawing/2014/main" id="{243556A5-706D-D814-183F-44FF7C0240E1}"/>
              </a:ext>
            </a:extLst>
          </p:cNvPr>
          <p:cNvSpPr txBox="1"/>
          <p:nvPr/>
        </p:nvSpPr>
        <p:spPr>
          <a:xfrm>
            <a:off x="736092" y="24460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Agendamento</a:t>
            </a:r>
          </a:p>
        </p:txBody>
      </p:sp>
      <p:sp>
        <p:nvSpPr>
          <p:cNvPr id="34" name="CardDesc0">
            <a:extLst>
              <a:ext uri="{FF2B5EF4-FFF2-40B4-BE49-F238E27FC236}">
                <a16:creationId xmlns:a16="http://schemas.microsoft.com/office/drawing/2014/main" id="{1F4A4049-23A3-1B85-E8E5-E422D89AB258}"/>
              </a:ext>
            </a:extLst>
          </p:cNvPr>
          <p:cNvSpPr txBox="1"/>
          <p:nvPr/>
        </p:nvSpPr>
        <p:spPr>
          <a:xfrm>
            <a:off x="736092" y="29032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Registro de dia, horário, serviço e local combinados com o cliente</a:t>
            </a:r>
          </a:p>
        </p:txBody>
      </p:sp>
      <p:sp>
        <p:nvSpPr>
          <p:cNvPr id="35" name="Card1">
            <a:extLst>
              <a:ext uri="{FF2B5EF4-FFF2-40B4-BE49-F238E27FC236}">
                <a16:creationId xmlns:a16="http://schemas.microsoft.com/office/drawing/2014/main" id="{196E7AF8-2898-C20F-8721-25B8C737CC97}"/>
              </a:ext>
            </a:extLst>
          </p:cNvPr>
          <p:cNvSpPr/>
          <p:nvPr/>
        </p:nvSpPr>
        <p:spPr>
          <a:xfrm>
            <a:off x="4759452" y="171450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dBar1">
            <a:extLst>
              <a:ext uri="{FF2B5EF4-FFF2-40B4-BE49-F238E27FC236}">
                <a16:creationId xmlns:a16="http://schemas.microsoft.com/office/drawing/2014/main" id="{F715D8B3-5925-28F7-1168-66E1D4EEBC08}"/>
              </a:ext>
            </a:extLst>
          </p:cNvPr>
          <p:cNvSpPr/>
          <p:nvPr/>
        </p:nvSpPr>
        <p:spPr>
          <a:xfrm>
            <a:off x="4759452" y="171450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Num1">
            <a:extLst>
              <a:ext uri="{FF2B5EF4-FFF2-40B4-BE49-F238E27FC236}">
                <a16:creationId xmlns:a16="http://schemas.microsoft.com/office/drawing/2014/main" id="{35B346A0-3487-3480-7816-53EA94F4DC41}"/>
              </a:ext>
            </a:extLst>
          </p:cNvPr>
          <p:cNvSpPr txBox="1"/>
          <p:nvPr/>
        </p:nvSpPr>
        <p:spPr>
          <a:xfrm>
            <a:off x="5033772" y="212598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02</a:t>
            </a:r>
          </a:p>
        </p:txBody>
      </p:sp>
      <p:sp>
        <p:nvSpPr>
          <p:cNvPr id="38" name="CardTit1">
            <a:extLst>
              <a:ext uri="{FF2B5EF4-FFF2-40B4-BE49-F238E27FC236}">
                <a16:creationId xmlns:a16="http://schemas.microsoft.com/office/drawing/2014/main" id="{2B06C769-3408-4697-24E1-92E16B1A4D89}"/>
              </a:ext>
            </a:extLst>
          </p:cNvPr>
          <p:cNvSpPr txBox="1"/>
          <p:nvPr/>
        </p:nvSpPr>
        <p:spPr>
          <a:xfrm>
            <a:off x="5033772" y="24460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Controle de pagamentos</a:t>
            </a:r>
          </a:p>
        </p:txBody>
      </p:sp>
      <p:sp>
        <p:nvSpPr>
          <p:cNvPr id="39" name="CardDesc1">
            <a:extLst>
              <a:ext uri="{FF2B5EF4-FFF2-40B4-BE49-F238E27FC236}">
                <a16:creationId xmlns:a16="http://schemas.microsoft.com/office/drawing/2014/main" id="{E6A502AF-4323-520D-BA28-1CDB465AE587}"/>
              </a:ext>
            </a:extLst>
          </p:cNvPr>
          <p:cNvSpPr txBox="1"/>
          <p:nvPr/>
        </p:nvSpPr>
        <p:spPr>
          <a:xfrm>
            <a:off x="5033772" y="290322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Acompanhamento de valores e da situação de cada atendimento</a:t>
            </a:r>
          </a:p>
        </p:txBody>
      </p:sp>
      <p:sp>
        <p:nvSpPr>
          <p:cNvPr id="40" name="Card2">
            <a:extLst>
              <a:ext uri="{FF2B5EF4-FFF2-40B4-BE49-F238E27FC236}">
                <a16:creationId xmlns:a16="http://schemas.microsoft.com/office/drawing/2014/main" id="{F0E2193E-83A1-6EC0-F2D2-A79E497A65A5}"/>
              </a:ext>
            </a:extLst>
          </p:cNvPr>
          <p:cNvSpPr/>
          <p:nvPr/>
        </p:nvSpPr>
        <p:spPr>
          <a:xfrm>
            <a:off x="461772" y="390906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rdBar2">
            <a:extLst>
              <a:ext uri="{FF2B5EF4-FFF2-40B4-BE49-F238E27FC236}">
                <a16:creationId xmlns:a16="http://schemas.microsoft.com/office/drawing/2014/main" id="{0200C493-DA37-D1BF-9E78-07C4252D2731}"/>
              </a:ext>
            </a:extLst>
          </p:cNvPr>
          <p:cNvSpPr/>
          <p:nvPr/>
        </p:nvSpPr>
        <p:spPr>
          <a:xfrm>
            <a:off x="461772" y="390906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rdNum2">
            <a:extLst>
              <a:ext uri="{FF2B5EF4-FFF2-40B4-BE49-F238E27FC236}">
                <a16:creationId xmlns:a16="http://schemas.microsoft.com/office/drawing/2014/main" id="{375AF65B-F765-E422-3208-12250F04EE83}"/>
              </a:ext>
            </a:extLst>
          </p:cNvPr>
          <p:cNvSpPr txBox="1"/>
          <p:nvPr/>
        </p:nvSpPr>
        <p:spPr>
          <a:xfrm>
            <a:off x="736092" y="432054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03</a:t>
            </a:r>
          </a:p>
        </p:txBody>
      </p:sp>
      <p:sp>
        <p:nvSpPr>
          <p:cNvPr id="43" name="CardTit2">
            <a:extLst>
              <a:ext uri="{FF2B5EF4-FFF2-40B4-BE49-F238E27FC236}">
                <a16:creationId xmlns:a16="http://schemas.microsoft.com/office/drawing/2014/main" id="{98EE096B-2E42-6B8A-2B26-5E965507B90C}"/>
              </a:ext>
            </a:extLst>
          </p:cNvPr>
          <p:cNvSpPr txBox="1"/>
          <p:nvPr/>
        </p:nvSpPr>
        <p:spPr>
          <a:xfrm>
            <a:off x="736092" y="46405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Notificações</a:t>
            </a:r>
          </a:p>
        </p:txBody>
      </p:sp>
      <p:sp>
        <p:nvSpPr>
          <p:cNvPr id="44" name="CardDesc2">
            <a:extLst>
              <a:ext uri="{FF2B5EF4-FFF2-40B4-BE49-F238E27FC236}">
                <a16:creationId xmlns:a16="http://schemas.microsoft.com/office/drawing/2014/main" id="{1DC30F4F-4A1A-3A9A-3901-C6EBF197283F}"/>
              </a:ext>
            </a:extLst>
          </p:cNvPr>
          <p:cNvSpPr txBox="1"/>
          <p:nvPr/>
        </p:nvSpPr>
        <p:spPr>
          <a:xfrm>
            <a:off x="736092" y="50977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Avisos automatizados para o prestador e para o cliente</a:t>
            </a:r>
          </a:p>
        </p:txBody>
      </p:sp>
      <p:sp>
        <p:nvSpPr>
          <p:cNvPr id="45" name="Card3">
            <a:extLst>
              <a:ext uri="{FF2B5EF4-FFF2-40B4-BE49-F238E27FC236}">
                <a16:creationId xmlns:a16="http://schemas.microsoft.com/office/drawing/2014/main" id="{47A45455-B53C-9C6F-FE52-B6596CA1F94C}"/>
              </a:ext>
            </a:extLst>
          </p:cNvPr>
          <p:cNvSpPr/>
          <p:nvPr/>
        </p:nvSpPr>
        <p:spPr>
          <a:xfrm>
            <a:off x="4759452" y="390906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ardBar3">
            <a:extLst>
              <a:ext uri="{FF2B5EF4-FFF2-40B4-BE49-F238E27FC236}">
                <a16:creationId xmlns:a16="http://schemas.microsoft.com/office/drawing/2014/main" id="{0DBDC4D3-AB7C-50D7-B220-6F7F4B7FE442}"/>
              </a:ext>
            </a:extLst>
          </p:cNvPr>
          <p:cNvSpPr/>
          <p:nvPr/>
        </p:nvSpPr>
        <p:spPr>
          <a:xfrm>
            <a:off x="4759452" y="3909060"/>
            <a:ext cx="73152" cy="192024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ardNum3">
            <a:extLst>
              <a:ext uri="{FF2B5EF4-FFF2-40B4-BE49-F238E27FC236}">
                <a16:creationId xmlns:a16="http://schemas.microsoft.com/office/drawing/2014/main" id="{3A5B759D-F616-9972-8499-3D8363FF568A}"/>
              </a:ext>
            </a:extLst>
          </p:cNvPr>
          <p:cNvSpPr txBox="1"/>
          <p:nvPr/>
        </p:nvSpPr>
        <p:spPr>
          <a:xfrm>
            <a:off x="5033772" y="4320540"/>
            <a:ext cx="914400" cy="27432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100" b="1" spc="200">
                <a:solidFill>
                  <a:srgbClr val="1E979D"/>
                </a:solidFill>
                <a:latin typeface="Aptos"/>
              </a:rPr>
              <a:t>04</a:t>
            </a:r>
          </a:p>
        </p:txBody>
      </p:sp>
      <p:sp>
        <p:nvSpPr>
          <p:cNvPr id="48" name="CardTit3">
            <a:extLst>
              <a:ext uri="{FF2B5EF4-FFF2-40B4-BE49-F238E27FC236}">
                <a16:creationId xmlns:a16="http://schemas.microsoft.com/office/drawing/2014/main" id="{0FB3AEC2-CEAB-8878-2C9B-3CC24F645DB0}"/>
              </a:ext>
            </a:extLst>
          </p:cNvPr>
          <p:cNvSpPr txBox="1"/>
          <p:nvPr/>
        </p:nvSpPr>
        <p:spPr>
          <a:xfrm>
            <a:off x="5033772" y="46405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600" b="1" spc="0">
                <a:solidFill>
                  <a:srgbClr val="142341"/>
                </a:solidFill>
                <a:latin typeface="Aptos"/>
              </a:rPr>
              <a:t>Integração</a:t>
            </a:r>
          </a:p>
        </p:txBody>
      </p:sp>
      <p:sp>
        <p:nvSpPr>
          <p:cNvPr id="49" name="CardDesc3">
            <a:extLst>
              <a:ext uri="{FF2B5EF4-FFF2-40B4-BE49-F238E27FC236}">
                <a16:creationId xmlns:a16="http://schemas.microsoft.com/office/drawing/2014/main" id="{39D8ABBB-2A8E-AF23-DC87-7ADCCC19F76D}"/>
              </a:ext>
            </a:extLst>
          </p:cNvPr>
          <p:cNvSpPr txBox="1"/>
          <p:nvPr/>
        </p:nvSpPr>
        <p:spPr>
          <a:xfrm>
            <a:off x="5033772" y="5097780"/>
            <a:ext cx="3383280" cy="365760"/>
          </a:xfrm>
          <a:prstGeom prst="rect">
            <a:avLst/>
          </a:prstGeom>
          <a:noFill/>
        </p:spPr>
        <p:txBody>
          <a:bodyPr wrap="square" lIns="0" r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pt-BR" sz="1200" b="0" spc="0">
                <a:solidFill>
                  <a:srgbClr val="222E40"/>
                </a:solidFill>
                <a:latin typeface="Aptos"/>
              </a:rPr>
              <a:t>Conexão com ferramentas do dia a dia, como o WhatsApp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C97CC-AE91-B32D-348D-51FC19E44A61}"/>
              </a:ext>
            </a:extLst>
          </p:cNvPr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0EB72-32DA-D179-46CF-AC1907A605AA}"/>
              </a:ext>
            </a:extLst>
          </p:cNvPr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24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7239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Atende+ : Vídeo Tutorial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Assista ao tutorial completo do Atende+ no YouTube</a:t>
            </a:r>
          </a:p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O vídeo mostra a instalação, o agendamento e o acompanhamento dos atendimentos</a:t>
            </a:r>
          </a:p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Acesse pelo link:</a:t>
            </a:r>
          </a:p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 b="1" u="sng">
                <a:solidFill>
                  <a:srgbClr val="1E979D"/>
                </a:solidFill>
                <a:latin typeface="Aptos"/>
              </a:rPr>
              <a:t>https://www.youtube.com/watch?v=ckVF6KgyYbk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25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19268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Atende+ : Abrir e Adicionar o App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Abra o modelo do Atende+ no AppSheet e adicione à sua conta</a:t>
            </a:r>
          </a:p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Entre com uma conta Google para copiar e personalizar o aplicativo</a:t>
            </a:r>
          </a:p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Acesse pelo link:</a:t>
            </a:r>
          </a:p>
          <a:p>
            <a:pPr marL="342900" indent="-342900">
              <a:lnSpc>
                <a:spcPct val="125000"/>
              </a:lnSpc>
              <a:spcBef>
                <a:spcPts val="22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400" b="1" u="sng">
                <a:solidFill>
                  <a:srgbClr val="1E979D"/>
                </a:solidFill>
                <a:latin typeface="Aptos"/>
              </a:rPr>
              <a:t>https://www.appsheet.com/templates?appGuidString=eb222221-1472-4ac6-9a05-6556429bdc26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26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48235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Atende+ - As 4 Telas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315200" cy="4700000"/>
          </a:xfrm>
          <a:prstGeom prst="rect">
            <a:avLst/>
          </a:prstGeom>
          <a:noFill/>
        </p:spPr>
        <p:txBody>
          <a:bodyPr wrap="square" lIns="109728" rIns="73152" anchor="ctr"/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pt-BR" sz="1600" b="1">
                <a:solidFill>
                  <a:srgbClr val="1E979D"/>
                </a:solidFill>
                <a:latin typeface="Aptos"/>
              </a:rPr>
              <a:t>1. DASHBOARD</a:t>
            </a:r>
            <a:r>
              <a:rPr sz="1600">
                <a:solidFill>
                  <a:srgbClr val="222E40"/>
                </a:solidFill>
                <a:latin typeface="Aptos"/>
              </a:rPr>
              <a:t>: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resumo </a:t>
            </a:r>
            <a:r>
              <a:rPr sz="1600">
                <a:solidFill>
                  <a:srgbClr val="222E40"/>
                </a:solidFill>
                <a:latin typeface="Aptos"/>
              </a:rPr>
              <a:t>mensal de agendamentos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pt-BR" sz="1600" b="1">
                <a:solidFill>
                  <a:srgbClr val="1E979D"/>
                </a:solidFill>
                <a:latin typeface="Aptos"/>
              </a:rPr>
              <a:t>2. AGENDAMENTOS</a:t>
            </a:r>
            <a:r>
              <a:rPr sz="1600">
                <a:solidFill>
                  <a:srgbClr val="222E40"/>
                </a:solidFill>
                <a:latin typeface="Aptos"/>
              </a:rPr>
              <a:t>: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criar </a:t>
            </a:r>
            <a:r>
              <a:rPr sz="1600">
                <a:solidFill>
                  <a:srgbClr val="222E40"/>
                </a:solidFill>
                <a:latin typeface="Aptos"/>
              </a:rPr>
              <a:t>e gerenciar agendamentos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pt-BR" sz="1600" b="1">
                <a:solidFill>
                  <a:srgbClr val="1E979D"/>
                </a:solidFill>
                <a:latin typeface="Aptos"/>
              </a:rPr>
              <a:t>3. ATENDIMENTOS</a:t>
            </a:r>
            <a:r>
              <a:rPr sz="1600">
                <a:solidFill>
                  <a:srgbClr val="222E40"/>
                </a:solidFill>
                <a:latin typeface="Aptos"/>
              </a:rPr>
              <a:t>: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histórico </a:t>
            </a:r>
            <a:r>
              <a:rPr sz="1600">
                <a:solidFill>
                  <a:srgbClr val="222E40"/>
                </a:solidFill>
                <a:latin typeface="Aptos"/>
              </a:rPr>
              <a:t>de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serviços </a:t>
            </a:r>
            <a:r>
              <a:rPr sz="1600">
                <a:solidFill>
                  <a:srgbClr val="222E40"/>
                </a:solidFill>
                <a:latin typeface="Aptos"/>
              </a:rPr>
              <a:t>realizados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pt-BR" sz="1600" b="1">
                <a:solidFill>
                  <a:srgbClr val="1E979D"/>
                </a:solidFill>
                <a:latin typeface="Aptos"/>
              </a:rPr>
              <a:t>4. EM DÍVIDAS</a:t>
            </a:r>
            <a:r>
              <a:rPr sz="1600">
                <a:solidFill>
                  <a:srgbClr val="222E40"/>
                </a:solidFill>
                <a:latin typeface="Aptos"/>
              </a:rPr>
              <a:t>: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clientes com </a:t>
            </a:r>
            <a:r>
              <a:rPr sz="1600">
                <a:solidFill>
                  <a:srgbClr val="222E40"/>
                </a:solidFill>
                <a:latin typeface="Aptos"/>
              </a:rPr>
              <a:t>pagamentos pendentes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pt-BR" sz="1600" b="1">
                <a:solidFill>
                  <a:srgbClr val="222E40"/>
                </a:solidFill>
                <a:latin typeface="Aptos"/>
              </a:rPr>
              <a:t>Cada tela resolve um problema específico da rotina do prestador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27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Tela 1: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526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Mostra as MÉTRICAS do mês: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Total de atendimentos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Próximos agendamentos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Receita do mês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Clientes em dia vs. com dívida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Por que é importante?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O prestador sabe de relance como está o negócio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Não precisa abrir 5 abas diferentes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Dica de UX: informação importante e bonita = usuário usa</a:t>
            </a:r>
            <a:endParaRPr sz="1600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44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5657" y="5940000"/>
            <a:ext cx="1377877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7</a:t>
            </a:r>
            <a:r>
              <a:rPr sz="800" b="0">
                <a:solidFill>
                  <a:srgbClr val="606E84"/>
                </a:solidFill>
                <a:latin typeface="Aptos"/>
              </a:rPr>
              <a:t> • Dashboard Atende+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28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60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6A18CF1-64F0-21E8-6FE9-DBAEC0182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146" y="1481328"/>
            <a:ext cx="2144896" cy="43752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Tela 2: AGENDAMENTOS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316566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Permite CRIAR E GERENCIAR agendamentos: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Para cada agendamento, registra: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Cliente (nome)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Serviço (qual tipo)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Data e hora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Local (endereço)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Valor estimado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  • Status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Botão GRANDE: “NOVO AGENDAMENTO”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222E40"/>
                </a:solidFill>
                <a:latin typeface="Aptos"/>
              </a:rPr>
              <a:t>Barra de BUSCA: procurar agendamento antigo</a:t>
            </a:r>
            <a:endParaRPr sz="16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44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schedule_6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6" y="1481328"/>
            <a:ext cx="2267259" cy="4375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379" y="5940000"/>
            <a:ext cx="1674433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8</a:t>
            </a:r>
            <a:r>
              <a:rPr sz="800" b="0">
                <a:solidFill>
                  <a:srgbClr val="606E84"/>
                </a:solidFill>
                <a:latin typeface="Aptos"/>
              </a:rPr>
              <a:t> • Cadastro de agendamento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29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60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Tela 3: ATENDIMENTOS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278094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Registro do HISTÓRICO de serviços JÁ REALIZADOS: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Cada atendimento mostra: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Cliente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Serviço realizado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Data/hora e duração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Valor cobrado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Status de pagamento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Por que é importante?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Auditoria (comprovação do que foi feito)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Cliente pode consultar o histórico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Análise de tendências</a:t>
            </a:r>
            <a:endParaRPr sz="14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44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8675" y="5940000"/>
            <a:ext cx="1571841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lang="en-US" sz="800" b="0">
                <a:solidFill>
                  <a:srgbClr val="606E84"/>
                </a:solidFill>
                <a:latin typeface="Aptos"/>
              </a:rPr>
              <a:t>Figura 9 • Histórico e indicadores</a:t>
            </a:r>
            <a:endParaRPr sz="800" b="0">
              <a:solidFill>
                <a:srgbClr val="606E8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30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60000"/>
            <a:ext cx="4337021" cy="16312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lang="en-US" sz="700" b="0">
                <a:solidFill>
                  <a:srgbClr val="606E84"/>
                </a:solidFill>
                <a:latin typeface="Aptos"/>
              </a:rPr>
              <a:t>Fonte visual: aplicativo Atende+ no AppSheet (appsheet.com/start/e4b05be0-f844-4c13-a215-83c069aaa6bc).</a:t>
            </a:r>
            <a:endParaRPr sz="700" b="0">
              <a:solidFill>
                <a:srgbClr val="606E84"/>
              </a:solidFill>
              <a:latin typeface="Aptos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B964C9B-D9C3-D252-9E94-E7B46748B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848" y="1481328"/>
            <a:ext cx="2751680" cy="43752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Tela 4: EM DÍVIDAS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3947234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Lista de PAGAMENTOS PENDENTES: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Mostra: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Cliente que deve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Quanto deve (R$)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Quantos atendimentos não foram pagos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Data de vencimento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Por que é crítico?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O prestador não esquece quem deve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A renda é afetada por devedores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• Permite enviar cobrança pelo WhatsApp</a:t>
            </a:r>
            <a:endParaRPr sz="14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44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debts_6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407" y="1481328"/>
            <a:ext cx="2266378" cy="4375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36190" y="5940000"/>
            <a:ext cx="1236812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lang="en-US" sz="800" b="0">
                <a:solidFill>
                  <a:srgbClr val="606E84"/>
                </a:solidFill>
                <a:latin typeface="Aptos"/>
              </a:rPr>
              <a:t>Figura 10 • Tela Em dívidas</a:t>
            </a:r>
            <a:endParaRPr sz="800" b="0">
              <a:solidFill>
                <a:srgbClr val="606E8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31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60000"/>
            <a:ext cx="4337021" cy="16312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lang="en-US" sz="700" b="0">
                <a:solidFill>
                  <a:srgbClr val="606E84"/>
                </a:solidFill>
                <a:latin typeface="Aptos"/>
              </a:rPr>
              <a:t>Fonte visual: aplicativo Atende+ no AppSheet (appsheet.com/start/e4b05be0-f844-4c13-a215-83c069aaa6bc).</a:t>
            </a:r>
            <a:endParaRPr sz="700" b="0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 dirty="0">
                <a:solidFill>
                  <a:srgbClr val="FFFFFF"/>
                </a:solidFill>
                <a:latin typeface="Aptos"/>
              </a:rPr>
              <a:t>Dia 2: O </a:t>
            </a:r>
            <a:r>
              <a:rPr lang="en-US" sz="2700" b="1" dirty="0" err="1">
                <a:solidFill>
                  <a:srgbClr val="FFFFFF"/>
                </a:solidFill>
                <a:latin typeface="Aptos"/>
              </a:rPr>
              <a:t>Contato</a:t>
            </a:r>
            <a:r>
              <a:rPr lang="en-US" sz="2700" b="1" dirty="0">
                <a:solidFill>
                  <a:srgbClr val="FFFFFF"/>
                </a:solidFill>
                <a:latin typeface="Aptos"/>
              </a:rPr>
              <a:t> com o </a:t>
            </a:r>
            <a:r>
              <a:rPr lang="en-US" sz="2700" b="1" dirty="0" err="1">
                <a:solidFill>
                  <a:srgbClr val="FFFFFF"/>
                </a:solidFill>
                <a:latin typeface="Aptos"/>
              </a:rPr>
              <a:t>Cliente</a:t>
            </a:r>
            <a:endParaRPr sz="27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246120" cy="18288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971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9333EA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ESSENCIAL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2971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nenhum negócio funciona sem ouvir o cliente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77639" y="1828800"/>
            <a:ext cx="2331720" cy="18288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2103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9333EA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REQUISITOS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0" y="2697480"/>
            <a:ext cx="2103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as funcionalidades do app partem do cliente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3246120" cy="18288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2971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9333EA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CUIDADO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2971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achar que já sabemos tudo é um erro grave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77639" y="3931920"/>
            <a:ext cx="2331720" cy="18288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4206240"/>
            <a:ext cx="2103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9333EA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TÉCNICAS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4800600"/>
            <a:ext cx="21031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ferramentas certas tornam a etapa mais eficiente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92240" y="1444752"/>
            <a:ext cx="20116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6020" y="3246120"/>
            <a:ext cx="1592680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lang="en-US" sz="800" b="0">
                <a:solidFill>
                  <a:srgbClr val="606E84"/>
                </a:solidFill>
                <a:latin typeface="Aptos"/>
              </a:rPr>
              <a:t>Figura 11 • Conversa com o cliente</a:t>
            </a:r>
            <a:endParaRPr sz="800" b="0">
              <a:solidFill>
                <a:srgbClr val="606E8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32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360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  <p:pic>
        <p:nvPicPr>
          <p:cNvPr id="27" name="Picture 26" descr="figure-8-me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20240"/>
            <a:ext cx="1828800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Por Que o Entendimento Falha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Entender o que o cliente realmente deseja e precisa exige bastante cuidado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Falhas de entendimento são muito comuns, por motivos como: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Ineficiência na comunicação entre cliente e equipe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Limitação do cliente quanto ao conhecimento em tecnologia da informação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Outros motivos diversos do dia a dia do projeto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Algumas técnicas e ferramentas aumentam a eficiência dessa etapa, chamada de coleta de 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33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58846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Coleta de Requisitos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É uma das etapas mais cruciais no desenvolvimento de software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Também é uma das mais subestimadas pelas equipes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Garante que o time realmente entenda o que o cliente ou usuário final precisa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Isso acontece antes de qualquer linha de código ser escrita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Todos os requisitos devem ser solicitados pelo cliente, não presumidos pelo desenvolvedor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34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593783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Por Que Analisar Requisitos?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05217"/>
            <a:ext cx="7772400" cy="4124206"/>
          </a:xfrm>
          <a:prstGeom prst="rect">
            <a:avLst/>
          </a:prstGeom>
          <a:noFill/>
        </p:spPr>
        <p:txBody>
          <a:bodyPr wrap="square" lIns="109728" rIns="73152" anchor="ctr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Beneficio 1: EVITA RETRABALHO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  Entendimento claro = menos correcoes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endParaRPr lang="pt-BR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Beneficio 2: ALINHA EXPECTATIVAS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  Cliente e desenvolvedor 'falam mesma lingua'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endParaRPr lang="pt-BR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Beneficio 3: AJUDA PRIORIZACAO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  Qual feature e mais importante?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endParaRPr lang="pt-BR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Beneficio 4: BASE PARA ESTIMATIVAS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  Quanto tempo vai levar?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endParaRPr lang="pt-BR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defRPr sz="19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Beneficio 5: GUIA O DESENVOLVIMENTO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35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35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Boas Práticas na Coleta de Requisitos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dirty="0">
                <a:solidFill>
                  <a:srgbClr val="222E40"/>
                </a:solidFill>
                <a:latin typeface="Aptos"/>
              </a:rPr>
              <a:t>Entrevistas com usuários e stakeholders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dirty="0">
                <a:solidFill>
                  <a:srgbClr val="222E40"/>
                </a:solidFill>
                <a:latin typeface="Aptos"/>
              </a:rPr>
              <a:t>Workshops de ideação ou Design </a:t>
            </a:r>
            <a:r>
              <a:rPr lang="pt-BR" dirty="0" err="1">
                <a:solidFill>
                  <a:srgbClr val="222E40"/>
                </a:solidFill>
                <a:latin typeface="Aptos"/>
              </a:rPr>
              <a:t>Thinking</a:t>
            </a:r>
            <a:endParaRPr lang="pt-BR" dirty="0">
              <a:solidFill>
                <a:srgbClr val="222E40"/>
              </a:solidFill>
              <a:latin typeface="Aptos"/>
            </a:endParaRP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dirty="0">
                <a:solidFill>
                  <a:srgbClr val="222E40"/>
                </a:solidFill>
                <a:latin typeface="Aptos"/>
              </a:rPr>
              <a:t>Prototipagem rápida para validar o entendimento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dirty="0" err="1">
                <a:solidFill>
                  <a:srgbClr val="222E40"/>
                </a:solidFill>
                <a:latin typeface="Aptos"/>
              </a:rPr>
              <a:t>User</a:t>
            </a:r>
            <a:r>
              <a:rPr lang="pt-BR" dirty="0">
                <a:solidFill>
                  <a:srgbClr val="222E40"/>
                </a:solidFill>
                <a:latin typeface="Aptos"/>
              </a:rPr>
              <a:t> stories (histórias de usuário) e casos de uso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dirty="0">
                <a:solidFill>
                  <a:srgbClr val="222E40"/>
                </a:solidFill>
                <a:latin typeface="Aptos"/>
              </a:rPr>
              <a:t>Revisões e validações constantes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36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64367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Como Fazer Entrevista com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772400" cy="4700000"/>
          </a:xfrm>
          <a:prstGeom prst="rect">
            <a:avLst/>
          </a:prstGeom>
          <a:noFill/>
        </p:spPr>
        <p:txBody>
          <a:bodyPr wrap="square" lIns="109728" rIns="73152" anchor="ctr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ESTRUTURA EM 5 PASSOS: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1. PREPARACAO: Agende com antecedencia, pesquise contexto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2. ABERTURA: Apresente-se, explique objetivo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3. ESCUTA ATIVA: Perguntas abertas, deixe cliente falar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4. VALIDACAO: Repita o que entendeu para confirmar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5. ENCERRAMENTO: Resumo e proximos passos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37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Antes da Entrevista: Entenda e Prepare-se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772400" cy="4700000"/>
          </a:xfrm>
          <a:prstGeom prst="rect">
            <a:avLst/>
          </a:prstGeom>
          <a:noFill/>
        </p:spPr>
        <p:txBody>
          <a:bodyPr wrap="square" lIns="109728" rIns="73152" anchor="ctr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1. ENTENDA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O problema real que o cliente quer resolver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Como ele trabalha hoje (fluxo atual)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Quais são suas dores e expectativas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O que é essencial x desejável no sistema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en-US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2. PREPARE-SE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Estude o cliente ou o segmento antes da conversa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Monte um roteiro flexível de perguntas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222E40"/>
                </a:solidFill>
                <a:latin typeface="Aptos"/>
              </a:rPr>
              <a:t>  Escolha o perfil certo para entrevistar</a:t>
            </a:r>
            <a:endParaRPr sz="14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38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35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Durante a Entrevista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Comece com perguntas amplas: "Você já usa algum sistema para isso? Como é?"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Explore o problema (a dor real): "O que você gostaria que fosse diferente?"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Valide expectativas: "Como você imagina que seria um sistema ideal para te ajudar nisso?"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Ouça mais do que fale e registre as respostas com as palavras do cliente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Confirme o entendimento ao final de cada tema antes de seguir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39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74092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Checklist para Entrevista com o Cliente (1/2)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b="1">
                <a:solidFill>
                  <a:srgbClr val="222E40"/>
                </a:solidFill>
                <a:latin typeface="Aptos"/>
              </a:rPr>
              <a:t>1. SOBRE O PROJETO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Qual é o objetivo principal do sistema?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Quem são os usuários finais?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Quais problemas o sistema precisa resolver?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b="1">
                <a:solidFill>
                  <a:srgbClr val="222E40"/>
                </a:solidFill>
                <a:latin typeface="Aptos"/>
              </a:rPr>
              <a:t>2. FUNCIONALIDADES PRINCIPAIS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Quais ações os usuários podem realizar?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Existem regras de negócio importantes?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Que tipo de relatórios ou resultados o sistema deve gerar?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b="1">
                <a:solidFill>
                  <a:srgbClr val="222E40"/>
                </a:solidFill>
                <a:latin typeface="Aptos"/>
              </a:rPr>
              <a:t>3. FLUXOS E PROCESSOS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Como é o processo atual (se existir)?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O que deve mudar ou ser mantido?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40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344833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Checklist para Entrevista com o Cliente (2/2)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438912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b="1">
                <a:solidFill>
                  <a:srgbClr val="222E40"/>
                </a:solidFill>
                <a:latin typeface="Aptos"/>
              </a:rPr>
              <a:t>4. RESTRIÇÕES E REQUISITOS NÃO FUNCIONAIS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Existem prazos importantes ou datas de entrega?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Há requisitos de segurança, performance ou disponibilidade?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b="1">
                <a:solidFill>
                  <a:srgbClr val="222E40"/>
                </a:solidFill>
                <a:latin typeface="Aptos"/>
              </a:rPr>
              <a:t>5. INTEGRAÇÕES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O sistema precisará se comunicar com outros sistemas? Quais?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Existem APIs ou formatos de dados específicos?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pt-BR" sz="1600" b="1">
                <a:solidFill>
                  <a:srgbClr val="222E40"/>
                </a:solidFill>
                <a:latin typeface="Aptos"/>
              </a:rPr>
              <a:t>6. USUÁRIOS E PERFIS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Quais tipos de usuário existirão (admin, cliente, gerente, etc.)?</a:t>
            </a:r>
          </a:p>
          <a:p>
            <a:pPr marL="342900" indent="-342900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 sz="1600">
                <a:solidFill>
                  <a:srgbClr val="222E40"/>
                </a:solidFill>
                <a:latin typeface="Aptos"/>
              </a:rPr>
              <a:t>  Cada perfil terá permissões específicas?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41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09592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Formas de Registrar Requisitos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75000"/>
            <a:ext cx="777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Combine as técnicas conforme o projeto exigir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Formas de Registrar Requisitos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703320" cy="201168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USER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4290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Histórias de usuário</a:t>
            </a:r>
          </a:p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Como [quem] eu quero [o que] para [benefício]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54880" y="1645920"/>
            <a:ext cx="3703320" cy="201168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1874519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CASO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514600"/>
            <a:ext cx="3429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Diagrama visual do sistema</a:t>
            </a:r>
          </a:p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Atores + ações (casos de uso)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" y="3931920"/>
            <a:ext cx="3703320" cy="201168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429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PROTÓTIPOS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3429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Representação visual das telas</a:t>
            </a:r>
          </a:p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Wireframes e mockups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54880" y="3931920"/>
            <a:ext cx="3703320" cy="201168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4160520"/>
            <a:ext cx="3429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TABELAS E PLANILHAS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2040" y="4800600"/>
            <a:ext cx="34290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Planilhas estruturadas</a:t>
            </a:r>
          </a:p>
          <a:p>
            <a:pPr>
              <a:spcAft>
                <a:spcPts val="300"/>
              </a:spcAft>
              <a:defRPr sz="1400">
                <a:solidFill>
                  <a:srgbClr val="3C3C3C"/>
                </a:solidFill>
              </a:defRPr>
            </a:pPr>
            <a:r>
              <a:rPr lang="en-US" sz="1500">
                <a:solidFill>
                  <a:srgbClr val="222E40"/>
                </a:solidFill>
                <a:latin typeface="Aptos"/>
              </a:rPr>
              <a:t>Excel, Google Sheets</a:t>
            </a:r>
            <a:endParaRPr sz="15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42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User Stories - Formato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75488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ESTRUTURA: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Como [TIPO DE USUARIO],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eu quero [OBJETIVO],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para [BENEFICIO]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endParaRPr lang="pt-BR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EXEMPLOS: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Como administrador, eu quero cadastrar novos usuarios,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para controlar quem acessa o sistema.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endParaRPr lang="pt-BR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Como cliente, eu quero receber notificacao WhatsApp,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para nao perder o servico.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endParaRPr lang="pt-BR"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rPr lang="pt-BR" sz="1400">
                <a:solidFill>
                  <a:srgbClr val="222E40"/>
                </a:solidFill>
                <a:latin typeface="Aptos"/>
              </a:rPr>
              <a:t>Vantagem: Clara, concisa, focada no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2704" y="1444752"/>
            <a:ext cx="2843784" cy="4005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wireframes_620.jpg"/>
          <p:cNvPicPr>
            <a:picLocks noChangeAspect="1"/>
          </p:cNvPicPr>
          <p:nvPr/>
        </p:nvPicPr>
        <p:blipFill>
          <a:blip r:embed="rId3"/>
          <a:srcRect l="5500" r="5500"/>
          <a:stretch>
            <a:fillRect/>
          </a:stretch>
        </p:blipFill>
        <p:spPr>
          <a:xfrm>
            <a:off x="5669280" y="1481328"/>
            <a:ext cx="2770632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3103" y="5504688"/>
            <a:ext cx="1542987" cy="209288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lang="pt-BR" sz="1000" b="0">
                <a:solidFill>
                  <a:srgbClr val="606E84"/>
                </a:solidFill>
                <a:latin typeface="Aptos"/>
              </a:rPr>
              <a:t>Figura 12 • Estrutura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43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35000"/>
            <a:ext cx="3569182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r>
              <a:rPr lang="pt-BR" sz="800" dirty="0">
                <a:solidFill>
                  <a:srgbClr val="606E84"/>
                </a:solidFill>
                <a:latin typeface="Aptos"/>
              </a:rPr>
              <a:t>Fonte visual: imagem gerada por inteligência artificial (PowerPoint Agent, 2026).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Diagrama de Caso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303520" cy="475488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COMPONENTES: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• ATOR: usuario ou sistema externo (boneco palito)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• ACOES/CASOS: funcionalidades (elipse)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EXEMPLO - Sistema de Vendas: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Ator: Vendedor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Acoes: Realizar pedido, Processar pagamento, Gerar fatura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Descreve INTERACOES completas entre sistema e usuarios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Vantagem: Visualizacao clara de fluxo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Desavantagem: Menos detalhes que user stories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17957" y="1599999"/>
            <a:ext cx="3414563" cy="29840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57012" y="4295100"/>
            <a:ext cx="1664815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800" b="0" dirty="0" err="1">
                <a:solidFill>
                  <a:srgbClr val="606E84"/>
                </a:solidFill>
                <a:latin typeface="Aptos"/>
              </a:rPr>
              <a:t>Figura</a:t>
            </a:r>
            <a:r>
              <a:rPr sz="800" b="0" dirty="0">
                <a:solidFill>
                  <a:srgbClr val="606E84"/>
                </a:solidFill>
                <a:latin typeface="Aptos"/>
              </a:rPr>
              <a:t>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13</a:t>
            </a:r>
            <a:r>
              <a:rPr sz="800" b="0" dirty="0">
                <a:solidFill>
                  <a:srgbClr val="606E84"/>
                </a:solidFill>
                <a:latin typeface="Aptos"/>
              </a:rPr>
              <a:t> • </a:t>
            </a:r>
            <a:r>
              <a:rPr sz="800" b="0" dirty="0" err="1">
                <a:solidFill>
                  <a:srgbClr val="606E84"/>
                </a:solidFill>
                <a:latin typeface="Aptos"/>
              </a:rPr>
              <a:t>Diagrama</a:t>
            </a:r>
            <a:r>
              <a:rPr sz="800" b="0" dirty="0">
                <a:solidFill>
                  <a:srgbClr val="606E84"/>
                </a:solidFill>
                <a:latin typeface="Aptos"/>
              </a:rPr>
              <a:t> de </a:t>
            </a:r>
            <a:r>
              <a:rPr sz="800" b="0" dirty="0" err="1">
                <a:solidFill>
                  <a:srgbClr val="606E84"/>
                </a:solidFill>
                <a:latin typeface="Aptos"/>
              </a:rPr>
              <a:t>caso</a:t>
            </a:r>
            <a:r>
              <a:rPr sz="800" b="0" dirty="0">
                <a:solidFill>
                  <a:srgbClr val="606E84"/>
                </a:solidFill>
                <a:latin typeface="Aptos"/>
              </a:rPr>
              <a:t> de </a:t>
            </a:r>
            <a:r>
              <a:rPr sz="800" b="0" dirty="0" err="1">
                <a:solidFill>
                  <a:srgbClr val="606E84"/>
                </a:solidFill>
                <a:latin typeface="Aptos"/>
              </a:rPr>
              <a:t>uso</a:t>
            </a:r>
            <a:endParaRPr sz="800" b="0" dirty="0">
              <a:solidFill>
                <a:srgbClr val="606E8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44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35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AB84AB5-8188-8641-F907-AB16B073F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755" y="1959558"/>
            <a:ext cx="3408765" cy="222368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Prototipos e 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75488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PROTOTIPACAO: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processo</a:t>
            </a:r>
            <a:r>
              <a:rPr sz="1600" dirty="0">
                <a:solidFill>
                  <a:srgbClr val="222E40"/>
                </a:solidFill>
                <a:latin typeface="Aptos"/>
              </a:rPr>
              <a:t> de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criar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versao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rapida</a:t>
            </a:r>
            <a:r>
              <a:rPr sz="1600" dirty="0">
                <a:solidFill>
                  <a:srgbClr val="222E40"/>
                </a:solidFill>
                <a:latin typeface="Aptos"/>
              </a:rPr>
              <a:t> e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simplificada</a:t>
            </a: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WIREFRAME: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esboco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estrutural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mostrando</a:t>
            </a:r>
            <a:r>
              <a:rPr sz="1600" dirty="0">
                <a:solidFill>
                  <a:srgbClr val="222E40"/>
                </a:solidFill>
                <a:latin typeface="Aptos"/>
              </a:rPr>
              <a:t> layout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basico</a:t>
            </a: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SEM cores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ou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detalhes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visuais</a:t>
            </a: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Foco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em</a:t>
            </a:r>
            <a:r>
              <a:rPr sz="1600" dirty="0">
                <a:solidFill>
                  <a:srgbClr val="222E40"/>
                </a:solidFill>
                <a:latin typeface="Aptos"/>
              </a:rPr>
              <a:t> ESTRUTURA e COMPONENTES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2704" y="2050000"/>
            <a:ext cx="2843784" cy="19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4130000"/>
            <a:ext cx="2770632" cy="201168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14</a:t>
            </a:r>
            <a:r>
              <a:rPr sz="800" b="0">
                <a:solidFill>
                  <a:srgbClr val="606E84"/>
                </a:solidFill>
                <a:latin typeface="Aptos"/>
              </a:rPr>
              <a:t> • Protótipo wireframe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45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335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DB81A971-0344-0A91-4299-3DDE32628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70000"/>
            <a:ext cx="2770632" cy="1739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Ferramentas de Prototipação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75488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FERRAMENTAS: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Figma (gratis,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colaborativo</a:t>
            </a:r>
            <a:r>
              <a:rPr sz="1600">
                <a:solidFill>
                  <a:srgbClr val="222E40"/>
                </a:solidFill>
                <a:latin typeface="Aptos"/>
              </a:rPr>
              <a:t>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Adobe XD (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profissional</a:t>
            </a:r>
            <a:r>
              <a:rPr sz="1600">
                <a:solidFill>
                  <a:srgbClr val="222E40"/>
                </a:solidFill>
                <a:latin typeface="Aptos"/>
              </a:rPr>
              <a:t>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Balsamiq (simples,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rápido</a:t>
            </a:r>
            <a:r>
              <a:rPr sz="1600">
                <a:solidFill>
                  <a:srgbClr val="222E40"/>
                </a:solidFill>
                <a:latin typeface="Aptos"/>
              </a:rPr>
              <a:t>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Papel e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lápis</a:t>
            </a:r>
            <a:r>
              <a:rPr sz="1600">
                <a:solidFill>
                  <a:srgbClr val="222E40"/>
                </a:solidFill>
                <a:latin typeface="Aptos"/>
              </a:rPr>
              <a:t> (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mais</a:t>
            </a:r>
            <a:r>
              <a:rPr sz="160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rápido</a:t>
            </a:r>
            <a:r>
              <a:rPr sz="1600">
                <a:solidFill>
                  <a:srgbClr val="222E40"/>
                </a:solidFill>
                <a:latin typeface="Aptos"/>
              </a:rPr>
              <a:t> para brainstorm)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Por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que</a:t>
            </a:r>
            <a:r>
              <a:rPr sz="1600">
                <a:solidFill>
                  <a:srgbClr val="222E40"/>
                </a:solidFill>
                <a:latin typeface="Aptos"/>
              </a:rPr>
              <a:t>: Valida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requisitos</a:t>
            </a:r>
            <a:r>
              <a:rPr sz="1600">
                <a:solidFill>
                  <a:srgbClr val="222E40"/>
                </a:solidFill>
                <a:latin typeface="Aptos"/>
              </a:rPr>
              <a:t> com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cliente</a:t>
            </a:r>
            <a:r>
              <a:rPr sz="1600">
                <a:solidFill>
                  <a:srgbClr val="222E40"/>
                </a:solidFill>
                <a:latin typeface="Aptos"/>
              </a:rPr>
              <a:t> ANTES de </a:t>
            </a:r>
            <a:r>
              <a:rPr lang="pt-BR" sz="1600">
                <a:solidFill>
                  <a:srgbClr val="222E40"/>
                </a:solidFill>
                <a:latin typeface="Aptos"/>
              </a:rPr>
              <a:t>desenvolver</a:t>
            </a:r>
            <a:endParaRPr sz="16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46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4836695" y="2574758"/>
            <a:ext cx="3639793" cy="1257930"/>
          </a:xfrm>
          <a:prstGeom prst="roundRect">
            <a:avLst>
              <a:gd name="adj" fmla="val 9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r-27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140" y="2598247"/>
            <a:ext cx="1196901" cy="11969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6361" y="2598247"/>
            <a:ext cx="1943823" cy="649225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VÍDEO
COMPLEMENTAR</a:t>
            </a:r>
          </a:p>
        </p:txBody>
      </p:sp>
      <p:sp>
        <p:nvSpPr>
          <p:cNvPr id="15" name="TextBox 14">
            <a:hlinkClick r:id="rId3"/>
          </p:cNvPr>
          <p:cNvSpPr txBox="1"/>
          <p:nvPr/>
        </p:nvSpPr>
        <p:spPr>
          <a:xfrm>
            <a:off x="6386361" y="2954863"/>
            <a:ext cx="1943823" cy="649225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Aponte a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câmera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ou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clique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aqui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0720" y="3950000"/>
            <a:ext cx="2743200" cy="27432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700" b="0">
                <a:solidFill>
                  <a:srgbClr val="606E84"/>
                </a:solidFill>
                <a:latin typeface="Aptos"/>
              </a:rPr>
              <a:t>Wireframe no Figma — simples e muito útil para UX Design</a:t>
            </a:r>
          </a:p>
        </p:txBody>
      </p:sp>
    </p:spTree>
    <p:extLst>
      <p:ext uri="{BB962C8B-B14F-4D97-AF65-F5344CB8AC3E}">
        <p14:creationId xmlns:p14="http://schemas.microsoft.com/office/powerpoint/2010/main" val="17455901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2700" b="1">
                <a:solidFill>
                  <a:srgbClr val="FFFFFF"/>
                </a:solidFill>
                <a:latin typeface="Aptos"/>
              </a:rPr>
              <a:t>Tabelas ou Planilhas de Requisitos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772400" cy="4700000"/>
          </a:xfrm>
          <a:prstGeom prst="rect">
            <a:avLst/>
          </a:prstGeom>
          <a:noFill/>
        </p:spPr>
        <p:txBody>
          <a:bodyPr wrap="square" lIns="0" rIns="0" anchor="ctr"/>
          <a:lstStyle/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>
                <a:solidFill>
                  <a:srgbClr val="222E40"/>
                </a:solidFill>
                <a:latin typeface="Aptos"/>
              </a:rPr>
              <a:t>Úteis para organizar os requisitos por prioridade, status, responsável, etc.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>
                <a:solidFill>
                  <a:srgbClr val="222E40"/>
                </a:solidFill>
                <a:latin typeface="Aptos"/>
              </a:rPr>
              <a:t>Formato: Excel, Google Sheets.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>
                <a:solidFill>
                  <a:srgbClr val="222E40"/>
                </a:solidFill>
                <a:latin typeface="Aptos"/>
              </a:rPr>
              <a:t>Uso: projetos menores ou com múltiplas equipes revisando o documento.</a:t>
            </a:r>
          </a:p>
          <a:p>
            <a:pPr marL="342900" indent="-342900" algn="just">
              <a:lnSpc>
                <a:spcPct val="100000"/>
              </a:lnSpc>
              <a:spcBef>
                <a:spcPts val="900"/>
              </a:spcBef>
              <a:buClr>
                <a:srgbClr val="1E979D"/>
              </a:buClr>
              <a:buSzPct val="100000"/>
              <a:buFont typeface="Arial"/>
              <a:buChar char="•"/>
            </a:pPr>
            <a:r>
              <a:rPr lang="pt-BR">
                <a:solidFill>
                  <a:srgbClr val="222E40"/>
                </a:solidFill>
                <a:latin typeface="Aptos"/>
              </a:rPr>
              <a:t>Dependendo do projeto, cabe a você conhecer e usar as melhores práticas: combine técnicas, registre tudo que está sendo analisado e sempre revise e valide com o cliente o que foi registrado.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47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13759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User Stories do Atende+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75488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US-001: Controle de Pagamentos e Atendimentos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US-002: Registro de Atendimento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US-003: Notificacao de Atendimento ao Cliente (WhatsApp)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US-004: Registro de Pagamento (Pix ou dinheiro)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US-005: Reagendamento de Atendimento (WhatsApp)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US-006: Integracao com Google Agenda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US-007: Relatorios e Recibos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5596" y="1440000"/>
            <a:ext cx="2398000" cy="45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schedule_6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96" y="1500000"/>
            <a:ext cx="2278000" cy="44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5596" y="6010000"/>
            <a:ext cx="2398000" cy="201168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15</a:t>
            </a:r>
            <a:r>
              <a:rPr sz="800" b="0">
                <a:solidFill>
                  <a:srgbClr val="606E84"/>
                </a:solidFill>
                <a:latin typeface="Aptos"/>
              </a:rPr>
              <a:t> • Fluxo de atendimento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48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35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Diagrama de Casos de Uso do Atende+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68800" y="1390000"/>
            <a:ext cx="5606400" cy="43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schedule_6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450000"/>
            <a:ext cx="5486400" cy="421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8800" y="5790000"/>
            <a:ext cx="5606400" cy="201168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16</a:t>
            </a:r>
            <a:r>
              <a:rPr sz="800" b="0">
                <a:solidFill>
                  <a:srgbClr val="606E84"/>
                </a:solidFill>
                <a:latin typeface="Aptos"/>
              </a:rPr>
              <a:t> • Diagrama de casos de uso do Atende+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49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335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  <p:extLst>
      <p:ext uri="{BB962C8B-B14F-4D97-AF65-F5344CB8AC3E}">
        <p14:creationId xmlns:p14="http://schemas.microsoft.com/office/powerpoint/2010/main" val="25085720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DIA 3: Prototipage e No-Code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316566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ESTRUTURA DO DIA: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Inicio</a:t>
            </a:r>
            <a:r>
              <a:rPr sz="1600" dirty="0">
                <a:solidFill>
                  <a:srgbClr val="222E40"/>
                </a:solidFill>
                <a:latin typeface="Aptos"/>
              </a:rPr>
              <a:t>: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Conceitos</a:t>
            </a:r>
            <a:r>
              <a:rPr sz="1600" dirty="0">
                <a:solidFill>
                  <a:srgbClr val="222E40"/>
                </a:solidFill>
                <a:latin typeface="Aptos"/>
              </a:rPr>
              <a:t> de wireframes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Meio: PRATICA -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Criar</a:t>
            </a:r>
            <a:r>
              <a:rPr sz="1600" dirty="0">
                <a:solidFill>
                  <a:srgbClr val="222E40"/>
                </a:solidFill>
                <a:latin typeface="Aptos"/>
              </a:rPr>
              <a:t> wireframe de app simples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Final: 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Introducao</a:t>
            </a:r>
            <a:r>
              <a:rPr lang="pt-BR" sz="1600" dirty="0">
                <a:solidFill>
                  <a:srgbClr val="222E40"/>
                </a:solidFill>
                <a:latin typeface="Aptos"/>
              </a:rPr>
              <a:t> ao NO-CODE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lang="pt-BR" sz="1600" dirty="0">
                <a:solidFill>
                  <a:srgbClr val="222E40"/>
                </a:solidFill>
                <a:latin typeface="Aptos"/>
              </a:rPr>
              <a:t>	  Analise de componentes no </a:t>
            </a:r>
            <a:r>
              <a:rPr lang="pt-BR" sz="1600" dirty="0" err="1">
                <a:solidFill>
                  <a:srgbClr val="222E40"/>
                </a:solidFill>
                <a:latin typeface="Aptos"/>
              </a:rPr>
              <a:t>AppSheet</a:t>
            </a:r>
            <a:endParaRPr lang="pt-BR"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lang="pt-BR"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OBJETIVO: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Vocês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entenderao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ciclo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completo</a:t>
            </a: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 err="1">
                <a:solidFill>
                  <a:srgbClr val="222E40"/>
                </a:solidFill>
                <a:latin typeface="Aptos"/>
              </a:rPr>
              <a:t>Requisito</a:t>
            </a:r>
            <a:r>
              <a:rPr sz="1600" dirty="0">
                <a:solidFill>
                  <a:srgbClr val="222E40"/>
                </a:solidFill>
                <a:latin typeface="Aptos"/>
              </a:rPr>
              <a:t> → Wireframe → Implementacao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50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Componentes de um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772400" cy="4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1. HEADER: Navegacao principal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Logo, menu, busca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2. CONTEUDO: Area principal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Texto, imagens, formularios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3. SIDEBAR: Menu lateral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Links adicionais, filtros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4. FOOTER: Rodape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Links, contato, copyright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5. BOTOES E CTA: Call-to-Action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Acoes principais (comprar, enviar, etc)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51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Estrutura Visual de um Wireframe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00200"/>
            <a:ext cx="6400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HEADER - Navegacao Principal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468880"/>
            <a:ext cx="6400800" cy="2560320"/>
          </a:xfrm>
          <a:prstGeom prst="rect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646464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CONTEUDO</a:t>
            </a:r>
          </a:p>
          <a:p>
            <a:pPr algn="ctr">
              <a:spcAft>
                <a:spcPts val="300"/>
              </a:spcAft>
            </a:pPr>
            <a:r>
              <a:rPr sz="1500">
                <a:solidFill>
                  <a:srgbClr val="222E40"/>
                </a:solidFill>
                <a:latin typeface="Aptos"/>
              </a:rPr>
              <a:t>Texto, Imagens, Formularios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66360"/>
            <a:ext cx="64008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6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FOOTER - Links, Contato, Copyright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52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22622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Passo-a-Passo: Criar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772400" cy="470000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1. PREPARACAO: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Escolha uma ideia de app simples (ex: app de notas)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2. DESENHE 2-3 TELAS principais: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Use papel ou Balsamiq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3. INCLUA COMPONENTES: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Header, conteudo, botoes, navegacao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4. SEM CORES OU DETALHES: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Foco na estrutura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5. APRESENTE AO GRUPO:</a:t>
            </a:r>
            <a:endParaRPr lang="pt-BR"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6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Justifique suas escolhas</a:t>
            </a:r>
            <a:endParaRPr lang="pt-BR" sz="1600">
              <a:solidFill>
                <a:srgbClr val="222E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53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O que e No-Code?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303520" cy="470000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Desenvolvimento SEM escrever </a:t>
            </a:r>
            <a:r>
              <a:rPr lang="pt-BR" sz="1400" dirty="0" err="1">
                <a:solidFill>
                  <a:srgbClr val="222E40"/>
                </a:solidFill>
                <a:latin typeface="Aptos"/>
              </a:rPr>
              <a:t>codigo</a:t>
            </a:r>
            <a:r>
              <a:rPr lang="pt-BR" sz="1400" dirty="0">
                <a:solidFill>
                  <a:srgbClr val="222E40"/>
                </a:solidFill>
                <a:latin typeface="Aptos"/>
              </a:rPr>
              <a:t> de </a:t>
            </a:r>
            <a:r>
              <a:rPr lang="pt-BR" sz="1400" dirty="0" err="1">
                <a:solidFill>
                  <a:srgbClr val="222E40"/>
                </a:solidFill>
                <a:latin typeface="Aptos"/>
              </a:rPr>
              <a:t>programacao</a:t>
            </a:r>
            <a:r>
              <a:rPr lang="pt-BR" sz="1400" dirty="0">
                <a:solidFill>
                  <a:srgbClr val="222E40"/>
                </a:solidFill>
                <a:latin typeface="Aptos"/>
              </a:rPr>
              <a:t> tradicional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endParaRPr lang="pt-BR" sz="14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Usa INTERFACES VISUAIS: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Arrastar e soltar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Blocos configuráveis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Menus intuitivos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endParaRPr lang="pt-BR" sz="14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DEMOCRATIZA o desenvolvimento: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Profissionais </a:t>
            </a:r>
            <a:r>
              <a:rPr lang="pt-BR" sz="1400" dirty="0" err="1">
                <a:solidFill>
                  <a:srgbClr val="222E40"/>
                </a:solidFill>
                <a:latin typeface="Aptos"/>
              </a:rPr>
              <a:t>nao-tecnicos</a:t>
            </a:r>
            <a:r>
              <a:rPr lang="pt-BR" sz="1400" dirty="0">
                <a:solidFill>
                  <a:srgbClr val="222E40"/>
                </a:solidFill>
                <a:latin typeface="Aptos"/>
              </a:rPr>
              <a:t> podem criar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Desenvolvedores focam em complexidade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endParaRPr lang="pt-BR" sz="14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EXEMPLOS DE PLATAFORMAS: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Google </a:t>
            </a:r>
            <a:r>
              <a:rPr lang="pt-BR" sz="1400" dirty="0" err="1">
                <a:solidFill>
                  <a:srgbClr val="222E40"/>
                </a:solidFill>
                <a:latin typeface="Aptos"/>
              </a:rPr>
              <a:t>AppSheet</a:t>
            </a:r>
            <a:endParaRPr lang="pt-BR" sz="14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</a:t>
            </a:r>
            <a:r>
              <a:rPr lang="pt-BR" sz="1400" dirty="0" err="1">
                <a:solidFill>
                  <a:srgbClr val="222E40"/>
                </a:solidFill>
                <a:latin typeface="Aptos"/>
              </a:rPr>
              <a:t>FlutterFlow</a:t>
            </a:r>
            <a:endParaRPr lang="pt-BR" sz="14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400"/>
              </a:spcBef>
              <a:spcAft>
                <a:spcPts val="300"/>
              </a:spcAft>
              <a:defRPr sz="1500">
                <a:solidFill>
                  <a:srgbClr val="282828"/>
                </a:solidFill>
              </a:defRPr>
            </a:pPr>
            <a:r>
              <a:rPr lang="pt-BR" sz="1400" dirty="0">
                <a:solidFill>
                  <a:srgbClr val="222E40"/>
                </a:solidFill>
                <a:latin typeface="Aptos"/>
              </a:rPr>
              <a:t>  • Bubble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54480"/>
            <a:ext cx="2560320" cy="4297680"/>
          </a:xfrm>
          <a:prstGeom prst="roundRect">
            <a:avLst>
              <a:gd name="adj" fmla="val 8000"/>
            </a:avLst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3368" y="3886200"/>
            <a:ext cx="1645920" cy="10972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73368" y="4279392"/>
            <a:ext cx="1143000" cy="10972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4672584"/>
            <a:ext cx="1874519" cy="10972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697480"/>
            <a:ext cx="1828799" cy="22860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54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5933011" y="4818888"/>
            <a:ext cx="2662349" cy="1069848"/>
          </a:xfrm>
          <a:prstGeom prst="roundRect">
            <a:avLst>
              <a:gd name="adj" fmla="val 9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qr-32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853539"/>
            <a:ext cx="1004396" cy="10043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51085" y="5138928"/>
            <a:ext cx="1062087" cy="363176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VÍDEO
COMPLEMENTAR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812" y="5431536"/>
            <a:ext cx="1370632" cy="486287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Aponte a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câmera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ou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clique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700" y="6053328"/>
            <a:ext cx="823239" cy="16312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ctr"/>
            <a:r>
              <a:rPr lang="pt-BR" sz="700" b="0" dirty="0">
                <a:solidFill>
                  <a:srgbClr val="606E84"/>
                </a:solidFill>
                <a:latin typeface="Aptos"/>
              </a:rPr>
              <a:t>In</a:t>
            </a:r>
            <a:r>
              <a:rPr sz="700" b="0" dirty="0" err="1">
                <a:solidFill>
                  <a:srgbClr val="606E84"/>
                </a:solidFill>
                <a:latin typeface="Aptos"/>
              </a:rPr>
              <a:t>trodução</a:t>
            </a:r>
            <a:r>
              <a:rPr sz="700" b="0" dirty="0">
                <a:solidFill>
                  <a:srgbClr val="606E84"/>
                </a:solidFill>
                <a:latin typeface="Aptos"/>
              </a:rPr>
              <a:t> no-code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Vantagens do No-Code em Resumo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0000"/>
            <a:ext cx="1509344" cy="330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640" y="1950000"/>
            <a:ext cx="13893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TEMPO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640" y="2600000"/>
            <a:ext cx="1389344" cy="2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  <a:defRPr sz="1200">
                <a:solidFill>
                  <a:srgbClr val="3C3C3C"/>
                </a:solidFill>
              </a:defRPr>
            </a:pPr>
            <a:r>
              <a:rPr sz="1200">
                <a:solidFill>
                  <a:srgbClr val="222E40"/>
                </a:solidFill>
                <a:latin typeface="Aptos"/>
              </a:rPr>
              <a:t>Dias/semanas</a:t>
            </a:r>
            <a:br/>
            <a:r>
              <a:rPr sz="1200">
                <a:solidFill>
                  <a:srgbClr val="222E40"/>
                </a:solidFill>
                <a:latin typeface="Aptos"/>
              </a:rPr>
              <a:t>em vez de meses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7984" y="1750000"/>
            <a:ext cx="1509344" cy="330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7984" y="1950000"/>
            <a:ext cx="13893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CUSTO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7984" y="2600000"/>
            <a:ext cx="1389344" cy="2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  <a:defRPr sz="1200">
                <a:solidFill>
                  <a:srgbClr val="3C3C3C"/>
                </a:solidFill>
              </a:defRPr>
            </a:pPr>
            <a:r>
              <a:rPr sz="1200">
                <a:solidFill>
                  <a:srgbClr val="222E40"/>
                </a:solidFill>
                <a:latin typeface="Aptos"/>
              </a:rPr>
              <a:t>Menos programadores</a:t>
            </a:r>
            <a:br/>
            <a:r>
              <a:rPr sz="1200">
                <a:solidFill>
                  <a:srgbClr val="222E40"/>
                </a:solidFill>
                <a:latin typeface="Aptos"/>
              </a:rPr>
              <a:t>necessarios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7328" y="1750000"/>
            <a:ext cx="1509344" cy="330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67328" y="1950000"/>
            <a:ext cx="13893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ACESSO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328" y="2600000"/>
            <a:ext cx="1389344" cy="2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  <a:defRPr sz="1200">
                <a:solidFill>
                  <a:srgbClr val="3C3C3C"/>
                </a:solidFill>
              </a:defRPr>
            </a:pPr>
            <a:r>
              <a:rPr sz="1200">
                <a:solidFill>
                  <a:srgbClr val="222E40"/>
                </a:solidFill>
                <a:latin typeface="Aptos"/>
              </a:rPr>
              <a:t>Nao-programadores</a:t>
            </a:r>
            <a:br/>
            <a:r>
              <a:rPr sz="1200">
                <a:solidFill>
                  <a:srgbClr val="222E40"/>
                </a:solidFill>
                <a:latin typeface="Aptos"/>
              </a:rPr>
              <a:t>podem criar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6672" y="1750000"/>
            <a:ext cx="1509344" cy="330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96672" y="1950000"/>
            <a:ext cx="13893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ITERACAO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6672" y="2600000"/>
            <a:ext cx="1389344" cy="2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  <a:defRPr sz="1200">
                <a:solidFill>
                  <a:srgbClr val="3C3C3C"/>
                </a:solidFill>
              </a:defRPr>
            </a:pPr>
            <a:r>
              <a:rPr sz="1200">
                <a:solidFill>
                  <a:srgbClr val="222E40"/>
                </a:solidFill>
                <a:latin typeface="Aptos"/>
              </a:rPr>
              <a:t>Testar ideias</a:t>
            </a:r>
            <a:br/>
            <a:r>
              <a:rPr sz="1200">
                <a:solidFill>
                  <a:srgbClr val="222E40"/>
                </a:solidFill>
                <a:latin typeface="Aptos"/>
              </a:rPr>
              <a:t>rapidamente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66016" y="1750000"/>
            <a:ext cx="1509344" cy="330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6016" y="1950000"/>
            <a:ext cx="13893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9333EA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6016" y="2600000"/>
            <a:ext cx="1389344" cy="2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  <a:defRPr sz="1200">
                <a:solidFill>
                  <a:srgbClr val="3C3C3C"/>
                </a:solidFill>
              </a:defRPr>
            </a:pPr>
            <a:r>
              <a:rPr sz="1200">
                <a:solidFill>
                  <a:srgbClr val="222E40"/>
                </a:solidFill>
                <a:latin typeface="Aptos"/>
              </a:rPr>
              <a:t>Ideal para Minimum</a:t>
            </a:r>
            <a:br/>
            <a:r>
              <a:rPr sz="1200">
                <a:solidFill>
                  <a:srgbClr val="222E40"/>
                </a:solidFill>
                <a:latin typeface="Aptos"/>
              </a:rPr>
              <a:t>Viable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55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438840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Como Funciona No-Code?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772400" cy="470000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1. COMPONENTES PRONTOS: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Botoes, campos de entrada, listas, etc.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2. FLUXOS LOGICOS VISUAIS: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'Se isso, entao aquilo'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3. INTEGRACOES COM APIS: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Conectar com outros servicos (WhatsApp, Slack, etc)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4. TUDO SEM CODIFICAR: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 Arrasta componentes, conecta logica, pronto!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ANALOGIA: como PowerPoint para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56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AppSheet em Detalhe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100000" cy="4450000"/>
          </a:xfrm>
          <a:prstGeom prst="rect">
            <a:avLst/>
          </a:prstGeom>
          <a:noFill/>
        </p:spPr>
        <p:txBody>
          <a:bodyPr wrap="square" lIns="109728" rIns="73152" anchor="ctr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Plataforma NO-CODE do GOOGLE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CRIA apps para WEB E MOBILE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Interface unica para ambas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INTEGRA COM: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Google Sheets (banco de dados)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Firebase (backend)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  • APIs (WhatsApp, Slack,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etc</a:t>
            </a:r>
            <a:r>
              <a:rPr sz="1600" dirty="0">
                <a:solidFill>
                  <a:srgbClr val="222E40"/>
                </a:solidFill>
                <a:latin typeface="Aptos"/>
              </a:rPr>
              <a:t>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USADO PARA PROJETO ATENDE+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neste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curso</a:t>
            </a: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 dirty="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 dirty="0">
                <a:solidFill>
                  <a:srgbClr val="222E40"/>
                </a:solidFill>
                <a:latin typeface="Aptos"/>
              </a:rPr>
              <a:t>PROXIMA SEMANA: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vocês</a:t>
            </a:r>
            <a:r>
              <a:rPr sz="1600" dirty="0">
                <a:solidFill>
                  <a:srgbClr val="222E40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comecam</a:t>
            </a:r>
            <a:r>
              <a:rPr sz="1600" dirty="0">
                <a:solidFill>
                  <a:srgbClr val="222E40"/>
                </a:solidFill>
                <a:latin typeface="Aptos"/>
              </a:rPr>
              <a:t> a CRIAR apps com </a:t>
            </a:r>
            <a:r>
              <a:rPr sz="1600" dirty="0" err="1">
                <a:solidFill>
                  <a:srgbClr val="222E40"/>
                </a:solidFill>
                <a:latin typeface="Aptos"/>
              </a:rPr>
              <a:t>AppSheet</a:t>
            </a:r>
            <a:endParaRPr sz="1600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55596" y="1440000"/>
            <a:ext cx="2398000" cy="3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cover_appstore_6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592" y="1490000"/>
            <a:ext cx="1708007" cy="33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5596" y="4880000"/>
            <a:ext cx="2398000" cy="201168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800" b="0">
                <a:solidFill>
                  <a:srgbClr val="606E84"/>
                </a:solidFill>
                <a:latin typeface="Aptos"/>
              </a:rPr>
              <a:t>Figura </a:t>
            </a:r>
            <a:r>
              <a:rPr lang="pt-BR" sz="800" b="0">
                <a:solidFill>
                  <a:srgbClr val="606E84"/>
                </a:solidFill>
                <a:latin typeface="Aptos"/>
              </a:rPr>
              <a:t>17</a:t>
            </a:r>
            <a:r>
              <a:rPr sz="800" b="0">
                <a:solidFill>
                  <a:srgbClr val="606E84"/>
                </a:solidFill>
                <a:latin typeface="Aptos"/>
              </a:rPr>
              <a:t> • Ecossistema AppSheet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57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22960" y="5022880"/>
            <a:ext cx="2553528" cy="957296"/>
          </a:xfrm>
          <a:prstGeom prst="roundRect">
            <a:avLst>
              <a:gd name="adj" fmla="val 9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qr-35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708" y="5062352"/>
            <a:ext cx="896112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34072" y="5138928"/>
            <a:ext cx="896112" cy="256032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VÍDEO
COMPLEMENTAR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5431536"/>
            <a:ext cx="896112" cy="32004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sz="700" b="0" dirty="0">
                <a:solidFill>
                  <a:srgbClr val="FFFFFF"/>
                </a:solidFill>
                <a:latin typeface="Aptos"/>
              </a:rPr>
              <a:t>Aponte a </a:t>
            </a:r>
            <a:r>
              <a:rPr sz="700" b="0" dirty="0" err="1">
                <a:solidFill>
                  <a:srgbClr val="FFFFFF"/>
                </a:solidFill>
                <a:latin typeface="Aptos"/>
              </a:rPr>
              <a:t>câmera</a:t>
            </a:r>
            <a:r>
              <a:rPr sz="700" b="0" dirty="0">
                <a:solidFill>
                  <a:srgbClr val="FFFFFF"/>
                </a:solidFill>
                <a:latin typeface="Aptos"/>
              </a:rPr>
              <a:t>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6053328"/>
            <a:ext cx="2743200" cy="274320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ctr"/>
            <a:r>
              <a:rPr lang="pt-BR" sz="700" b="0">
                <a:solidFill>
                  <a:srgbClr val="606E84"/>
                </a:solidFill>
                <a:latin typeface="Aptos"/>
              </a:rPr>
              <a:t>Playlist: </a:t>
            </a:r>
            <a:r>
              <a:rPr sz="700" b="0">
                <a:solidFill>
                  <a:srgbClr val="606E84"/>
                </a:solidFill>
                <a:latin typeface="Aptos"/>
              </a:rPr>
              <a:t>Curso AppSheet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0000"/>
            <a:ext cx="5212080" cy="146304"/>
          </a:xfrm>
          <a:prstGeom prst="rect">
            <a:avLst/>
          </a:prstGeom>
          <a:noFill/>
        </p:spPr>
        <p:txBody>
          <a:bodyPr wrap="none" lIns="27432" tIns="9144" rIns="27432">
            <a:noAutofit/>
          </a:bodyPr>
          <a:lstStyle/>
          <a:p>
            <a:pPr algn="l"/>
            <a:r>
              <a:rPr sz="700" b="0">
                <a:solidFill>
                  <a:srgbClr val="606E84"/>
                </a:solidFill>
                <a:latin typeface="Aptos"/>
              </a:rPr>
              <a:t>Fonte visual: Material Didático AppClicks – Disciplina 1 (IFCE, 2025).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Resumo - Ciclo de Desenvolvimento</a:t>
            </a:r>
          </a:p>
        </p:txBody>
      </p:sp>
      <p:sp>
        <p:nvSpPr>
          <p:cNvPr id="5" name="Trapezoid 4"/>
          <p:cNvSpPr/>
          <p:nvPr/>
        </p:nvSpPr>
        <p:spPr>
          <a:xfrm>
            <a:off x="914400" y="1750000"/>
            <a:ext cx="1828800" cy="12344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1. ENTENDER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22E40"/>
                </a:solidFill>
                <a:latin typeface="Aptos"/>
              </a:rPr>
              <a:t>PROBLEMA</a:t>
            </a:r>
          </a:p>
        </p:txBody>
      </p:sp>
      <p:sp>
        <p:nvSpPr>
          <p:cNvPr id="6" name="Trapezoid 5"/>
          <p:cNvSpPr/>
          <p:nvPr/>
        </p:nvSpPr>
        <p:spPr>
          <a:xfrm>
            <a:off x="3657600" y="1750000"/>
            <a:ext cx="1828800" cy="12344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2. REGISTRAR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22E40"/>
                </a:solidFill>
                <a:latin typeface="Aptos"/>
              </a:rPr>
              <a:t>REQUISITOS</a:t>
            </a:r>
          </a:p>
        </p:txBody>
      </p:sp>
      <p:sp>
        <p:nvSpPr>
          <p:cNvPr id="7" name="Trapezoid 6"/>
          <p:cNvSpPr/>
          <p:nvPr/>
        </p:nvSpPr>
        <p:spPr>
          <a:xfrm>
            <a:off x="6400800" y="1750000"/>
            <a:ext cx="1828800" cy="12344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3. CRIAR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22E40"/>
                </a:solidFill>
                <a:latin typeface="Aptos"/>
              </a:rPr>
              <a:t>WIREFRAME</a:t>
            </a:r>
          </a:p>
        </p:txBody>
      </p:sp>
      <p:sp>
        <p:nvSpPr>
          <p:cNvPr id="8" name="Trapezoid 7"/>
          <p:cNvSpPr/>
          <p:nvPr/>
        </p:nvSpPr>
        <p:spPr>
          <a:xfrm>
            <a:off x="6263640" y="4500000"/>
            <a:ext cx="2103120" cy="12344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4. IMPLEMENTAR</a:t>
            </a:r>
          </a:p>
        </p:txBody>
      </p:sp>
      <p:sp>
        <p:nvSpPr>
          <p:cNvPr id="9" name="Trapezoid 8"/>
          <p:cNvSpPr/>
          <p:nvPr/>
        </p:nvSpPr>
        <p:spPr>
          <a:xfrm>
            <a:off x="3657600" y="4500000"/>
            <a:ext cx="1828800" cy="12344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5. TESTAR</a:t>
            </a:r>
          </a:p>
        </p:txBody>
      </p:sp>
      <p:sp>
        <p:nvSpPr>
          <p:cNvPr id="10" name="Trapezoid 9"/>
          <p:cNvSpPr/>
          <p:nvPr/>
        </p:nvSpPr>
        <p:spPr>
          <a:xfrm>
            <a:off x="914400" y="4500000"/>
            <a:ext cx="1828800" cy="12344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6. ITERAR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80000"/>
            <a:ext cx="274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22D3EE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SOLUCAO</a:t>
            </a:r>
            <a:br/>
            <a:r>
              <a:rPr sz="1500">
                <a:solidFill>
                  <a:srgbClr val="222E40"/>
                </a:solidFill>
                <a:latin typeface="Aptos"/>
              </a:rPr>
              <a:t>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58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7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Semana 1 - Principais Aprendizados</a:t>
            </a:r>
            <a:endParaRPr lang="pt-BR"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000000"/>
            <a:ext cx="2560320" cy="305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8640" y="2180000"/>
            <a:ext cx="2280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66CC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DIA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640" y="2780000"/>
            <a:ext cx="2280320" cy="21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Mercado de apps $750 bi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Tipos de monetizacao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Instalacao do Atende+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8960" y="2000000"/>
            <a:ext cx="2560320" cy="305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8960" y="2180000"/>
            <a:ext cx="2280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66CC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DIA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960" y="2780000"/>
            <a:ext cx="2280320" cy="1862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Coleta de requisitos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User Stories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Diagramas de caso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9280" y="2000000"/>
            <a:ext cx="2560320" cy="3050000"/>
          </a:xfrm>
          <a:prstGeom prst="rect">
            <a:avLst/>
          </a:prstGeom>
          <a:solidFill>
            <a:srgbClr val="F0F8FF"/>
          </a:solidFill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09280" y="2180000"/>
            <a:ext cx="2280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66CC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DIA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9280" y="2780000"/>
            <a:ext cx="2280320" cy="15850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Wireframes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Prototipacao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700" b="1">
                <a:solidFill>
                  <a:srgbClr val="22D3EE"/>
                </a:solidFill>
              </a:defRPr>
            </a:pPr>
            <a:r>
              <a:rPr lang="pt-BR" sz="1800">
                <a:solidFill>
                  <a:srgbClr val="222E40"/>
                </a:solidFill>
                <a:latin typeface="Aptos"/>
              </a:rPr>
              <a:t>✓ Introducao ao No-Code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 anchor="t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 anchor="t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59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Proximas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00000"/>
            <a:ext cx="8055864" cy="4750000"/>
          </a:xfrm>
          <a:prstGeom prst="rect">
            <a:avLst/>
          </a:prstGeom>
          <a:noFill/>
        </p:spPr>
        <p:txBody>
          <a:bodyPr wrap="square" lIns="109728" rIns="109728" anchor="ctr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pt-BR" sz="1400" b="1">
                <a:solidFill>
                  <a:srgbClr val="7A2FBF"/>
                </a:solidFill>
                <a:latin typeface="Aptos"/>
              </a:rPr>
              <a:t>SEMANA 2  </a:t>
            </a:r>
            <a:r>
              <a:rPr lang="pt-BR" sz="1400">
                <a:solidFill>
                  <a:srgbClr val="222E40"/>
                </a:solidFill>
                <a:latin typeface="Aptos"/>
              </a:rPr>
              <a:t>Contato com o cliente real: entrevistas, registro de requisitos, historias de usuario e diagrama de caso de uso. Google Sheets como base de dados.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pt-BR" sz="1400" b="1">
                <a:solidFill>
                  <a:srgbClr val="7A2FBF"/>
                </a:solidFill>
                <a:latin typeface="Aptos"/>
              </a:rPr>
              <a:t>SEMANA 3  </a:t>
            </a:r>
            <a:r>
              <a:rPr lang="pt-BR" sz="1400">
                <a:solidFill>
                  <a:srgbClr val="222E40"/>
                </a:solidFill>
                <a:latin typeface="Aptos"/>
              </a:rPr>
              <a:t>CBL e UX: formacao de equipes, fases Engage / Investigate / Act, conceitos e padroes de UX aplicados ao App.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pt-BR" sz="1400" b="1">
                <a:solidFill>
                  <a:srgbClr val="7A2FBF"/>
                </a:solidFill>
                <a:latin typeface="Aptos"/>
              </a:rPr>
              <a:t>SEMANA 4  </a:t>
            </a:r>
            <a:r>
              <a:rPr lang="pt-BR" sz="1400">
                <a:solidFill>
                  <a:srgbClr val="222E40"/>
                </a:solidFill>
                <a:latin typeface="Aptos"/>
              </a:rPr>
              <a:t>Ajustes no App base: layout de telas, fluxos de dados, campos e botoes de formulario, edicao de colunas nas tabelas.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pt-BR" sz="1400" b="1">
                <a:solidFill>
                  <a:srgbClr val="7A2FBF"/>
                </a:solidFill>
                <a:latin typeface="Aptos"/>
              </a:rPr>
              <a:t>SEMANA 5  </a:t>
            </a:r>
            <a:r>
              <a:rPr lang="pt-BR" sz="1400">
                <a:solidFill>
                  <a:srgbClr val="222E40"/>
                </a:solidFill>
                <a:latin typeface="Aptos"/>
              </a:rPr>
              <a:t>Novas funcionalidades: planejar, implementar, testar e apresentar ao cliente as melhorias do App.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pt-BR" sz="1400" b="1">
                <a:solidFill>
                  <a:srgbClr val="7A2FBF"/>
                </a:solidFill>
                <a:latin typeface="Aptos"/>
              </a:rPr>
              <a:t>SEMANA 6  </a:t>
            </a:r>
            <a:r>
              <a:rPr lang="pt-BR" sz="1400">
                <a:solidFill>
                  <a:srgbClr val="222E40"/>
                </a:solidFill>
                <a:latin typeface="Aptos"/>
              </a:rPr>
              <a:t>Projeto agil: desafios e metas das equipes, formularios dinamicos e validacao de dados no AppSheet.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pt-BR" sz="1400" b="1">
                <a:solidFill>
                  <a:srgbClr val="7A2FBF"/>
                </a:solidFill>
                <a:latin typeface="Aptos"/>
              </a:rPr>
              <a:t>SEMANA 7  </a:t>
            </a:r>
            <a:r>
              <a:rPr lang="pt-BR" sz="1400">
                <a:solidFill>
                  <a:srgbClr val="222E40"/>
                </a:solidFill>
                <a:latin typeface="Aptos"/>
              </a:rPr>
              <a:t>Gestao de projeto com Trello: tarefas, objetivos, fluxo de trabalho, divisao entre equipes e acompanhamento.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pt-BR" sz="1400" b="1">
                <a:solidFill>
                  <a:srgbClr val="7A2FBF"/>
                </a:solidFill>
                <a:latin typeface="Aptos"/>
              </a:rPr>
              <a:t>SEMANA 8  </a:t>
            </a:r>
            <a:r>
              <a:rPr lang="pt-BR" sz="1400">
                <a:solidFill>
                  <a:srgbClr val="222E40"/>
                </a:solidFill>
                <a:latin typeface="Aptos"/>
              </a:rPr>
              <a:t>Relatorios e APIs: progresso da equipe, geracao de relatorios em PDF, mapas e integracao do App com APIs.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60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Dicas Finais para Sucesso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1. PERGUNTE SEMPRE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Nao ha pergunta boba em tecnologia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2. PRACTICE USER STORIES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Formato e fundamental para comunicacao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3. DESENHE WIREFRAMES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Mesmo rascunho e util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4. EXPLORE APPSHEET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Brincando se aprende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5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5. TENHA CURIOSIDADE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   Tecnologia evolui rápido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Dicas Finais para Sucesso</a:t>
            </a:r>
          </a:p>
        </p:txBody>
      </p:sp>
      <p:sp>
        <p:nvSpPr>
          <p:cNvPr id="5" name="Hexagon 4"/>
          <p:cNvSpPr/>
          <p:nvPr/>
        </p:nvSpPr>
        <p:spPr>
          <a:xfrm>
            <a:off x="1143000" y="1508760"/>
            <a:ext cx="2331720" cy="1234440"/>
          </a:xfrm>
          <a:prstGeom prst="hexagon">
            <a:avLst/>
          </a:prstGeom>
          <a:solidFill>
            <a:srgbClr val="142341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PERGUNTE SEMPRE</a:t>
            </a:r>
          </a:p>
        </p:txBody>
      </p:sp>
      <p:sp>
        <p:nvSpPr>
          <p:cNvPr id="6" name="Hexagon 5"/>
          <p:cNvSpPr/>
          <p:nvPr/>
        </p:nvSpPr>
        <p:spPr>
          <a:xfrm>
            <a:off x="5852160" y="1508760"/>
            <a:ext cx="1920240" cy="1234440"/>
          </a:xfrm>
          <a:prstGeom prst="hexagon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PRATIQUE USER STORIES</a:t>
            </a:r>
          </a:p>
        </p:txBody>
      </p:sp>
      <p:sp>
        <p:nvSpPr>
          <p:cNvPr id="7" name="Hexagon 6"/>
          <p:cNvSpPr/>
          <p:nvPr/>
        </p:nvSpPr>
        <p:spPr>
          <a:xfrm>
            <a:off x="5623560" y="3977639"/>
            <a:ext cx="2286000" cy="1234440"/>
          </a:xfrm>
          <a:prstGeom prst="hexagon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DESENHE WIREFRAMES</a:t>
            </a:r>
          </a:p>
        </p:txBody>
      </p:sp>
      <p:sp>
        <p:nvSpPr>
          <p:cNvPr id="8" name="Hexagon 7"/>
          <p:cNvSpPr/>
          <p:nvPr/>
        </p:nvSpPr>
        <p:spPr>
          <a:xfrm>
            <a:off x="1143000" y="3977639"/>
            <a:ext cx="2331720" cy="1234440"/>
          </a:xfrm>
          <a:prstGeom prst="hexagon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EXPLORE APPSHEET</a:t>
            </a:r>
          </a:p>
        </p:txBody>
      </p:sp>
      <p:sp>
        <p:nvSpPr>
          <p:cNvPr id="9" name="Hexagon 8"/>
          <p:cNvSpPr/>
          <p:nvPr/>
        </p:nvSpPr>
        <p:spPr>
          <a:xfrm>
            <a:off x="3429000" y="4800600"/>
            <a:ext cx="2286000" cy="1234440"/>
          </a:xfrm>
          <a:prstGeom prst="hexagon">
            <a:avLst/>
          </a:prstGeom>
          <a:solidFill>
            <a:srgbClr val="FFFFFF"/>
          </a:solidFill>
          <a:ln w="1397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TENHA CURIOSIDADE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22D3EE"/>
                </a:solidFill>
              </a:defRPr>
            </a:pPr>
            <a:r>
              <a:rPr sz="1500">
                <a:solidFill>
                  <a:srgbClr val="222E40"/>
                </a:solidFill>
                <a:latin typeface="Aptos"/>
              </a:rPr>
              <a:t>COMO</a:t>
            </a:r>
            <a:br/>
            <a:r>
              <a:rPr sz="1500">
                <a:solidFill>
                  <a:srgbClr val="222E40"/>
                </a:solidFill>
                <a:latin typeface="Aptos"/>
              </a:rPr>
              <a:t>APRENDER</a:t>
            </a:r>
            <a:br/>
            <a:r>
              <a:rPr sz="1500">
                <a:solidFill>
                  <a:srgbClr val="222E40"/>
                </a:solidFill>
                <a:latin typeface="Aptos"/>
              </a:rPr>
              <a:t>MELHOR?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61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Recursos Adicionais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526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  <a:hlinkClick r:id="rId3"/>
              </a:rPr>
              <a:t>SEBRAE: www.sebrae.com.br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Consultoria e cursos para empreendedores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  <a:hlinkClick r:id="rId4"/>
              </a:rPr>
              <a:t>GOOGLE APPSHEET: www.appsheet.com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Plataforma e documentacao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  <a:hlinkClick r:id="rId5"/>
              </a:rPr>
              <a:t>FIGMA: www.figma.com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Prototipacao e design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4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YOUTUBE: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  <a:hlinkClick r:id="rId4"/>
              </a:rPr>
              <a:t>  Procure: 'Google AppSheet tutorial'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Procure: 'Wireframe examples'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400">
                <a:solidFill>
                  <a:srgbClr val="222E40"/>
                </a:solidFill>
                <a:latin typeface="Aptos"/>
              </a:rPr>
              <a:t>  Procure: 'User stories examples'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54480"/>
            <a:ext cx="2560320" cy="4297680"/>
          </a:xfrm>
          <a:prstGeom prst="roundRect">
            <a:avLst>
              <a:gd name="adj" fmla="val 8000"/>
            </a:avLst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3368" y="3886200"/>
            <a:ext cx="1645920" cy="10972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73368" y="4279392"/>
            <a:ext cx="1143000" cy="10972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4672584"/>
            <a:ext cx="1874519" cy="10972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697480"/>
            <a:ext cx="1828799" cy="22860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APPCLICKS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62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  <a:latin typeface="Aptos"/>
              </a:rPr>
              <a:t>Perguntas &amp; Discussao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4617720" cy="4526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Agora e a sua vez!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O que ficou em duvida?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O que achou mais interessante?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Qual ideia de app vocês gostariam de criar?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Anote ideias: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Qual problema deseja resolver?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Quem seria seu cliente?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  • Como monetizaria?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endParaRPr sz="1600">
              <a:solidFill>
                <a:srgbClr val="222E40"/>
              </a:solidFill>
              <a:latin typeface="Aptos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defRPr sz="1900">
                <a:solidFill>
                  <a:srgbClr val="282828"/>
                </a:solidFill>
              </a:defRPr>
            </a:pPr>
            <a:r>
              <a:rPr sz="1600">
                <a:solidFill>
                  <a:srgbClr val="222E40"/>
                </a:solidFill>
                <a:latin typeface="Aptos"/>
              </a:rPr>
              <a:t>Compartilhe na proxima aula!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10528"/>
            <a:ext cx="2011680" cy="164592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l"/>
            <a:r>
              <a:rPr sz="800" b="1">
                <a:solidFill>
                  <a:srgbClr val="606E84"/>
                </a:solidFill>
                <a:latin typeface="Aptos"/>
              </a:rPr>
              <a:t>APPCLICKS  • 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681" y="6492240"/>
            <a:ext cx="396839" cy="178510"/>
          </a:xfrm>
          <a:prstGeom prst="rect">
            <a:avLst/>
          </a:prstGeom>
          <a:noFill/>
        </p:spPr>
        <p:txBody>
          <a:bodyPr wrap="none" lIns="27432" tIns="9144" rIns="27432">
            <a:spAutoFit/>
          </a:bodyPr>
          <a:lstStyle/>
          <a:p>
            <a:pPr algn="r"/>
            <a:r>
              <a:rPr lang="en-US" sz="800" b="1">
                <a:solidFill>
                  <a:srgbClr val="606E84"/>
                </a:solidFill>
                <a:latin typeface="Aptos"/>
              </a:rPr>
              <a:t>63  /  64</a:t>
            </a:r>
            <a:endParaRPr sz="800" b="1">
              <a:solidFill>
                <a:srgbClr val="606E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spcAft>
                <a:spcPts val="300"/>
              </a:spcAft>
              <a:defRPr sz="44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  <a:latin typeface="Aptos"/>
              </a:rPr>
              <a:t>Finalizando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000"/>
            <a:ext cx="8046720" cy="7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300"/>
              </a:spcAft>
              <a:defRPr sz="3200" b="1">
                <a:solidFill>
                  <a:srgbClr val="FFFFFF"/>
                </a:solidFill>
              </a:defRPr>
            </a:pPr>
            <a:r>
              <a:rPr lang="pt-BR" sz="3200">
                <a:solidFill>
                  <a:srgbClr val="FFFFFF"/>
                </a:solidFill>
                <a:latin typeface="Aptos"/>
              </a:rPr>
              <a:t>SEMANA 1 CONCLUIDA!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0000"/>
            <a:ext cx="8046720" cy="21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800" b="1">
                <a:solidFill>
                  <a:srgbClr val="64DCFF"/>
                </a:solidFill>
              </a:defRPr>
            </a:pPr>
            <a:r>
              <a:rPr lang="pt-BR" sz="1800">
                <a:solidFill>
                  <a:srgbClr val="FFFFFF"/>
                </a:solidFill>
                <a:latin typeface="Aptos"/>
              </a:rPr>
              <a:t>✓ Conceitos de empreendedorismo digital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 b="1">
                <a:solidFill>
                  <a:srgbClr val="64DCFF"/>
                </a:solidFill>
              </a:defRPr>
            </a:pPr>
            <a:r>
              <a:rPr lang="pt-BR" sz="1800">
                <a:solidFill>
                  <a:srgbClr val="FFFFFF"/>
                </a:solidFill>
                <a:latin typeface="Aptos"/>
              </a:rPr>
              <a:t>✓ Dinamica do mercado de apps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 b="1">
                <a:solidFill>
                  <a:srgbClr val="64DCFF"/>
                </a:solidFill>
              </a:defRPr>
            </a:pPr>
            <a:r>
              <a:rPr lang="pt-BR" sz="1800">
                <a:solidFill>
                  <a:srgbClr val="FFFFFF"/>
                </a:solidFill>
                <a:latin typeface="Aptos"/>
              </a:rPr>
              <a:t>✓ Como coletar requisitos bem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 b="1">
                <a:solidFill>
                  <a:srgbClr val="64DCFF"/>
                </a:solidFill>
              </a:defRPr>
            </a:pPr>
            <a:r>
              <a:rPr lang="pt-BR" sz="1800">
                <a:solidFill>
                  <a:srgbClr val="FFFFFF"/>
                </a:solidFill>
                <a:latin typeface="Aptos"/>
              </a:rPr>
              <a:t>✓ Prototipacao antes de codificar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800" b="1">
                <a:solidFill>
                  <a:srgbClr val="64DCFF"/>
                </a:solidFill>
              </a:defRPr>
            </a:pPr>
            <a:r>
              <a:rPr lang="pt-BR" sz="1800">
                <a:solidFill>
                  <a:srgbClr val="FFFFFF"/>
                </a:solidFill>
                <a:latin typeface="Aptos"/>
              </a:rPr>
              <a:t>✓ Conceito de no-code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00000"/>
            <a:ext cx="8046720" cy="52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300"/>
              </a:spcAft>
              <a:defRPr sz="2000" b="1">
                <a:solidFill>
                  <a:srgbClr val="FFFF96"/>
                </a:solidFill>
              </a:defRPr>
            </a:pPr>
            <a:r>
              <a:rPr lang="pt-BR" sz="2000">
                <a:solidFill>
                  <a:srgbClr val="FFFFFF"/>
                </a:solidFill>
                <a:latin typeface="Aptos"/>
              </a:rPr>
              <a:t>PROXIMA SEMANA: CLIENTE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50000"/>
            <a:ext cx="8046720" cy="4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300"/>
              </a:spcAft>
              <a:defRPr sz="1600">
                <a:solidFill>
                  <a:srgbClr val="FFFFFF"/>
                </a:solidFill>
              </a:defRPr>
            </a:pPr>
            <a:r>
              <a:rPr lang="pt-BR" sz="1600">
                <a:solidFill>
                  <a:srgbClr val="FFFFFF"/>
                </a:solidFill>
                <a:latin typeface="Aptos"/>
              </a:rPr>
              <a:t>Ate logo! Excelente trabalho nesta semana!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6510528"/>
            <a:ext cx="2600000" cy="164592"/>
          </a:xfrm>
          <a:prstGeom prst="rect">
            <a:avLst/>
          </a:prstGeom>
          <a:noFill/>
        </p:spPr>
        <p:txBody>
          <a:bodyPr wrap="square" lIns="27432" tIns="9144" rIns="27432">
            <a:no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APPCLICKS  •  SEMANA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000" y="6492240"/>
            <a:ext cx="850000" cy="200000"/>
          </a:xfrm>
          <a:prstGeom prst="rect">
            <a:avLst/>
          </a:prstGeom>
          <a:noFill/>
        </p:spPr>
        <p:txBody>
          <a:bodyPr wrap="square" lIns="27432" tIns="9144" rIns="27432">
            <a:noAutofit/>
          </a:bodyPr>
          <a:lstStyle/>
          <a:p>
            <a:pPr algn="r">
              <a:spcAft>
                <a:spcPts val="300"/>
              </a:spcAft>
            </a:pPr>
            <a:r>
              <a:rPr lang="en-US" sz="1700" b="1">
                <a:solidFill>
                  <a:srgbClr val="FFFFFF"/>
                </a:solidFill>
                <a:latin typeface="Aptos"/>
              </a:rPr>
              <a:t>64  /  64</a:t>
            </a:r>
            <a:endParaRPr sz="17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11542</Words>
  <Application>Microsoft Office PowerPoint</Application>
  <PresentationFormat>Apresentação na tela (4:3)</PresentationFormat>
  <Paragraphs>1261</Paragraphs>
  <Slides>64</Slides>
  <Notes>64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68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Lucas</cp:lastModifiedBy>
  <cp:revision>2</cp:revision>
  <dcterms:created xsi:type="dcterms:W3CDTF">2013-01-27T09:14:16Z</dcterms:created>
  <dcterms:modified xsi:type="dcterms:W3CDTF">2026-08-09T04:29:04Z</dcterms:modified>
  <cp:category/>
</cp:coreProperties>
</file>