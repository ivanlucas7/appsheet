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7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41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0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1.png"/><Relationship Id="rId7" Type="http://schemas.openxmlformats.org/officeDocument/2006/relationships/image" Target="../media/image10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85.png"/><Relationship Id="rId4" Type="http://schemas.openxmlformats.org/officeDocument/2006/relationships/image" Target="../media/image10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11" Type="http://schemas.openxmlformats.org/officeDocument/2006/relationships/image" Target="../media/image132.png"/><Relationship Id="rId5" Type="http://schemas.openxmlformats.org/officeDocument/2006/relationships/image" Target="../media/image127.png"/><Relationship Id="rId10" Type="http://schemas.openxmlformats.org/officeDocument/2006/relationships/image" Target="../media/image120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3.png"/><Relationship Id="rId7" Type="http://schemas.openxmlformats.org/officeDocument/2006/relationships/image" Target="../media/image1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11" Type="http://schemas.openxmlformats.org/officeDocument/2006/relationships/image" Target="../media/image139.png"/><Relationship Id="rId5" Type="http://schemas.openxmlformats.org/officeDocument/2006/relationships/image" Target="../media/image135.png"/><Relationship Id="rId10" Type="http://schemas.openxmlformats.org/officeDocument/2006/relationships/image" Target="../media/image124.png"/><Relationship Id="rId4" Type="http://schemas.openxmlformats.org/officeDocument/2006/relationships/image" Target="../media/image134.png"/><Relationship Id="rId9" Type="http://schemas.openxmlformats.org/officeDocument/2006/relationships/image" Target="../media/image1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1.png"/><Relationship Id="rId4" Type="http://schemas.openxmlformats.org/officeDocument/2006/relationships/image" Target="../media/image1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3.png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123.png"/><Relationship Id="rId4" Type="http://schemas.openxmlformats.org/officeDocument/2006/relationships/image" Target="../media/image1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25.png"/><Relationship Id="rId7" Type="http://schemas.openxmlformats.org/officeDocument/2006/relationships/image" Target="../media/image1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32.png"/><Relationship Id="rId5" Type="http://schemas.openxmlformats.org/officeDocument/2006/relationships/image" Target="../media/image149.png"/><Relationship Id="rId10" Type="http://schemas.openxmlformats.org/officeDocument/2006/relationships/image" Target="../media/image146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33.png"/><Relationship Id="rId7" Type="http://schemas.openxmlformats.org/officeDocument/2006/relationships/image" Target="../media/image1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24.png"/><Relationship Id="rId5" Type="http://schemas.openxmlformats.org/officeDocument/2006/relationships/image" Target="../media/image155.png"/><Relationship Id="rId10" Type="http://schemas.openxmlformats.org/officeDocument/2006/relationships/image" Target="../media/image139.png"/><Relationship Id="rId4" Type="http://schemas.openxmlformats.org/officeDocument/2006/relationships/image" Target="../media/image154.png"/><Relationship Id="rId9" Type="http://schemas.openxmlformats.org/officeDocument/2006/relationships/image" Target="../media/image1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1.png"/><Relationship Id="rId4" Type="http://schemas.openxmlformats.org/officeDocument/2006/relationships/image" Target="../media/image1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3.png"/><Relationship Id="rId4" Type="http://schemas.openxmlformats.org/officeDocument/2006/relationships/image" Target="../media/image1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0" y="581917"/>
            <a:ext cx="17526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667375"/>
            <a:ext cx="11049000" cy="619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02247"/>
            <a:ext cx="11601450" cy="11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sz="4050" b="0" i="0" u="none">
                <a:solidFill>
                  <a:srgbClr val="FFFFFF"/>
                </a:solidFill>
                <a:latin typeface="Plus Jakarta Sans ExtraBold"/>
              </a:rPr>
              <a:t>App Clicks</a:t>
            </a:r>
            <a:r>
              <a:t>
</a:t>
            </a:r>
            <a:r>
              <a:rPr sz="4050" b="0" i="0" u="none">
                <a:solidFill>
                  <a:srgbClr val="FFFFFF"/>
                </a:solidFill>
                <a:latin typeface="Plus Jakarta Sans ExtraBold"/>
              </a:rPr>
              <a:t>Construção Rápida de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786038"/>
            <a:ext cx="80962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Inter"/>
              </a:rPr>
              <a:t>Desenvolvimento de soluções para mídias digitais com plataformas No-Code e metodologias ágeis.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710505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200" y="695325"/>
            <a:ext cx="19812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75" b="0" i="0" u="none">
                <a:solidFill>
                  <a:srgbClr val="F1F5F9"/>
                </a:solidFill>
                <a:latin typeface="Inter SemiBold"/>
              </a:rPr>
              <a:t>INSTITUTO FEDERAL SÃO PAULO</a:t>
            </a:r>
            <a:r>
              <a:t>
</a:t>
            </a:r>
            <a:r>
              <a:rPr sz="975" b="0" i="0" u="none">
                <a:solidFill>
                  <a:srgbClr val="F1F5F9"/>
                </a:solidFill>
                <a:latin typeface="Inter"/>
              </a:rPr>
              <a:t>Câmpus São José dos Campos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9825" y="662880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90550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0" y="5905500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6019800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6800" y="6076950"/>
            <a:ext cx="16383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Cláudio Luis dos Santos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925" y="6019800"/>
            <a:ext cx="1333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81400" y="6076950"/>
            <a:ext cx="13239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Ivan Lucas Arantes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0" y="3751659"/>
            <a:ext cx="10477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4724846"/>
            <a:ext cx="5353050" cy="15885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130" y="285749"/>
            <a:ext cx="3333750" cy="323730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84996"/>
            <a:ext cx="1122164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7964" y="3713559"/>
            <a:ext cx="414864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Objetivo do Curso &amp; Mercado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5625" y="3832621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437459"/>
            <a:ext cx="5353050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O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objetivo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principal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deste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curso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extensão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oferecido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pela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Secretaria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Educação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Profissional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Tecnológica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(SETEC), é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capacitar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os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participantes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no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desenvolvimento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aplicativos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por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meio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plataformas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No Code,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promovendo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uma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formação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prática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empreendedora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922764"/>
            <a:ext cx="53530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A proposta visa preparar mais brasileiros para atuar no crescente mercado global de aplicativos digitais.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5214342"/>
            <a:ext cx="21621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0" i="0" u="none">
                <a:solidFill>
                  <a:srgbClr val="A7F3D0"/>
                </a:solidFill>
                <a:latin typeface="Plus Jakarta Sans ExtraBold"/>
              </a:rPr>
              <a:t>+256%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1125" y="5010596"/>
            <a:ext cx="245030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Inter"/>
              </a:rPr>
              <a:t>Crescimento de Mercado (2018–2021)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1125" y="5467796"/>
            <a:ext cx="233362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D1FAE5"/>
                </a:solidFill>
                <a:latin typeface="Inter"/>
              </a:rPr>
              <a:t>O mercado global de apps saltou de </a:t>
            </a:r>
            <a:r>
              <a:rPr sz="1050" b="1" i="0" u="none">
                <a:solidFill>
                  <a:srgbClr val="D1FAE5"/>
                </a:solidFill>
                <a:latin typeface="Inter"/>
              </a:rPr>
              <a:t>U$ 365 bilhões</a:t>
            </a:r>
            <a:r>
              <a:rPr sz="1050" b="0" i="0" u="none">
                <a:solidFill>
                  <a:srgbClr val="D1FAE5"/>
                </a:solidFill>
                <a:latin typeface="Inter"/>
              </a:rPr>
              <a:t> para </a:t>
            </a:r>
            <a:r>
              <a:rPr sz="1050" b="1" i="0" u="none">
                <a:solidFill>
                  <a:srgbClr val="D1FAE5"/>
                </a:solidFill>
                <a:latin typeface="Inter"/>
              </a:rPr>
              <a:t>U$ 935 bilhões</a:t>
            </a:r>
            <a:r>
              <a:rPr sz="1050" b="0" i="0" u="none">
                <a:solidFill>
                  <a:srgbClr val="D1FAE5"/>
                </a:solidFill>
                <a:latin typeface="Inter"/>
              </a:rPr>
              <a:t> (Statista, 2021a).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175" y="3695402"/>
            <a:ext cx="22193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67175"/>
            <a:ext cx="5353050" cy="265717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4067175"/>
            <a:ext cx="5353050" cy="26571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7250" y="1905000"/>
            <a:ext cx="4286250" cy="318105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28739"/>
            <a:ext cx="1122164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7964" y="3657302"/>
            <a:ext cx="37124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Formação e Oportunidade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4050" y="3776364"/>
            <a:ext cx="152400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42719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7725" y="5036790"/>
            <a:ext cx="5040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 Lacuna no Mercado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5389215"/>
            <a:ext cx="4800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Apesar do crescimento do mercado digital, ainda existe uma lacuna na formação de empreendedores e desenvolvedores capazes de criar soluções alinhadas às demandas atuais, sem a necessidade de domínio de codificação avançada.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430530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43675" y="4914900"/>
            <a:ext cx="5040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Proposta de Formação Introdutória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75" y="5267325"/>
            <a:ext cx="48006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Para contribuir com a redução dessa lacuna, o curso é oferecido em parceria entre a SETEC e o IFCE, com o objetivo de proporcionar uma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formação introdutória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no campo do desenvolvimento de aplicativos, com ênfase em mídias digitais. A proposta combina fundamentos tecnológicos e metodológicos.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4560540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7025" y="44386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653754"/>
            <a:ext cx="1905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065264"/>
            <a:ext cx="53530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57301"/>
            <a:ext cx="2581275" cy="1571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3275" y="2857301"/>
            <a:ext cx="2581275" cy="1571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19426"/>
            <a:ext cx="2581275" cy="1790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3275" y="4619426"/>
            <a:ext cx="2581275" cy="1790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-476250"/>
            <a:ext cx="3333750" cy="213940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427" y="1384813"/>
            <a:ext cx="1312664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0789" y="1656523"/>
            <a:ext cx="257844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Premissa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do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Curso</a:t>
            </a:r>
            <a:endParaRPr sz="22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0789" y="1947416"/>
            <a:ext cx="5353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O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curso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</a:t>
            </a:r>
            <a:r>
              <a:rPr sz="1500" b="1" i="0" u="none" dirty="0">
                <a:solidFill>
                  <a:srgbClr val="1E293B"/>
                </a:solidFill>
                <a:latin typeface="Inter"/>
              </a:rPr>
              <a:t>App Clicks - </a:t>
            </a:r>
            <a:r>
              <a:rPr sz="1500" b="1" i="0" u="none" dirty="0" err="1">
                <a:solidFill>
                  <a:srgbClr val="1E293B"/>
                </a:solidFill>
                <a:latin typeface="Inter"/>
              </a:rPr>
              <a:t>Construção</a:t>
            </a:r>
            <a:r>
              <a:rPr sz="1500" b="1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Inter"/>
              </a:rPr>
              <a:t>Rápida</a:t>
            </a:r>
            <a:r>
              <a:rPr sz="1500" b="1" i="0" u="none" dirty="0">
                <a:solidFill>
                  <a:srgbClr val="1E293B"/>
                </a:solidFill>
                <a:latin typeface="Inter"/>
              </a:rPr>
              <a:t> de Apps para </a:t>
            </a:r>
            <a:r>
              <a:rPr sz="1500" b="1" i="0" u="none" dirty="0" err="1">
                <a:solidFill>
                  <a:srgbClr val="1E293B"/>
                </a:solidFill>
                <a:latin typeface="Inter"/>
              </a:rPr>
              <a:t>Mídias</a:t>
            </a:r>
            <a:r>
              <a:rPr sz="1500" b="1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sz="1500" b="1" i="0" u="none" dirty="0" err="1">
                <a:solidFill>
                  <a:srgbClr val="1E293B"/>
                </a:solidFill>
                <a:latin typeface="Inter"/>
              </a:rPr>
              <a:t>Digitais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tem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como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premissa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formar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equipes de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alunos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com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perfis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Inter Medium"/>
              </a:rPr>
              <a:t>diversos</a:t>
            </a:r>
            <a:r>
              <a:rPr sz="1500" b="0" i="0" u="none" dirty="0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6975" y="3074789"/>
            <a:ext cx="5334000" cy="3600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3095426"/>
            <a:ext cx="210502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" y="3495476"/>
            <a:ext cx="221027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790751"/>
            <a:ext cx="2105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Habilidades em criação visual e experiência do usuário.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1400" y="3095426"/>
            <a:ext cx="21050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81400" y="3495476"/>
            <a:ext cx="221027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Empreendedorismo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400" y="3790751"/>
            <a:ext cx="2105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Visão de negócios e identificação de oportunidades.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4857551"/>
            <a:ext cx="210502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625" y="5257601"/>
            <a:ext cx="221027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Desenvolvimento Técnico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5771951"/>
            <a:ext cx="2105025" cy="27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Construção de soluções e arquitetura no-code.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81400" y="4857551"/>
            <a:ext cx="2105025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81400" y="5257601"/>
            <a:ext cx="221027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Inovação em 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1400" y="5552876"/>
            <a:ext cx="2105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Aplicação de tecnologias da informação e comunicação.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0" y="514350"/>
            <a:ext cx="16764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995487"/>
            <a:ext cx="53530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1015454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1254" y="476250"/>
            <a:ext cx="353059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Ementa do Curso (Parte 1)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6975" y="595312"/>
            <a:ext cx="14287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768054"/>
            <a:ext cx="56207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Plataformas e Transformação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96679"/>
            <a:ext cx="53530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Com a utilização de plataformas de desenvolvimento No Code, como o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Google AppSheet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e o </a:t>
            </a:r>
            <a:r>
              <a:rPr sz="1350" b="1" i="0" u="none">
                <a:solidFill>
                  <a:srgbClr val="334155"/>
                </a:solidFill>
                <a:latin typeface="Inter"/>
              </a:rPr>
              <a:t>FlutterFlow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, o curso App Clicks possibilitará que os participantes possam criar, em curto prazo, soluções digitais inovadoras, alinhadas às demandas do mercado e com potencial para fomentar o empreendedorismo e a transformação digital em diversos setores.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005012"/>
            <a:ext cx="53340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50" y="514350"/>
            <a:ext cx="21526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8725"/>
            <a:ext cx="11049000" cy="2481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00487"/>
            <a:ext cx="11049000" cy="2481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1110704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6504" y="476250"/>
            <a:ext cx="3590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Ementa do Curso (Parte 2)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725" y="595312"/>
            <a:ext cx="14287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1927473"/>
            <a:ext cx="11021377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47857"/>
                </a:solidFill>
                <a:latin typeface="Plus Jakarta Sans"/>
              </a:rPr>
              <a:t>Challenge Based Learning (CBL)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279898"/>
            <a:ext cx="104965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 metodologia empregada,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Challenge Based Learning (CBL)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é um diferencial do curso, incentivando os participantes a trabalhar em equipe para identificar desafios reais do mercado e propor soluções aplicáveis, integrando noções de empreendedorismo com atividades práticas. Essa abordagem estimula a inovação e a criatividade, auxiliando os alunos a compreender e responder de forma inicial às demandas do mercado.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599235"/>
            <a:ext cx="11021377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4ED8"/>
                </a:solidFill>
                <a:latin typeface="Plus Jakarta Sans"/>
              </a:rPr>
              <a:t>Material Instrucional Didático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951660"/>
            <a:ext cx="104965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Para apoiar o processo de aprendizagem, será disponibilizado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material instrucional didático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voltado tanto para os docentes, como guia de orientação pedagógica, quanto para os discentes, como referência de estudos e atividades, garantindo maior alinhamento e aproveitamento durante o curso.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1965573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637335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5" y="514350"/>
            <a:ext cx="16668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51783"/>
            <a:ext cx="5353050" cy="1428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800498"/>
            <a:ext cx="5353050" cy="200947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1472654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58454" y="476250"/>
            <a:ext cx="3590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Ementa do Curso (Parte 3)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0" y="595312"/>
            <a:ext cx="152400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629941"/>
            <a:ext cx="53530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Adicionalmente, a ementa do curso cobre aspectos essenciais como design de interfaces e noções de banco de dados, habilidades essenciais para qualquer desenvolvedor de apps na atualidade.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89908"/>
            <a:ext cx="501062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Aulas Práticas e Prospecção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56608"/>
            <a:ext cx="47720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As aulas práticas, realizadas em laboratórios de informática equipados, são complementadas por atividades que envolvem interações reais com clientes e stakeholders.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038623"/>
            <a:ext cx="5040630" cy="2000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Inter"/>
              </a:rPr>
              <a:t>Cenários do Mundo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3352948"/>
            <a:ext cx="48006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Durante a formação, o trabalho conjunto entre docentes, equipe e alunos será voltado à prospecção de clientes, criando, já na implantação do curso, um ambiente propício para o desenvolvimento de atividades que possibilitem a aplicação da teoria em cenários do mundo real.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057673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514350"/>
            <a:ext cx="1524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35499"/>
            <a:ext cx="5353050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1995487"/>
            <a:ext cx="535305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975419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1219" y="476250"/>
            <a:ext cx="296443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Ementa: Projeto Final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375" y="595312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212925"/>
            <a:ext cx="5620702" cy="643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sz="1950" b="1" i="0" u="none">
                <a:solidFill>
                  <a:srgbClr val="0F172A"/>
                </a:solidFill>
                <a:latin typeface="Inter"/>
              </a:rPr>
              <a:t>Desenvolvimento de Aplicativo para o Mercado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09155"/>
            <a:ext cx="53530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Por fim, o curso destina parte de sua carga horária para a construção de um projeto final, onde os alunos aplicam todo o conhecimento adquirido para desenvolver um aplicativo que atenda a uma necessidade específica do mercado local.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473624"/>
            <a:ext cx="4800600" cy="6858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1E40AF"/>
                </a:solidFill>
                <a:latin typeface="Inter SemiBold"/>
              </a:rPr>
              <a:t>Esse projeto não é apenas uma oportunidade de aprendizado prático, mas também uma chance para os alunos demonstrarem suas habilidades para potenciais empregadores ou investidores.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75" y="2005012"/>
            <a:ext cx="5334000" cy="3600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511724"/>
            <a:ext cx="1619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5" y="514350"/>
            <a:ext cx="13811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619125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476250"/>
            <a:ext cx="419458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Objetivos Específicos (Parte 1)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0" y="595312"/>
            <a:ext cx="12382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1774180"/>
            <a:ext cx="11049000" cy="1252388"/>
          </a:xfrm>
          <a:prstGeom prst="roundRect">
            <a:avLst>
              <a:gd name="adj" fmla="val 10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1500" y="3178968"/>
            <a:ext cx="11049000" cy="1252388"/>
          </a:xfrm>
          <a:prstGeom prst="roundRect">
            <a:avLst>
              <a:gd name="adj" fmla="val 10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1500" y="4583757"/>
            <a:ext cx="11049000" cy="1252388"/>
          </a:xfrm>
          <a:prstGeom prst="roundRect">
            <a:avLst>
              <a:gd name="adj" fmla="val 10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1704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9675" y="2012305"/>
            <a:ext cx="10134600" cy="776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Fundamentos No-Code e Low-Code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Compreender os fundamentos das tecnologias No Code e Low Code, reconhecendo seu papel no desenvolvimento ágil de aplicativos digitais voltados a diferentes contextos de negócio.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2183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9675" y="3417093"/>
            <a:ext cx="10134600" cy="776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Plataformas Principais (AppSheet &amp; FlutterFlow)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Entender os conceitos básicos de funcionamento de plataformas como Google AppSheet e FlutterFlow, criando aplicativos funcionais sem necessidade de programação tradicional, com foco em automação, escalabilidade e personalização.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82662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9675" y="4821882"/>
            <a:ext cx="10134600" cy="776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Experiência do Usuário (UX/UI)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Conhecer princípios de experiência do usuário (UX) e design de interfaces (UI), aplicando-os na construção de soluções acessíveis, intuitivas e alinhadas às necessidades dos usuários.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021830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426618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83140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375" y="514350"/>
            <a:ext cx="13811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619125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4925" y="476250"/>
            <a:ext cx="425459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Objetivos Específicos (Parte 2)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0" y="595312"/>
            <a:ext cx="12382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1774180"/>
            <a:ext cx="11049000" cy="1252388"/>
          </a:xfrm>
          <a:prstGeom prst="roundRect">
            <a:avLst>
              <a:gd name="adj" fmla="val 10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1500" y="3178968"/>
            <a:ext cx="11049000" cy="1252388"/>
          </a:xfrm>
          <a:prstGeom prst="roundRect">
            <a:avLst>
              <a:gd name="adj" fmla="val 10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1500" y="4583757"/>
            <a:ext cx="11049000" cy="1252388"/>
          </a:xfrm>
          <a:prstGeom prst="roundRect">
            <a:avLst>
              <a:gd name="adj" fmla="val 106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17043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9675" y="2012305"/>
            <a:ext cx="10134600" cy="776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Metodologias Ágeis e CBL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Aplicar metodologias ágeis e de aprendizagem baseada em desafios (CBL) em suas atividades, desenvolvendo a colaboração em equipe, o pensamento crítico e a capacidade de resolver problemas reais.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2183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9675" y="3417093"/>
            <a:ext cx="10134600" cy="776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Mentalidade Empreendedora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Estimular uma mentalidade empreendedora e inovadora, identificando oportunidades de mercado, validando ideias com stakeholders e transformando demandas reais em soluções digitais viáveis.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82662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9675" y="4821882"/>
            <a:ext cx="10134600" cy="776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Protótipos e Integração (APIs e Banco de Dados)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Integrar noções de tecnologia e negócios digitais para conceber e apresentar protótipos simples, utilizando recursos básicos de bancos de dados e APIs, bem como princípios iniciais de publicação e comunicação de soluções.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021830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426618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83140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100" y="514350"/>
            <a:ext cx="2057400" cy="2857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55182"/>
              </p:ext>
            </p:extLst>
          </p:nvPr>
        </p:nvGraphicFramePr>
        <p:xfrm>
          <a:off x="571500" y="1314449"/>
          <a:ext cx="11029948" cy="5399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5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351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Nome da(s) Disciplina(s)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Unidades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C. 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923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Empreendedorismo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Digital e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Desenvolvimento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Aplicações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com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AppSheet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•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Módulo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1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–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Práticas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Empreendedorismo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e ferramentas NO CODE</a:t>
                      </a:r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
 •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Módulo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2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– CBL 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AppSheet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intermediário</a:t>
                      </a:r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
  •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Módulo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3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–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Gestão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Ágil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Projetos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Digitais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Integrações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no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AppSheet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0669"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Desenvolvimento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Ágil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Apps com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FlutterFlow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e CBL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•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Módulo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1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–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Prototipação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Desenvolvimento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Aplicativos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com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FlutterFlow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Integrações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com Firebase e APIs</a:t>
                      </a:r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•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Módulo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2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–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Funções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avançadas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no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FlutterFlow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, testes 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melhorias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do app</a:t>
                      </a:r>
                      <a:endParaRPr lang="pt-BR"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  <a:p>
                      <a:pPr algn="l"/>
                      <a:r>
                        <a:rPr dirty="0"/>
                        <a:t>
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•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Módulo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3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– Pitch,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Apresentação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Final e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Reflexão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sobre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a Jornada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Empreendedora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523"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CARGA HORÁRIA TOTAL DO CURSO: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Inter"/>
                        </a:rPr>
                        <a:t>200 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1101179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86979" y="476250"/>
            <a:ext cx="39965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Estrutura Curricular do Curso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975" y="595312"/>
            <a:ext cx="123825" cy="123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1025" y="3655218"/>
            <a:ext cx="3860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41477" y="3655218"/>
            <a:ext cx="58458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87297" y="3655218"/>
            <a:ext cx="13236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7198" y="3071812"/>
            <a:ext cx="523875" cy="26193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198" y="4086225"/>
            <a:ext cx="523875" cy="26193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7198" y="6005512"/>
            <a:ext cx="542925" cy="2619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14350"/>
            <a:ext cx="16383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03339"/>
            <a:ext cx="5353050" cy="18037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659558"/>
            <a:ext cx="5353050" cy="22913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904875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0675" y="476250"/>
            <a:ext cx="412660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Processo de Avaliação (Geral)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5075" y="595312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3141464"/>
            <a:ext cx="5040630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47857"/>
                </a:solidFill>
                <a:latin typeface="Plus Jakarta Sans"/>
              </a:rPr>
              <a:t>Avaliação Contínua e Formativa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93889"/>
            <a:ext cx="48006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 avaliação do curso será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contínua e formativa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acompanhando o desempenho dos alunos ao longo de todo o percurso. Serão observados aspectos como prática, compreensão dos conteúdos, execução das tarefas e aplicação dos conhecimentos adquiridos.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2897683"/>
            <a:ext cx="5040630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4ED8"/>
                </a:solidFill>
                <a:latin typeface="Plus Jakarta Sans"/>
              </a:rPr>
              <a:t>Feedback e Registro de Desempenho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250108"/>
            <a:ext cx="48006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 foco estará no desenvolvimento de aplicativos utilizando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FlutterFlow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Google AppSheet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além da aplicação de conceitos de empreendedorismo digital. Para apoiar esse acompanhamento, serão utilizados momentos periódicos de feedback e registros de desempenho, permitindo ajustes e orientações personalizadas aos participantes.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179564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935783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325" y="514350"/>
            <a:ext cx="17811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4172"/>
            <a:ext cx="5353050" cy="26629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664172"/>
            <a:ext cx="5353050" cy="26629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83172"/>
            <a:ext cx="1104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 SemiBold"/>
              </a:rPr>
              <a:t>O processo avaliativo será integrado às etapas do Challenge Based Learning (CBL):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1213544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99344" y="476250"/>
            <a:ext cx="459666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Processo Avaliativo: CBL (Parte 1)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2200" y="595312"/>
            <a:ext cx="152400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3820417"/>
            <a:ext cx="4800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Ao término de cada </a:t>
            </a:r>
            <a:r>
              <a:rPr sz="1200" b="0" i="1" u="none">
                <a:solidFill>
                  <a:srgbClr val="475569"/>
                </a:solidFill>
                <a:latin typeface="Inter"/>
              </a:rPr>
              <a:t>challenge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os alunos registrarão sua percepção sobre o próprio aproveitamento em relação aos conteúdos e objetivos definidos pelos professores.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439417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9675" y="3453705"/>
            <a:ext cx="253031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Autorreflexão (Reflection)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902297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05625" y="2916584"/>
            <a:ext cx="261032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Análise de Aproveitamento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3283297"/>
            <a:ext cx="449580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Aproveitamento &lt; 70% (autoavaliação):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o aluno receberá uma atividade de recuperação, elaborada pelo docente, para reforçar os conteúdos e competências em que apresentou maior dificuldade.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380458"/>
            <a:ext cx="44958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Aproveitamento ≥ 70% (autoavaliação):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será realizada uma análise retrospectiva junto ao professor para validar o desempenho declarado.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3307109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4404270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825" y="514350"/>
            <a:ext cx="15906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82341"/>
            <a:ext cx="5353050" cy="24267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782341"/>
            <a:ext cx="5353050" cy="24267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01341"/>
            <a:ext cx="1104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 SemiBold"/>
              </a:rPr>
              <a:t>O processo avaliativo será integrado às etapas do Challenge Based Learning (CBL):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1213544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99344" y="476250"/>
            <a:ext cx="46566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Processo Avaliativo: CBL (Parte 2)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2700" y="595312"/>
            <a:ext cx="95250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138487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9675" y="3152775"/>
            <a:ext cx="214026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Validação e Consenso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3020466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5625" y="3034754"/>
            <a:ext cx="207025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Atividades Adicionais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3519487"/>
            <a:ext cx="45148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Se houver consenso entre a percepção do aluno e a análise do professor, o resultado será registrado.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144267"/>
            <a:ext cx="44958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Se não houver consenso, será solicitada uma atividade avaliativa complementar, que poderá incluir revisão de códigos, de designs ou de outros elementos produzidos.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6100" y="3401466"/>
            <a:ext cx="4448175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 equipe de acompanhamento pedagógico do projeto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Pronatec Empreender (Escopo/Sequência)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poderá propor melhorias em atividades extras propostas pelo professor para avaliação de competências específicas.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4498627"/>
            <a:ext cx="44958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Caberá aos professores a correção e a atribuição dos resultados em todas as atividades avaliativas.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543300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4168080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3425279"/>
            <a:ext cx="2190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3675" y="4522440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50" y="514350"/>
            <a:ext cx="1504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09725"/>
            <a:ext cx="11049000" cy="4772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28725"/>
            <a:ext cx="11049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 SemiBold"/>
              </a:rPr>
              <a:t>O processo avaliativo será integrado às etapas do Challenge Based Learning (CBL):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1213544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9344" y="476250"/>
            <a:ext cx="461667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Processo Avaliativo: Projeto Final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8425" y="595312"/>
            <a:ext cx="123825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925" y="3691086"/>
            <a:ext cx="103441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E293B"/>
                </a:solidFill>
                <a:latin typeface="Inter"/>
              </a:rPr>
              <a:t>Como parte essencial da avaliação, a produção de um </a:t>
            </a:r>
            <a:r>
              <a:rPr sz="1350" b="1" i="0" u="none">
                <a:solidFill>
                  <a:srgbClr val="1E293B"/>
                </a:solidFill>
                <a:latin typeface="Inter"/>
              </a:rPr>
              <a:t>projeto final</a:t>
            </a:r>
            <a:r>
              <a:rPr sz="1350" b="0" i="0" u="none">
                <a:solidFill>
                  <a:srgbClr val="1E293B"/>
                </a:solidFill>
                <a:latin typeface="Inter"/>
              </a:rPr>
              <a:t> — que poderá ser um aplicativo inédito ou a </a:t>
            </a:r>
            <a:r>
              <a:rPr sz="1350" b="0" i="1" u="none">
                <a:solidFill>
                  <a:srgbClr val="1E293B"/>
                </a:solidFill>
                <a:latin typeface="Inter"/>
              </a:rPr>
              <a:t>release</a:t>
            </a:r>
            <a:r>
              <a:rPr sz="1350" b="0" i="0" u="none">
                <a:solidFill>
                  <a:srgbClr val="1E293B"/>
                </a:solidFill>
                <a:latin typeface="Inter"/>
              </a:rPr>
              <a:t> de melhorias em um app já existente — terá papel central.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392066"/>
            <a:ext cx="103441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47857"/>
                </a:solidFill>
                <a:latin typeface="Inter Medium"/>
              </a:rPr>
              <a:t>O trabalho será realizado em equipe e acompanhado pelos professores, garantindo feedback contínuo e aprimoramentos ao longo do processo.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3081486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3525" y="3167211"/>
            <a:ext cx="343042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64E3B"/>
                </a:solidFill>
                <a:latin typeface="Plus Jakarta Sans"/>
              </a:rPr>
              <a:t>Papel Central do Projeto Final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987" y="3214836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514350"/>
            <a:ext cx="17621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500312"/>
            <a:ext cx="5353050" cy="2076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38512"/>
            <a:ext cx="5353050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67162"/>
            <a:ext cx="535305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95812"/>
            <a:ext cx="53530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47687"/>
            <a:ext cx="1529804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15604" y="476250"/>
            <a:ext cx="434460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Critérios da Banca de Avaliação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0" y="595312"/>
            <a:ext cx="9525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2500312"/>
            <a:ext cx="5353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Ao final, o projeto será apresentado a uma banca composta por um professor e/ou profissional convidado, que avaliará o trabalho com base nos seguintes critérios: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738437"/>
            <a:ext cx="504063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40AF"/>
                </a:solidFill>
                <a:latin typeface="Inter"/>
              </a:rPr>
              <a:t>Subcritérios e Modelo de Negócio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3024187"/>
            <a:ext cx="4800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O professor definirá subcritérios para cada tópico, os quais deverão ser informados aos alunos no início da execução do projeto final.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538537"/>
            <a:ext cx="48006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293B"/>
                </a:solidFill>
                <a:latin typeface="Inter SemiBold"/>
              </a:rPr>
              <a:t>A avaliação considerará não apenas o aplicativo desenvolvido, mas também um modelo de negócio estruturado, que demonstre sua viabilidade e formas de exploração no mercado de maneira empreendedora e inovadora.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500437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 SemiBold"/>
              </a:rPr>
              <a:t>Apresentação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8275" y="3481387"/>
            <a:ext cx="4762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1525" y="4129087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Inter"/>
              </a:rPr>
              <a:t>Qualidade técnica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8275" y="4110037"/>
            <a:ext cx="4762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1525" y="4757737"/>
            <a:ext cx="22288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 SemiBold"/>
              </a:rPr>
              <a:t>Relevância para o público-alvo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8275" y="4738687"/>
            <a:ext cx="4762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514350"/>
            <a:ext cx="14859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682079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7879" y="476250"/>
            <a:ext cx="478466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Referencias Bibliográficas (Parte 1)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475" y="595312"/>
            <a:ext cx="1047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3062287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3195637"/>
            <a:ext cx="107061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RIES, Eric.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A Startup Enxuta: Como os empreendedores atuais utilizam inovação contínua para criar empresas extremamente bem-sucedidas.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São Paulo: Leya Editora, 2012.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622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062287"/>
            <a:ext cx="38100" cy="685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3062287"/>
            <a:ext cx="9525" cy="685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3862387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3995737"/>
            <a:ext cx="107061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STATISTA.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Worldwide mobile app revenues in 2014 to 2023.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Statista, 11 mar 2021 (a). Disponível em: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https://www.statista.com/statistics/269025/worldwide-mobile-app-revenue-forecast/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5386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8623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3862387"/>
            <a:ext cx="38100" cy="685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3862387"/>
            <a:ext cx="9525" cy="685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5386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514350"/>
            <a:ext cx="14859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682079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7879" y="476250"/>
            <a:ext cx="484466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Referências Bibliográficas (Parte 2)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475" y="595312"/>
            <a:ext cx="1047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86226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99561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BARBOSA, Simone; SILVA, Bruno.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Interação Humano-computador.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Editora Elsevier.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3385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8622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86226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286226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346233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359568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APPLE.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Human Interface Guidelines.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Disponível em: &lt;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https://developer.apple.com/design/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&gt;. Acesso em: 13 de outubro de 2021.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9385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4623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346233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34623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4062412"/>
            <a:ext cx="11049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4195762"/>
            <a:ext cx="107061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APPLE.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The Swift Programming Language (Swift 5.5).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Livro eletrônico de livre acesso e disponível na iBooks Store. Disponível em: &lt;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https://docs.swift.org/swift-book/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&gt;. Acesso em: 13 de outubro de 2021.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7386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40624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4062412"/>
            <a:ext cx="38100" cy="685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4062412"/>
            <a:ext cx="9525" cy="685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33385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39385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" y="47386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514350"/>
            <a:ext cx="14859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682079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67879" y="476250"/>
            <a:ext cx="484466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Referências Bibliográficas (Parte 3)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475" y="595312"/>
            <a:ext cx="1047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66223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79558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APPLE.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Aprenda a programar se divertindo no iPad.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Disponível em: &lt;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https://www.apple.com/br/swift/playgrounds/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&gt;. Acesso em: 13 de outubro de 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138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6622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66223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26622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326231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339566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RUBIN, Kenneth.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Scrum Essencial - Um Guia Prático Para o Mais Popular Processo Ágil.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Editora Alta Books.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32623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326231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32623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386238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399573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URUBATAN, Rodrigo.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Ruby on Rails: desenvolvimento fácil e rápido de aplicação WEB.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São Paulo: Novatec, 2009.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3386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8623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386238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38623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1500" y="446246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950" y="459581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ABREU, Luis.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Node.Js - Construção De Aplicações Web.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FCA Editora.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9387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44624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446246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10975" y="446246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" y="3138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1500" y="43386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" y="49387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514350"/>
            <a:ext cx="15525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983009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8809" y="476250"/>
            <a:ext cx="263439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AppSheet: Ementa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595312"/>
            <a:ext cx="1238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6300" y="2893962"/>
            <a:ext cx="1096137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Inter"/>
              </a:rPr>
              <a:t>EMPREENDEDORISMO DIGITAL E DESENVOLVIMENTO DE APLICAÇÕES COM APPSHEET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08287"/>
            <a:ext cx="10439400" cy="1508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200" b="0" i="0" u="none" dirty="0">
                <a:solidFill>
                  <a:srgbClr val="334155"/>
                </a:solidFill>
                <a:latin typeface="Inter"/>
              </a:rPr>
              <a:t>A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disciplina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apresenta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fundamentos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desenvolvimento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aplicações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com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tecnologias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No-Code,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utilizando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o Google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AppSheet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ferramenta central. Aborda a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instalação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personalização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aplicativos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uso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do Google Sheets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base de dados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princípios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usabilidade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 design de interfaces. Explora 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cenário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do mercado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aplicativos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tendências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oportunidades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negócio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Introduz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práticas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levantamento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requisitos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junto a stakeholders e o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uso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protótipos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estratégia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validação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Desenvolve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ainda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conceitos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empreendedorismo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digital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metodologias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Challenge Based Learning (CBL),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aplicados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à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construção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soluções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reais. Por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fim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integra ferramentas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colaboração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como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Trello, para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organização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tarefas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gerenciamento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equipes 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acompanhamento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ágil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de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projetos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5" y="514350"/>
            <a:ext cx="19526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983009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8809" y="476250"/>
            <a:ext cx="294646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AppSheet: Objetivos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595312"/>
            <a:ext cx="12382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105620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2200870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Capacitar os alunos para desenvolver aplicativos digitais com o Google AppSheet, utilizando planilhas como base de dados e explorando os fundamentos das tecnologias No-Code.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804517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0600" y="2899767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Explorar conceitos de empreendedorismo digital e metodologias ágeis, como o Challenge Based Learning (CBL), incentivando a identificação de oportunidades de negócio e a validação de ideias com stakeholders.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503414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0600" y="3598664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Promover o domínio de princípios de design de interfaces, com foco em usabilidade, acessibilidade e experiência do usuário, aplicados à personalização de telas e formulários em aplicativos.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202310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0600" y="4297560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Preparar os alunos para gerenciar projetos de forma colaborativa, utilizando ferramentas como Trello para definição de fluxos de trabalho, tarefas e equipes em contextos reais de desenvolvimento.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4901207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600" y="4996457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Desenvolver soluções digitais práticas e alinhadas às necessidades de usuários e do mercado, por meio de entrevistas, coleta de requisitos, prototipação e integração de feedbacks no processo de construção dos aplicativos.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224682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923579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622476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4321373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502027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514350"/>
            <a:ext cx="1714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09837"/>
            <a:ext cx="355595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509837"/>
            <a:ext cx="3555950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509837"/>
            <a:ext cx="3556099" cy="2590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747962"/>
            <a:ext cx="10763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175" y="2747962"/>
            <a:ext cx="11049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2747962"/>
            <a:ext cx="11430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47687"/>
            <a:ext cx="983009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8809" y="476250"/>
            <a:ext cx="48007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AppSheet: Programa dos Módulos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8875" y="595312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3090862"/>
            <a:ext cx="3153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Fundamentos do AppSheet e Oportunidades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67112"/>
            <a:ext cx="3003500" cy="928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1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Introdução ao Empreendedorismo Digital e requisitos de um app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2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Contato com o cliente e introdução à ferramentas no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3090862"/>
            <a:ext cx="3153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Inter"/>
              </a:rPr>
              <a:t>Desenvolvimento Ágil, UX e Customização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175" y="3567112"/>
            <a:ext cx="30035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47857"/>
                </a:solidFill>
                <a:latin typeface="Inter"/>
              </a:rPr>
              <a:t>• </a:t>
            </a:r>
            <a:r>
              <a:rPr sz="975" b="1" i="0" u="none">
                <a:solidFill>
                  <a:srgbClr val="047857"/>
                </a:solidFill>
                <a:latin typeface="Inter"/>
              </a:rPr>
              <a:t>Unidade 1</a:t>
            </a:r>
            <a:r>
              <a:rPr sz="975" b="0" i="0" u="none">
                <a:solidFill>
                  <a:srgbClr val="047857"/>
                </a:solidFill>
                <a:latin typeface="Inter"/>
              </a:rPr>
              <a:t> – CBL (Challenge Based Learning)</a:t>
            </a:r>
            <a:r>
              <a:t>
</a:t>
            </a:r>
            <a:r>
              <a:rPr sz="975" b="0" i="0" u="none">
                <a:solidFill>
                  <a:srgbClr val="047857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047857"/>
                </a:solidFill>
                <a:latin typeface="Inter"/>
              </a:rPr>
              <a:t>Unidade 2</a:t>
            </a:r>
            <a:r>
              <a:rPr sz="975" b="0" i="0" u="none">
                <a:solidFill>
                  <a:srgbClr val="047857"/>
                </a:solidFill>
                <a:latin typeface="Inter"/>
              </a:rPr>
              <a:t> – Planejando, implementando e testando novas funcionalidades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090862"/>
            <a:ext cx="315383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Gestão Ágil e Integrações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3376612"/>
            <a:ext cx="3003649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1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Planejamento Ágil e Organização de Tarefas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2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Gerenciamento de Projetos com Equipes e Ferramentas Colaborativas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3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Acompanhamento de Projetos e Validação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4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Integração de Aplicativos e Relatórios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850" y="514350"/>
            <a:ext cx="10096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71750"/>
            <a:ext cx="5353050" cy="24668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571750"/>
            <a:ext cx="5353050" cy="24668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983009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8809" y="476250"/>
            <a:ext cx="501265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AppSheet: Metodologia e Avaliação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3725" y="595312"/>
            <a:ext cx="152400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2809875"/>
            <a:ext cx="5040630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47857"/>
                </a:solidFill>
                <a:latin typeface="Plus Jakarta Sans"/>
              </a:rPr>
              <a:t>Metodologia de Ensino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2809875"/>
            <a:ext cx="5040630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4ED8"/>
                </a:solidFill>
                <a:latin typeface="Plus Jakarta Sans"/>
              </a:rPr>
              <a:t>Avaliação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847975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3475" y="3162300"/>
            <a:ext cx="4514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Aulas teóricas e interativas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3550890"/>
            <a:ext cx="4514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Estudos de caso de startups de sucesso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3939480"/>
            <a:ext cx="4514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Workshops práticos com desenvolvimento de ideias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4328070"/>
            <a:ext cx="45148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Atividades em grupo para criação e validação de modelos de negócio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847975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29425" y="3162300"/>
            <a:ext cx="4514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Participação ativa nas atividades e discussões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9425" y="3550890"/>
            <a:ext cx="45148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Desenvolvimento de um modelo de negócio para um aplicativo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9425" y="4175670"/>
            <a:ext cx="4514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Apresentação final de pitch para avaliação de viabilidade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9425" y="4564260"/>
            <a:ext cx="45148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Prototipação de Apps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186112"/>
            <a:ext cx="1524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574702"/>
            <a:ext cx="1524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963292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351883"/>
            <a:ext cx="1524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3186112"/>
            <a:ext cx="1524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3574702"/>
            <a:ext cx="15240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4199483"/>
            <a:ext cx="15240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4588073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514350"/>
            <a:ext cx="12001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983009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8809" y="476250"/>
            <a:ext cx="415661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AppSheet: Bibliografia Básica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225" y="595312"/>
            <a:ext cx="1047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06216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19551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BLANK, S.; DORF, B.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Startup: Manual do Empreendedor.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Rio de Janeiro: Alta Books, 2014.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5384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0621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06216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206216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266223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279558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BROWN, T.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Design Thinking.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Rio de Janeiro: Alta Books, 2017.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138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26622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266223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26622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326231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339566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GOOGLE.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Material Design Guidelines.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Disponível online.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2623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326231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32623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1500" y="386238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950" y="399573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GOOGLE.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Google AppSheet Documentation.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Disponível online.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3386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38623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86238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10975" y="38623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1500" y="446246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459581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KNASTER, 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The AppSheet Book: No Code Development.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Independently Published, 2021.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49387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" y="44624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1500" y="446246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10975" y="446246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71500" y="506253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2950" y="519588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KRUG, 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Não Me Faça Pensar! Uma Abordagem de Bom Senso à Usabilidade na Web e Mobile.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Alta Books, 2014.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55387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500" y="50625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1500" y="506253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610975" y="50625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1500" y="25384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71500" y="3138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1500" y="43386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1500" y="49387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71500" y="55387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50" y="514350"/>
            <a:ext cx="1504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983009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8809" y="476250"/>
            <a:ext cx="537082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AppSheet: Bibliografia Complementar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8425" y="595312"/>
            <a:ext cx="1428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362200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495550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COOPER, A.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About Face: The Essentials of Interaction Design.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Wiley, 2014.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8384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362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362200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2362200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296227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3095625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COVEY, 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Os 7 Hábitos das Pessoas Altamente Eficazes.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Rio de Janeiro: BestSeller, 2018.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4385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29622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2962275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2962275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3562350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3695700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KIM, W. C.; MAUBORGNE, R.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A Estratégia do Oceano Azul.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Rio de Janeiro: Campus, 2005.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5623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3562350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3562350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1500" y="416242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950" y="4295775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KNAPP, J.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Sprint: O Método Usado no Google Para Testar e Aplicar Novas Ideias em Apenas Cinco Dias.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Rio de Janeiro: Intrínseca, 2017.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41624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4162425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10975" y="4162425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1500" y="4762500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4895850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O'REILLY, T.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What's the Future and Why It's Up to Us.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HarperBusiness, 2017.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52387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" y="4762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1500" y="4762500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10975" y="4762500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" y="28384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1500" y="34385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1500" y="52387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925" y="514350"/>
            <a:ext cx="19335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1011584" cy="219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7384" y="476250"/>
            <a:ext cx="28464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FlutterFlow: Ementa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595312"/>
            <a:ext cx="95250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962275"/>
            <a:ext cx="110013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Inter"/>
              </a:rPr>
              <a:t>DESENVOLVIMENTO ÁGIL DE APPS COM FLUTTERFLOW E CBL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276600"/>
            <a:ext cx="104775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A disciplina introduz o FlutterFlow como plataforma Low Code para o desenvolvimento de aplicativos multiplataforma, com foco na criação de interfaces, navegação entre telas, gerenciamento de estados e integração com bancos de dados como Firebase e APIs REST. Aplica a metodologia Challenge Based Learning (CBL) para estruturar a aprendizagem em torno da resolução de problemas reais, promovendo o trabalho em equipe, a colaboração e o pensamento crítico. Aborda práticas de usabilidade, testes com usuários e iteração a partir de feedbacks, preparando os alunos para aprimorar continuamente suas soluções. Conclui com a elaboração e apresentação de projetos finais, incluindo desenvolvimento funcional, publicação em lojas de aplicativos e construção de pitches eficazes com técnicas de storytelling.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5" y="514350"/>
            <a:ext cx="195262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1011584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7384" y="476250"/>
            <a:ext cx="315851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FlutterFlow: Objetivos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595312"/>
            <a:ext cx="12382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105620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2200870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Apresentar o FlutterFlow como plataforma Low Code para o desenvolvimento de aplicativos multiplataforma, abordando sua estrutura, componentes de interface e funcionalidades essenciais.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804517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0600" y="2899767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Desenvolver habilidades para criar interfaces, implementar navegação entre telas e gerenciar estados do aplicativo, com integração a bancos de dados (Firebase/Firestore), autenticação de usuários e consumo de APIs 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503414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0600" y="3598664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Aplicar a metodologia Challenge Based Learning (CBL) como base para a resolução de problemas reais, estimulando o trabalho colaborativo, a definição de desafios e a construção de soluções com impacto.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202310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0600" y="4297560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Prototipar, testar e aprimorar aplicativos por meio de ciclos iterativos, incluindo testes de usabilidade com usuários reais, análise de feedbacks e implementação de melhorias.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4901207"/>
            <a:ext cx="11049000" cy="603646"/>
          </a:xfrm>
          <a:prstGeom prst="roundRect">
            <a:avLst>
              <a:gd name="adj" fmla="val 126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600" y="4996457"/>
            <a:ext cx="10496550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Preparar os alunos para apresentar projetos de forma estratégica, desenvolvendo pitches eficazes com técnicas de storytelling e justificando decisões técnicas e de design diante de bancas avaliadoras.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224682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923579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622476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4321373"/>
            <a:ext cx="1524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502027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514350"/>
            <a:ext cx="17145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81312"/>
            <a:ext cx="3555950" cy="1847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881312"/>
            <a:ext cx="3555950" cy="1847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881312"/>
            <a:ext cx="3556099" cy="1847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119437"/>
            <a:ext cx="10763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175" y="3119437"/>
            <a:ext cx="11049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3119437"/>
            <a:ext cx="11430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47687"/>
            <a:ext cx="1011584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7384" y="476250"/>
            <a:ext cx="501265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FlutterFlow: Programa dos Módulos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8875" y="595312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3462337"/>
            <a:ext cx="3153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Inter"/>
              </a:rPr>
              <a:t>Prototipação, FlutterFlow e Integrações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748087"/>
            <a:ext cx="30035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•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Unidade 1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– FlutterFlow Básico</a:t>
            </a:r>
            <a:r>
              <a:t>
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Unidade 2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– Uso de Banco de Dados com FlutterFlow (Firebase &amp; APIs)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3462337"/>
            <a:ext cx="3153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Funções Avançadas e Testes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175" y="3748087"/>
            <a:ext cx="300350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1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Funções avançadas no FlutterFlow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475569"/>
                </a:solidFill>
                <a:latin typeface="Inter"/>
              </a:rPr>
              <a:t>Unidade 2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– Testes e Melhoria do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462337"/>
            <a:ext cx="315383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4E3B"/>
                </a:solidFill>
                <a:latin typeface="Inter"/>
              </a:rPr>
              <a:t>Pitch, Apresentação &amp; Jornada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3748087"/>
            <a:ext cx="300364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47857"/>
                </a:solidFill>
                <a:latin typeface="Inter"/>
              </a:rPr>
              <a:t>• </a:t>
            </a:r>
            <a:r>
              <a:rPr sz="975" b="1" i="0" u="none">
                <a:solidFill>
                  <a:srgbClr val="047857"/>
                </a:solidFill>
                <a:latin typeface="Inter"/>
              </a:rPr>
              <a:t>Unidade 1</a:t>
            </a:r>
            <a:r>
              <a:rPr sz="975" b="0" i="0" u="none">
                <a:solidFill>
                  <a:srgbClr val="047857"/>
                </a:solidFill>
                <a:latin typeface="Inter"/>
              </a:rPr>
              <a:t> – Entrega do produto</a:t>
            </a:r>
            <a:r>
              <a:t>
</a:t>
            </a:r>
            <a:r>
              <a:rPr sz="975" b="0" i="0" u="none">
                <a:solidFill>
                  <a:srgbClr val="047857"/>
                </a:solidFill>
                <a:latin typeface="Inter"/>
              </a:rPr>
              <a:t> • </a:t>
            </a:r>
            <a:r>
              <a:rPr sz="975" b="1" i="0" u="none">
                <a:solidFill>
                  <a:srgbClr val="047857"/>
                </a:solidFill>
                <a:latin typeface="Inter"/>
              </a:rPr>
              <a:t>Unidade 2</a:t>
            </a:r>
            <a:r>
              <a:rPr sz="975" b="0" i="0" u="none">
                <a:solidFill>
                  <a:srgbClr val="047857"/>
                </a:solidFill>
                <a:latin typeface="Inter"/>
              </a:rPr>
              <a:t> – Apresentação do projeto e reflexão empreendedora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302" y="500062"/>
            <a:ext cx="959197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80394"/>
            <a:ext cx="5353050" cy="2211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680394"/>
            <a:ext cx="5353050" cy="22115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998041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3841" y="476250"/>
            <a:ext cx="506297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FlutterFlow: Metodologia e Avaliação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4177" y="576262"/>
            <a:ext cx="96440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7725" y="2918519"/>
            <a:ext cx="5040630" cy="219075"/>
          </a:xfrm>
          <a:prstGeom prst="rect">
            <a:avLst/>
          </a:prstGeom>
          <a:noFill/>
        </p:spPr>
        <p:txBody>
          <a:bodyPr wrap="squar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4ED8"/>
                </a:solidFill>
                <a:latin typeface="Plus Jakarta Sans"/>
              </a:rPr>
              <a:t>Metodologia de Ensino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112740"/>
            <a:ext cx="5040630" cy="219075"/>
          </a:xfrm>
          <a:prstGeom prst="rect">
            <a:avLst/>
          </a:prstGeom>
          <a:noFill/>
        </p:spPr>
        <p:txBody>
          <a:bodyPr wrap="square" lIns="14823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47857"/>
                </a:solidFill>
                <a:latin typeface="Plus Jakarta Sans"/>
              </a:rPr>
              <a:t>Avaliação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928044"/>
            <a:ext cx="148232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4573" y="3251894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Aulas teóricas expositivas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573" y="3640484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Práticas laboratoriais com desenvolvimento de projetos reais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573" y="4029075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Estudos de caso e análise de aplicativos existentes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573" y="4417665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Aprendizado baseado em projetos práticos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3122265"/>
            <a:ext cx="14823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10523" y="3446115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Desenvolvimento de aplicações funcionais dentro do FlutterFlow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523" y="3834705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Exercícios práticos e participação nas atividades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523" y="4223295"/>
            <a:ext cx="4533751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Projeto final envolvendo um aplicativo completo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266182"/>
            <a:ext cx="133498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654772"/>
            <a:ext cx="133498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043362"/>
            <a:ext cx="133498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431952"/>
            <a:ext cx="133498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3460402"/>
            <a:ext cx="133498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3848992"/>
            <a:ext cx="133498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4237583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514350"/>
            <a:ext cx="12001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1011584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7384" y="476250"/>
            <a:ext cx="436867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FlutterFlow: Bibliografia Básica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225" y="595312"/>
            <a:ext cx="1047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362200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495550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APPLE EDUCATION.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Challenge Based Learning: A Classroom Guide.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Apple Inc., 2020.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8384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3622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362200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2362200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296227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3095625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BROWN, Tim.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Design Thinking: Uma Metodologia Poderosa para Decretar o Fim das Velhas Ideias.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Alta Books, 2017.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4385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29622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2962275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2962275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3562350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3695700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GUPTA, Priyanka.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Mastering FlutterFlow: Build No-Code Applications with Ease.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Packt Publishing, 2023.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5623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3562350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3562350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1500" y="416242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950" y="4295775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KENIGSBERG, Alex.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FlutterFlow Development: A Guide to No-Code Mobile App Development.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Independently Published, 2022.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41624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4162425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10975" y="4162425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1500" y="4762500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4895850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KRUG, Steve.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Não Me Faça Pensar: Uma Abordagem de Bom Senso à Usabilidade na Web.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Alta Books, 2020.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52387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" y="4762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1500" y="4762500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10975" y="4762500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" y="28384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1500" y="343852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1500" y="52387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550" y="514350"/>
            <a:ext cx="15049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7687"/>
            <a:ext cx="1011584" cy="219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7384" y="476250"/>
            <a:ext cx="558272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FlutterFlow: Bibliografia Complementar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8425" y="595312"/>
            <a:ext cx="142875" cy="1238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06216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19551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FREEMAN, Eric.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Head First Design Patterns.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O'Reilly Media, 2020.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5384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0621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06216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10975" y="206216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" y="266223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279558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KOLKO, Jon.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Well-Designed: How to Use Empathy to Create Products People Love.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Harvard Business Review Press, 2014.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138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26622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266223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10975" y="26622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" y="326231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950" y="339566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MARTIN, Robert C.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Clean Code: A Handbook of Agile Software Craftsmanship.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Pearson, 2008.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2623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326231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0975" y="326231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1500" y="386238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950" y="399573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PRESSMAN, Roger 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Engenharia de Software.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McGraw-Hill, 2014.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3386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38623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86238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10975" y="386238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71500" y="4462462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2950" y="4595812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RESIG, John.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Pro JavaScript Techniques.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Apress, 2020.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" y="49387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" y="44624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1500" y="4462462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10975" y="4462462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71500" y="5062537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2950" y="5195887"/>
            <a:ext cx="107061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RESNICK, Mitchel.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334155"/>
                </a:solidFill>
                <a:latin typeface="Inter"/>
              </a:rPr>
              <a:t>Lifelong Kindergarten: Cultivating Creativity through Projects, Passion, Peers, and Play.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MIT Press, 2018.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" y="55387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500" y="50625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1500" y="5062537"/>
            <a:ext cx="38100" cy="4857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610975" y="5062537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1500" y="25384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71500" y="31384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71500" y="37385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1500" y="43386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1500" y="49387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71500" y="55387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4241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195637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024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024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609850"/>
            <a:ext cx="995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https://www.abtosoftware.com/wp-content/uploads/agile-software-development-cover-with-filter.jpg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809875"/>
            <a:ext cx="9953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Inter"/>
              </a:rPr>
              <a:t>www.abtosoftware.com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7185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338512"/>
            <a:ext cx="9953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https://cdn.prod.website-files.com/6209ea9aee1f965d7fce7c19/63930f10bcff7e7065d6aad6_Clappia%20-%20No-Code%20Platform%20-%20Future%20of%20App%20Development.png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690937"/>
            <a:ext cx="9953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Inter"/>
              </a:rPr>
              <a:t>www.clappia.com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767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219575"/>
            <a:ext cx="995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https://techsquest.com/wp-content/uploads/2025/10/The-Future-of-Mobile-Technology-Evolution-300x300.webp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419600"/>
            <a:ext cx="9953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techsquest.com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3236</Words>
  <Application>Microsoft Office PowerPoint</Application>
  <PresentationFormat>Widescreen</PresentationFormat>
  <Paragraphs>194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1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ExtraBold</vt:lpstr>
      <vt:lpstr>Plus Jakarta Sans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Lucas</cp:lastModifiedBy>
  <cp:revision>3</cp:revision>
  <dcterms:created xsi:type="dcterms:W3CDTF">2013-01-27T09:14:16Z</dcterms:created>
  <dcterms:modified xsi:type="dcterms:W3CDTF">2026-08-08T17:54:08Z</dcterms:modified>
  <cp:category/>
</cp:coreProperties>
</file>