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5" r:id="rId48"/>
    <p:sldId id="306" r:id="rId49"/>
    <p:sldId id="307" r:id="rId50"/>
    <p:sldId id="308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74" autoAdjust="0"/>
  </p:normalViewPr>
  <p:slideViewPr>
    <p:cSldViewPr snapToGrid="0" snapToObjects="1">
      <p:cViewPr varScale="1">
        <p:scale>
          <a:sx n="54" d="100"/>
          <a:sy n="54" d="100"/>
        </p:scale>
        <p:origin x="11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57200"/>
            <a:ext cx="2103120" cy="2103120"/>
          </a:xfrm>
          <a:prstGeom prst="ellipse">
            <a:avLst/>
          </a:prstGeom>
          <a:solidFill>
            <a:srgbClr val="1C2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4572000"/>
            <a:ext cx="2377440" cy="2377440"/>
          </a:xfrm>
          <a:prstGeom prst="ellipse">
            <a:avLst/>
          </a:prstGeom>
          <a:solidFill>
            <a:srgbClr val="1A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" y="5212080"/>
            <a:ext cx="1463040" cy="1463040"/>
          </a:xfrm>
          <a:prstGeom prst="ellipse">
            <a:avLst/>
          </a:prstGeom>
          <a:solidFill>
            <a:srgbClr val="1A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566928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353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APRESENTAÇÃO RESUMO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9AB00"/>
                </a:solidFill>
                <a:latin typeface="Calibri"/>
              </a:rPr>
              <a:t>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78638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AppSheet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724912"/>
            <a:ext cx="1554480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7E8EB"/>
                </a:solidFill>
                <a:latin typeface="Calibri"/>
              </a:rPr>
              <a:t>Do dado à aplicação: domínio avançado da plataforma</a:t>
            </a:r>
          </a:p>
          <a:p>
            <a:pPr algn="l"/>
            <a:r>
              <a:rPr sz="1600" b="0">
                <a:solidFill>
                  <a:srgbClr val="E7E8EB"/>
                </a:solidFill>
                <a:latin typeface="Calibri"/>
              </a:rPr>
              <a:t>no-code do ecossistema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845591" cy="2926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No-code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2247" y="3977639"/>
            <a:ext cx="682371" cy="292608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2634" y="3977639"/>
            <a:ext cx="437540" cy="292608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190" y="3977639"/>
            <a:ext cx="1008811" cy="292608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Automação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143000"/>
            <a:ext cx="2487168" cy="4526280"/>
          </a:xfrm>
          <a:prstGeom prst="roundRect">
            <a:avLst>
              <a:gd name="adj" fmla="val 16000"/>
            </a:avLst>
          </a:prstGeom>
          <a:solidFill>
            <a:srgbClr val="15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95360" y="1280160"/>
            <a:ext cx="2286000" cy="4279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31936" y="1353312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41664" y="13716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Meu 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3376" y="1956816"/>
            <a:ext cx="2029968" cy="43891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51392" y="2103120"/>
            <a:ext cx="155448" cy="1554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2039112"/>
            <a:ext cx="82296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2176272"/>
            <a:ext cx="118872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723376" y="2487168"/>
            <a:ext cx="2029968" cy="43891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51392" y="2633472"/>
            <a:ext cx="155448" cy="155448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8280" y="2569464"/>
            <a:ext cx="82296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2706624"/>
            <a:ext cx="118872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723376" y="3017520"/>
            <a:ext cx="2029968" cy="43891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51392" y="3163824"/>
            <a:ext cx="155448" cy="1554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98280" y="3099815"/>
            <a:ext cx="82296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3236976"/>
            <a:ext cx="118872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23376" y="3547872"/>
            <a:ext cx="2029968" cy="43891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851392" y="3694176"/>
            <a:ext cx="155448" cy="155448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98280" y="3630168"/>
            <a:ext cx="82296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98280" y="3767328"/>
            <a:ext cx="118872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723376" y="4078224"/>
            <a:ext cx="2029968" cy="43891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51392" y="4224528"/>
            <a:ext cx="155448" cy="155448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8280" y="4160520"/>
            <a:ext cx="82296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98280" y="4297680"/>
            <a:ext cx="118872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351008" y="5029200"/>
            <a:ext cx="365760" cy="36576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>
                <a:solidFill>
                  <a:srgbClr val="0E1B33"/>
                </a:solidFill>
                <a:latin typeface="Calibri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3376" y="50474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23376" y="5047488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Bot 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492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3C6CC"/>
                </a:solidFill>
                <a:latin typeface="Calibri"/>
              </a:rPr>
              <a:t>Base: AppSheet — do básico ao avançado</a:t>
            </a:r>
          </a:p>
          <a:p>
            <a:pPr algn="l"/>
            <a:r>
              <a:rPr sz="1100" b="0">
                <a:solidFill>
                  <a:srgbClr val="C3C6CC"/>
                </a:solidFill>
                <a:latin typeface="Calibri"/>
              </a:rPr>
              <a:t>Referências de página da apostila: AppSheet — do básico ao avançado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capa   |   1 / 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O mapa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Nove capítulos, do fundamento estratégico aos recursos avançados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capítulos 1 a 9   |   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504" y="2020824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0195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Introdução e fundamentos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05-13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783080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34840" y="2020824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190195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Workflow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15-18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83080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66176" y="2020824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90195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Dados e arquitetura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20-38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52344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3504" y="2990087"/>
            <a:ext cx="365760" cy="365760"/>
          </a:xfrm>
          <a:prstGeom prst="ellipse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871215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Interface / UX / UI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40-54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2752344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34840" y="2990087"/>
            <a:ext cx="365760" cy="36576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871215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Actions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55-63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2752344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66176" y="2990087"/>
            <a:ext cx="365760" cy="365760"/>
          </a:xfrm>
          <a:prstGeom prst="ellipse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2871215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Automation / Bots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65-73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21608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3504" y="3959352"/>
            <a:ext cx="365760" cy="36576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Distribuição e usuários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75-79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3721608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434840" y="3959352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616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Otimização e avançado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81-86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3721608"/>
            <a:ext cx="36118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66176" y="3959352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Aplicações especializadas</a:t>
            </a:r>
          </a:p>
          <a:p>
            <a:pPr algn="l"/>
            <a:r>
              <a:rPr sz="950" b="0">
                <a:solidFill>
                  <a:srgbClr val="9AA0A6"/>
                </a:solidFill>
                <a:latin typeface="Calibri"/>
              </a:rPr>
              <a:t>p. 87-96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45736"/>
            <a:ext cx="11277295" cy="566928"/>
          </a:xfrm>
          <a:prstGeom prst="roundRect">
            <a:avLst>
              <a:gd name="adj" fmla="val 2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4745736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9AB00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4745736"/>
            <a:ext cx="9144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Revisão final: mapa de aprendizado, checklist e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O que é o AppSheet?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Plataforma no-code de apps móveis e web, orientada a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05   |   3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577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740"/>
                </a:solidFill>
                <a:latin typeface="Calibri"/>
              </a:rPr>
              <a:t>Diferente do desenvolvimento convencional, que começa pela interface, no AppSheet o desenvolvimento começa pela conexão com fontes de dados existentes. A plataforma interpreta a estrutura dessas fontes e gera uma interface funcional de forma automatizada.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5577840" cy="9144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3364992"/>
            <a:ext cx="5285231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74EA6"/>
                </a:solidFill>
                <a:latin typeface="Calibri"/>
              </a:rPr>
              <a:t>A lógica é "data-driven"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A estrutura dos dados define o app — não o contrário.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9164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8B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B2740"/>
                </a:solidFill>
                <a:latin typeface="Calibri"/>
              </a:rPr>
              <a:t>Google Sheets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32520" y="1883664"/>
            <a:ext cx="411480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2404872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49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40487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B2740"/>
                </a:solidFill>
                <a:latin typeface="Calibri"/>
              </a:rPr>
              <a:t>Excel / SQL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2596896"/>
            <a:ext cx="411480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3118104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6A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18104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B2740"/>
                </a:solidFill>
                <a:latin typeface="Calibri"/>
              </a:rPr>
              <a:t>Drive / Nuvem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2520" y="3310128"/>
            <a:ext cx="411480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60" y="20574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2057400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AppSheet</a:t>
            </a:r>
          </a:p>
          <a:p>
            <a:pPr algn="ctr"/>
            <a:r>
              <a:rPr sz="1050" b="0">
                <a:solidFill>
                  <a:srgbClr val="DDEAFC"/>
                </a:solidFill>
                <a:latin typeface="Calibri"/>
              </a:rPr>
              <a:t>interpreta a estrutura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351008" y="3200400"/>
            <a:ext cx="292608" cy="365760"/>
          </a:xfrm>
          <a:prstGeom prst="down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81160" y="365760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3657600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74EA6"/>
                </a:solidFill>
                <a:latin typeface="Calibri"/>
              </a:rPr>
              <a:t>App gerado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05   |   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Citizen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Quem constrói? Profissionais de negócio, não apenas desenvolvedores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05-06   |   4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740"/>
                </a:solidFill>
                <a:latin typeface="Calibri"/>
              </a:rPr>
              <a:t>O AppSheet permite que profissionais de negócio — os "citizen developers" — construam soluções robustas sem escrever código tradicional, ocupando o centro da estratégia de transformação digital do Google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5486400" cy="9601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1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3273552"/>
            <a:ext cx="5193792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6E2D"/>
                </a:solidFill>
                <a:latin typeface="Calibri"/>
              </a:rPr>
              <a:t>Fecha a lacuna operacional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Preenche o espaço entre a necessidade de quem vive o problema e a entrega do time de 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740"/>
                </a:solidFill>
                <a:latin typeface="Calibri"/>
              </a:rPr>
              <a:t>A lacuna que o AppSheet fecha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1600200" cy="123444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5240">
            <a:solidFill>
              <a:srgbClr val="76A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16002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174EA6"/>
                </a:solidFill>
                <a:latin typeface="Calibri"/>
              </a:rPr>
              <a:t>Necessidade</a:t>
            </a:r>
          </a:p>
          <a:p>
            <a:pPr algn="ctr"/>
            <a:r>
              <a:rPr sz="1050" b="0">
                <a:solidFill>
                  <a:srgbClr val="5F6368"/>
                </a:solidFill>
                <a:latin typeface="Calibri"/>
              </a:rPr>
              <a:t>operacional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55279" y="2788920"/>
            <a:ext cx="457200" cy="228600"/>
          </a:xfrm>
          <a:prstGeom prst="rightArrow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2286000"/>
            <a:ext cx="1463040" cy="1234440"/>
          </a:xfrm>
          <a:prstGeom prst="roundRect">
            <a:avLst>
              <a:gd name="adj" fmla="val 12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286000"/>
            <a:ext cx="1463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AppSheet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66960" y="2788920"/>
            <a:ext cx="457200" cy="228600"/>
          </a:xfrm>
          <a:prstGeom prst="rightArrow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9880" y="2286000"/>
            <a:ext cx="1261872" cy="1234440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 w="15240">
            <a:solidFill>
              <a:srgbClr val="66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69880" y="2286000"/>
            <a:ext cx="126187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00695C"/>
                </a:solidFill>
                <a:latin typeface="Calibri"/>
              </a:rPr>
              <a:t>Entrega</a:t>
            </a:r>
          </a:p>
          <a:p>
            <a:pPr algn="ctr"/>
            <a:r>
              <a:rPr sz="1050" b="0">
                <a:solidFill>
                  <a:srgbClr val="5F6368"/>
                </a:solidFill>
                <a:latin typeface="Calibri"/>
              </a:rPr>
              <a:t>tecnológica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05-06   |   4 / 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Vantagens e diferenciais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Os cinco argumentos de arquiteto para adotar a 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06-07   |   5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0669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600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3314090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No-code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Redução drástica no time-to-market e nos custos de desenvolvimento.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91640"/>
            <a:ext cx="360669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0C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2498" y="1691640"/>
            <a:ext cx="64008" cy="16002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7090" y="1783080"/>
            <a:ext cx="3314090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Integração nativa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Conectividade fluida com o ecossistema Google: Sheets, BigQuery, Looker Studio.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691640"/>
            <a:ext cx="360669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4B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7796" y="1691640"/>
            <a:ext cx="64008" cy="16002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2388" y="1783080"/>
            <a:ext cx="3314090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Automação integrada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Bots para envio de notificações e relatórios automáticos.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360669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64008" cy="160020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611880"/>
            <a:ext cx="3314090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Multiplataforma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O mesmo desenvolvimento roda em iOS, Android e navegadores web.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2498" y="3520440"/>
            <a:ext cx="3606698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EC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2498" y="3520440"/>
            <a:ext cx="64008" cy="1600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7090" y="3611880"/>
            <a:ext cx="3314090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Segurança corporativa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Autenticação Google e permissões granulares de acesso.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06-07   |   5 /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Limitações e desafios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 camada "So what?": reconhecer limites antes de planejar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07   |   6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32588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5193792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40"/>
                </a:solidFill>
                <a:latin typeface="Calibri"/>
              </a:rPr>
              <a:t>UI restrita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A customização de interface é limitada para manter acessibilidade e estabilidade.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72968"/>
            <a:ext cx="54864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9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172968"/>
            <a:ext cx="64008" cy="1325880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264408"/>
            <a:ext cx="5193792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40"/>
                </a:solidFill>
                <a:latin typeface="Calibri"/>
              </a:rPr>
              <a:t>Volume de dados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Desempenho degrada em datasets acima de ~200.000 linhas por tabela.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54296"/>
            <a:ext cx="54864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BA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654296"/>
            <a:ext cx="64008" cy="1325880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745736"/>
            <a:ext cx="5193792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40"/>
                </a:solidFill>
                <a:latin typeface="Calibri"/>
              </a:rPr>
              <a:t>Depende da fonte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A qualidade e o formato da fonte de dados limitam o app inteiro.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5303520" cy="201168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1764792"/>
            <a:ext cx="5010912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D93025"/>
                </a:solidFill>
                <a:latin typeface="Calibri"/>
              </a:rPr>
              <a:t>Evitar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Redes sociais e apps de consumo em massa ("tentar construir um Instagram" resulta em falha de UX).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39"/>
            <a:ext cx="5303520" cy="2011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1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4050791"/>
            <a:ext cx="5010912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B6E2D"/>
                </a:solidFill>
                <a:latin typeface="Calibri"/>
              </a:rPr>
              <a:t>Uso ideal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ERP industrial, gestão de processos, coleta e consulta de dados estruturados: ambiente de alta eficiência.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07   |   6 / 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Estrutura de custos e planos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Valores por usuário/mês (setembro de 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08-09   |   7 / 53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691640"/>
          <a:ext cx="11274551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Plano</a:t>
                      </a:r>
                    </a:p>
                  </a:txBody>
                  <a:tcPr marL="73152" marR="36576" marT="27432" marB="27432"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 (usuário/mês)</a:t>
                      </a:r>
                    </a:p>
                  </a:txBody>
                  <a:tcPr marL="73152" marR="36576" marT="27432" marB="27432"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Características principais</a:t>
                      </a:r>
                    </a:p>
                  </a:txBody>
                  <a:tcPr marL="73152" marR="36576" marT="27432" marB="27432"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Gratuito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Até 10 usuários totais; uso interno; sem publicação em lojas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$5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Aplicações básicas e simples (não recomendado para escala)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$10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Recursos avançados; incluso em assinaturas Google Workspace (a partir de $6/e-mail)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Public Pro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$50/app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Usuários ilimitados; ideal para aplicativos de consulta pública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Enterprise Plus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$20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Segurança avançada, integrações de API e automações complexas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773168"/>
            <a:ext cx="11277295" cy="86868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 w="12700">
            <a:solidFill>
              <a:srgbClr val="D5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4846320"/>
            <a:ext cx="10984687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6D00"/>
                </a:solidFill>
                <a:latin typeface="Calibri"/>
              </a:rPr>
              <a:t>Cuidado com o limite do gratuito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10 usuários = criador + 9 e-mails. O 11º compartilhamento exige plano pago para TODOS.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08-09   |   7 / 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O processo de desenvolvimento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Dez etapas macro da arquitetura de uma solução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10-13   |   8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948220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911095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Desenho do Workflow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69428" y="2180844"/>
            <a:ext cx="256032" cy="164592"/>
          </a:xfrm>
          <a:prstGeom prst="rightArrow">
            <a:avLst/>
          </a:prstGeom>
          <a:solidFill>
            <a:srgbClr val="539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9468" y="178308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9468" y="1783080"/>
            <a:ext cx="1948220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4332" y="1911095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2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Arquitetura de Informação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1697" y="2180844"/>
            <a:ext cx="256032" cy="164592"/>
          </a:xfrm>
          <a:prstGeom prst="rightArrow">
            <a:avLst/>
          </a:prstGeom>
          <a:solidFill>
            <a:srgbClr val="539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1737" y="178308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1737" y="1783080"/>
            <a:ext cx="1948220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6601" y="1911095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Declaração de Dados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3965" y="2180844"/>
            <a:ext cx="256032" cy="164592"/>
          </a:xfrm>
          <a:prstGeom prst="rightArrow">
            <a:avLst/>
          </a:prstGeom>
          <a:solidFill>
            <a:srgbClr val="539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54005" y="178308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4005" y="1783080"/>
            <a:ext cx="1948220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8869" y="1911095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4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Design de UX/UI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66234" y="2180844"/>
            <a:ext cx="256032" cy="164592"/>
          </a:xfrm>
          <a:prstGeom prst="rightArrow">
            <a:avLst/>
          </a:prstGeom>
          <a:solidFill>
            <a:srgbClr val="539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86274" y="178308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86274" y="1783080"/>
            <a:ext cx="1948220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1138" y="1911095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5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Aplicação de Fórmulas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6324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1948220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" y="3191256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Configuração de Actions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469428" y="346100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89468" y="306324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89468" y="3063240"/>
            <a:ext cx="1948220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4332" y="3191256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2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Automação (Bots)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801697" y="346100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121737" y="306324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1737" y="3063240"/>
            <a:ext cx="1948220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76601" y="3191256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Segurança / Acesso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133965" y="346100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54005" y="306324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54005" y="3063240"/>
            <a:ext cx="1948220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08869" y="3191256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4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Inteligência Artificial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466234" y="346100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786274" y="3063240"/>
            <a:ext cx="19482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786274" y="3063240"/>
            <a:ext cx="1948220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41138" y="3191256"/>
            <a:ext cx="18384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5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Implementação / Deploy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34340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34340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74EA6"/>
                </a:solidFill>
                <a:latin typeface="Calibri"/>
              </a:rPr>
              <a:t>Cada etapa tem seção própria na apostila — o restante desta apresentação segue exatamente essa ordem.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10-13   |   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05-13   |   9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 AppSheet transforma dados estáticos em ferramentas dinâmicas, com foco em produtividade e automação sob o ecossistema Google.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No-code | Conectores de nuvem | Citizen development.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No-code: desenvolvimento sem codificação manual. Deploy: publicação oficial do app. NOW(): data e hora atuais.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PROCEDIMENTO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Organize os dados ANTES de abrir o editor.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Estourar o limite do gratuito: 10 usuários (criador + 9 e-mails); o 11º exige plano pago para todos (p. 09).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Limite de linhas por tabela? Impacto do Workspace no plano Core? Fontes aceitas? App com UI altamente customizada?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1F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149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149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4CACA3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299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FE2DE"/>
                </a:solidFill>
                <a:latin typeface="Calibri"/>
              </a:rPr>
              <a:t>CAPÍTULO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Compreendendo o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0F1EF"/>
                </a:solidFill>
                <a:latin typeface="Calibri"/>
              </a:rPr>
              <a:t>Digitalizar processos, não criá-los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0F1EF"/>
                </a:solidFill>
                <a:latin typeface="Calibri"/>
              </a:rPr>
              <a:t>Entrada → Processamento → Saída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0F1EF"/>
                </a:solidFill>
                <a:latin typeface="Calibri"/>
              </a:rPr>
              <a:t>PDCA e ferramentas de modelagem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10 /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O processo nasce antes da tecnologia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Importância estratégica do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15-16   |   11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669280" cy="14173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764792"/>
            <a:ext cx="537667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93025"/>
                </a:solidFill>
                <a:latin typeface="Calibri"/>
              </a:rPr>
              <a:t>Erro nº 1 dos iniciantes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Tentar construir um app sem um workflow desenhado. O AppSheet é uma ferramenta de digitalização — ele não cria o processo para você.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56692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3364992"/>
            <a:ext cx="537667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695C"/>
                </a:solidFill>
                <a:latin typeface="Calibri"/>
              </a:rPr>
              <a:t>Mentalidade de arquiteto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 workflow é o esqueleto da solução: define quem faz o quê e como os dados circulam entre as pessoas.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91640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0C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691640"/>
            <a:ext cx="64008" cy="100584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1" y="1783080"/>
            <a:ext cx="491947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1 · Processo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mapear no papel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62072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0C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2862072"/>
            <a:ext cx="64008" cy="100584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1" y="2953512"/>
            <a:ext cx="491947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2 · Fluxograma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desenhar (Draw.io)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32504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0C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4032504"/>
            <a:ext cx="64008" cy="100584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1" y="4123944"/>
            <a:ext cx="491947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3 · App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só então construir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15-16   |   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Entrada → Processamento → Saída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 sequência básica que todo workflow deve respeitar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   |   12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6A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291840" cy="822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956815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2740"/>
                </a:solidFill>
                <a:latin typeface="Calibri"/>
              </a:rPr>
              <a:t>ENTRADA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Calibri"/>
              </a:rPr>
              <a:t>Coleta de dados: formulários, importações, integrações.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40480" y="2633472"/>
            <a:ext cx="457200" cy="22860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1A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3291840" cy="822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956815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2740"/>
                </a:solidFill>
                <a:latin typeface="Calibri"/>
              </a:rPr>
              <a:t>PROCESSAMENTO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Calibri"/>
              </a:rPr>
              <a:t>Regras de negócio, cálculos, validações e estados.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72400" y="2633472"/>
            <a:ext cx="457200" cy="22860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8B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737360"/>
            <a:ext cx="3291840" cy="822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1956815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2740"/>
                </a:solidFill>
                <a:latin typeface="Calibri"/>
              </a:rPr>
              <a:t>SAÍDA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Calibri"/>
              </a:rPr>
              <a:t>Relatórios, notificações, dashboards e publicações.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1277295" cy="8686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74EA6"/>
                </a:solidFill>
                <a:latin typeface="Calibri"/>
              </a:rPr>
              <a:t>Toda funcionalidade do app deve se encaixar em uma dessas fases — se não encaixa, ou o processo está mal desenhado, ou você está criando um "plus" sem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   |   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Ciclo PDCA da melhoria contínua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Framework aplicado ao desenvolvimento no AppSheet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   |   13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26060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6A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2606040" cy="640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9202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73E8"/>
                </a:solidFill>
                <a:latin typeface="Calibri"/>
              </a:rPr>
              <a:t>PLAN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Planejar: requisitos e personas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26060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8B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606040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9202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E8E3E"/>
                </a:solidFill>
                <a:latin typeface="Calibri"/>
              </a:rPr>
              <a:t>DO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Fazer: funcionalidades técnicas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26060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49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2606040" cy="64008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70332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4EA6"/>
                </a:solidFill>
                <a:latin typeface="Calibri"/>
              </a:rPr>
              <a:t>CHECK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Verificar: validar com dados reais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520440"/>
            <a:ext cx="26060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1A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83280" y="3520440"/>
            <a:ext cx="2606040" cy="6400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47872" y="370332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710A"/>
                </a:solidFill>
                <a:latin typeface="Calibri"/>
              </a:rPr>
              <a:t>ACT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Agir: refinar a experiência</a:t>
            </a:r>
          </a:p>
        </p:txBody>
      </p:sp>
      <p:sp>
        <p:nvSpPr>
          <p:cNvPr id="22" name="Oval 21"/>
          <p:cNvSpPr/>
          <p:nvPr/>
        </p:nvSpPr>
        <p:spPr>
          <a:xfrm>
            <a:off x="2651760" y="2743200"/>
            <a:ext cx="1005840" cy="1005840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F9AB00"/>
                </a:solidFill>
                <a:latin typeface="Calibri"/>
              </a:rPr>
              <a:t>PDCA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30352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1810512"/>
            <a:ext cx="5010912" cy="3236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695C"/>
                </a:solidFill>
                <a:latin typeface="Calibri"/>
              </a:rPr>
              <a:t>Por que cíclico?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Apps digitais mudam o processo que digitam. Depois do primeiro ciclo, o uso real gera novos requisitos: replaneje (Plan), ajuste (Do), meça (Check) e refine (Act) — sempre validando o fluxo com dados reais.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   |   13 / 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Modelagem: fluxo de suprimentos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Exemplo de um fluxo de compras robusto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20   |   14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Proposta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9757" y="2318004"/>
            <a:ext cx="256032" cy="164592"/>
          </a:xfrm>
          <a:prstGeom prst="rightArrow">
            <a:avLst/>
          </a:prstGeom>
          <a:solidFill>
            <a:srgbClr val="40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39797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39797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94661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2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Cotação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93794" y="2318004"/>
            <a:ext cx="256032" cy="164592"/>
          </a:xfrm>
          <a:prstGeom prst="rightArrow">
            <a:avLst/>
          </a:prstGeom>
          <a:solidFill>
            <a:srgbClr val="40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13834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13834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8698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Aprovação técnica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67831" y="2318004"/>
            <a:ext cx="256032" cy="164592"/>
          </a:xfrm>
          <a:prstGeom prst="rightArrow">
            <a:avLst/>
          </a:prstGeom>
          <a:solidFill>
            <a:srgbClr val="40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87871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87871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2735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4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Geração do Pedido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41868" y="2318004"/>
            <a:ext cx="256032" cy="164592"/>
          </a:xfrm>
          <a:prstGeom prst="rightArrow">
            <a:avLst/>
          </a:prstGeom>
          <a:solidFill>
            <a:srgbClr val="40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61908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61908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16772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5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Recebimento no Armazém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15906" y="2318004"/>
            <a:ext cx="256032" cy="164592"/>
          </a:xfrm>
          <a:prstGeom prst="rightArrow">
            <a:avLst/>
          </a:prstGeom>
          <a:solidFill>
            <a:srgbClr val="40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35946" y="1828800"/>
            <a:ext cx="158998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235946" y="1828800"/>
            <a:ext cx="1589989" cy="5486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90810" y="1956816"/>
            <a:ext cx="148026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6</a:t>
            </a: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740"/>
                </a:solidFill>
                <a:latin typeface="Calibri"/>
              </a:rPr>
              <a:t>Liquidação Financeira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52044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3593592"/>
            <a:ext cx="1098468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695C"/>
                </a:solidFill>
                <a:latin typeface="Calibri"/>
              </a:rPr>
              <a:t>Cada etapa = mudança de STATUS nos dados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É esse status que dispara views, actions e bots ao longo do processo.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20   |   14 / 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Ferramentas de apoio ao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Mapeie o processo em fluxograma antes de executar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21   |   15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4068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81B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81965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740"/>
                </a:solidFill>
                <a:latin typeface="Calibri"/>
              </a:rPr>
              <a:t>Draw.io (diagrams.net)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258568"/>
            <a:ext cx="1001039" cy="24688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RECOMENDADA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4983480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Gratuita e sem limites de uso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Salva os arquivos direto no Google Drive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Ideal para diagramas de workflow do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691640"/>
            <a:ext cx="544068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81965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740"/>
                </a:solidFill>
                <a:latin typeface="Calibri"/>
              </a:rPr>
              <a:t>Lucidchart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2258568"/>
            <a:ext cx="1001039" cy="246888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ALTERNATIVA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624328"/>
            <a:ext cx="4983480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Excelente para colaboração em tempo real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Bom para equipes distribuídas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Plano gratuito com limitações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21   |   15 /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Quatro portas de entrada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Formas de começar a criar um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23-24   |   16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234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1. Via site AppSheet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Opção "Start with your own data": parte dos seus 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147" y="1691640"/>
            <a:ext cx="64008" cy="123444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4739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2. Via Conceito (IA)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A IA interpreta a sua ideia e sugere a estrutura do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0C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3. Via Template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Modificação de soluções prontas do catálogo.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EC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147" y="3154680"/>
            <a:ext cx="64008" cy="12344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4739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4. Via Google Sheets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Extensões &gt; AppSheet &gt; Create App, direto da planilha.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2628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74EA6"/>
                </a:solidFill>
                <a:latin typeface="Calibri"/>
              </a:rPr>
              <a:t>As quatro portas chegam ao mesmo lugar: o editor do AppSheet com seus dados conectados.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23-24   |   16 / 53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Nota de arquitetura: a pasta no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O que o AppSheet cria automaticamente ao gerar o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24   |   17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225296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22529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B2740"/>
                </a:solidFill>
                <a:latin typeface="Consolas"/>
              </a:rPr>
              <a:t>appsheet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173736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9AA0A6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2536" y="1737360"/>
            <a:ext cx="8046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02536" y="1737360"/>
            <a:ext cx="8046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B2740"/>
                </a:solidFill>
                <a:latin typeface="Consola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173736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9AA0A6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7248" y="1737360"/>
            <a:ext cx="2066544" cy="54864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27248" y="1737360"/>
            <a:ext cx="20665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app-name-user-id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6858000" cy="173736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 w="12700">
            <a:solidFill>
              <a:srgbClr val="D5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2770632"/>
            <a:ext cx="6565392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8A6D00"/>
                </a:solidFill>
                <a:latin typeface="Calibri"/>
              </a:rPr>
              <a:t>Crítico para a integridade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Mantenha a planilha dentro dessa pasta padrão. Mover arquivos quebra os links de imagens e uploads do app — é um dos erros mais fáceis de cometer.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697480"/>
            <a:ext cx="42062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3" y="2770632"/>
            <a:ext cx="3913631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B6E2D"/>
                </a:solidFill>
                <a:latin typeface="Calibri"/>
              </a:rPr>
              <a:t>Regra prática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Só construir depois de entender onde os dados moram.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24   |   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15-24   |   18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 workflow é o esqueleto da solução: define quem faz o quê e como os dados circulam.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Ciclo de vida do dado | PDCA | Digitalização de processos.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Workflow: sequência de passos de um processo. Path: caminho de diretório onde os dados residem.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PROCEDIMENTO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Mapear o processo em fluxograma (Draw.io) antes de executar.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Ignorar a pasta padrão appsheet/data/... pode quebrar links de imagens.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Qual a sequência básica de um workflow? Por que o Draw.io é preferido? Qual a estrutura da pasta automática?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399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309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309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62B07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42A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7E3CF"/>
                </a:solidFill>
                <a:latin typeface="Calibri"/>
              </a:rPr>
              <a:t>CAPÍTULO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Estrutura e Arquitetura de Dados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4F1E8"/>
                </a:solidFill>
                <a:latin typeface="Calibri"/>
              </a:rPr>
              <a:t>A base de dados é o alicerce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4F1E8"/>
                </a:solidFill>
                <a:latin typeface="Calibri"/>
              </a:rPr>
              <a:t>Regras de ouro da declaração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4F1E8"/>
                </a:solidFill>
                <a:latin typeface="Calibri"/>
              </a:rPr>
              <a:t>Tables, Columns, Slices e propriedades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19 /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Regras de ouro dos dados (1 a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Se os dados forem mal estruturados, nada salva o app da instabilidade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23-24   |   20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" y="1874520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746504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Nomes de colunas claros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Sem caracteres especiais (#, &amp;, /) e sem espaços.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" y="2734056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606040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Key ID único e obrigatório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A chave primária nunca deve ser duplicada ou vazia (p. 23).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0712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" y="3593592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65576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Tipos definidos explicitamente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Text, Date, Enum, Number... a tipagem define a lógica.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70248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5216" y="4453128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325112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Sem células mescladas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O AppSheet proíbe células mescladas na fonte de dados (p. 24).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9784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5216" y="5312664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184648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Cabeçalho na linha 1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A primeira linha da planilha deve conter os títulos (p. 24).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23-24   |   20 /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Regras de ouro dos dados (6 a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Completando o checklist de declaração de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24-26   |   21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" y="1874520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746504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Sem Pivot Tables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Não use tabelas dinâmicas como fonte direta (p. 26).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51176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" y="2734056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606040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Key não volátil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O ID não deve mudar depois de criado.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0712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" y="3593592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65576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Validação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Use regras de validação para evitar dados "sujos".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70248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5216" y="4453128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325112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Normalização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Divida em tabelas lógicas: Clientes, Pedidos, Itens.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9784"/>
            <a:ext cx="11277295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5216" y="5312664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184648"/>
            <a:ext cx="1050005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B2740"/>
                </a:solidFill>
                <a:latin typeface="Calibri"/>
              </a:rPr>
              <a:t>Segurança de coluna</a:t>
            </a:r>
          </a:p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Defina quem pode editar cada campo (p. 23).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24-26   |   21 / 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Interface de dados no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Onde cada decisão de dados acontece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27-30, 38   |   22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234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Tables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Gerencia conexões e permissões: Add, Update, Delete por usuário.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EC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147" y="1691640"/>
            <a:ext cx="64008" cy="12344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4739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Columns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Onde definimos o DNA de cada campo: tipo, fórmula, obrigatoriedade.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Slices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"Fatias" lógicas de uma tabela para filtros e views específicas.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4B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147" y="3154680"/>
            <a:ext cx="64008" cy="12344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4739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User Settings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Variáveis locais para personalização por usuário.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2628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1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B6E2D"/>
                </a:solidFill>
                <a:latin typeface="Calibri"/>
              </a:rPr>
              <a:t>Slices são a base das visões segmentadas e dos filtros de segurança — volte a eles no capítulo 7.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27-30, 38   |   22 /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Configuração de colunas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Propriedades técnicas e sua função estratégica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30-35, 83   |   23 / 53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69164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Propriedade</a:t>
                      </a:r>
                    </a:p>
                  </a:txBody>
                  <a:tcPr marL="73152" marR="36576" marT="27432" marB="27432"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Função estratégica</a:t>
                      </a:r>
                    </a:p>
                  </a:txBody>
                  <a:tcPr marL="73152" marR="36576" marT="27432" marB="27432"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Título da coluna na planilha fonte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Define a lógica de processamento (Number, Enum, Image...)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Execução de cálculos em tempo real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Initial Value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Valor sugerido (ex.: USEREMAIL() para identificar quem cria o registro)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Display Name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Nome amigável que o usuário verá (suporta fórmulas)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Require?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Torna o preenchimento obrigatório</a:t>
                      </a:r>
                    </a:p>
                  </a:txBody>
                  <a:tcPr marL="73152" marR="36576" marT="27432" marB="27432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740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F6368"/>
                          </a:solidFill>
                          <a:latin typeface="Calibri"/>
                        </a:rPr>
                        <a:t>Identifica dados sensíveis que não serão enviados ao servidor</a:t>
                      </a:r>
                    </a:p>
                  </a:txBody>
                  <a:tcPr marL="73152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532120"/>
            <a:ext cx="11277295" cy="54864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74EA6"/>
                </a:solidFill>
                <a:latin typeface="Calibri"/>
              </a:rPr>
              <a:t>PII + Security Filter = privacidade real: o dado sensível nem chega ao servidor.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30-35, 83   |   23 / 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Fórmulas na base: Initial Value e erros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Automatize o preenchimento e leia as mensagens de erro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25-26, 33-34   |   24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669280" cy="713232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5394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9AB00"/>
                </a:solidFill>
                <a:latin typeface="Calibri"/>
              </a:rPr>
              <a:t>FÓRMULA DE COLUNA (CÁLCULO EM TEMPO REAL)</a:t>
            </a:r>
          </a:p>
          <a:p>
            <a:pPr algn="l"/>
            <a:r>
              <a:rPr sz="1200" b="1">
                <a:solidFill>
                  <a:srgbClr val="8AB4F8"/>
                </a:solidFill>
                <a:latin typeface="Consolas"/>
              </a:rPr>
              <a:t>Preco * Quantidade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87752"/>
            <a:ext cx="5669280" cy="713232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94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9AB00"/>
                </a:solidFill>
                <a:latin typeface="Calibri"/>
              </a:rPr>
              <a:t>INITIAL VALUE — QUEM CRIOU O REGISTRO</a:t>
            </a:r>
          </a:p>
          <a:p>
            <a:pPr algn="l"/>
            <a:r>
              <a:rPr sz="1200" b="1">
                <a:solidFill>
                  <a:srgbClr val="8AB4F8"/>
                </a:solidFill>
                <a:latin typeface="Consolas"/>
              </a:rPr>
              <a:t>USEREMAIL()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83864"/>
            <a:ext cx="5669280" cy="713232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547872"/>
            <a:ext cx="5394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9AB00"/>
                </a:solidFill>
                <a:latin typeface="Calibri"/>
              </a:rPr>
              <a:t>DATA E HORA ATUAIS NO FORMULÁRIO</a:t>
            </a:r>
          </a:p>
          <a:p>
            <a:pPr algn="l"/>
            <a:r>
              <a:rPr sz="1200" b="1">
                <a:solidFill>
                  <a:srgbClr val="8AB4F8"/>
                </a:solidFill>
                <a:latin typeface="Consolas"/>
              </a:rPr>
              <a:t>NOW()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691640"/>
            <a:ext cx="5212080" cy="2505456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38544" y="1764792"/>
            <a:ext cx="4919472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D93025"/>
                </a:solidFill>
                <a:latin typeface="Calibri"/>
              </a:rPr>
              <a:t>"Header is missing"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Mensagem clássica do AppSheet quando a linha 1 da planilha está vazia ou contém células mescladas (p. 25). Diagnóstico rápido: volte à planilha, corrija o cabeçalho e recarregue a view de 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77295" cy="77724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1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6E2D"/>
                </a:solidFill>
                <a:latin typeface="Calibri"/>
              </a:rPr>
              <a:t>Regra de bolso: se o valor pode ser derivado por fórmula, não peça ao usuário — use Initial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25-26, 33-34   |   24 /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20-38   |   25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Arquitetura de dados exige chaves primárias únicas e colunas bem tipadas para garantir integridade.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Chave primária | Normalização | Tipagem de 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Key: identificador único da linha. Initial Value: valor preenchido automaticamente ao abrir o formulário.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FÓRMULAS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Preco * Quantidade — exemplo de cálculo básico em coluna.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"Header is missing": linha 1 vazia ou com células mescladas (p. 25).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Por que evitar células mescladas? O que a propriedade PII faz com o dado? Qual a função do Initial Value?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934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8E4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8E4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A96EDD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985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0CBF3"/>
                </a:solidFill>
                <a:latin typeface="Calibri"/>
              </a:rPr>
              <a:t>CAPÍTULO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Interface / UX /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0E6F9"/>
                </a:solidFill>
                <a:latin typeface="Calibri"/>
              </a:rPr>
              <a:t>Views: a porta de entrada do usuário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0E6F9"/>
                </a:solidFill>
                <a:latin typeface="Calibri"/>
              </a:rPr>
              <a:t>Data Format: cores e ícones condicionais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0E6F9"/>
                </a:solidFill>
                <a:latin typeface="Calibri"/>
              </a:rPr>
              <a:t>Simplicidade vence poluição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26 / 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Views e formatação condicional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Traduza dados complexos em uma jornada fluida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40, 49-50   |   27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740"/>
                </a:solidFill>
                <a:latin typeface="Calibri"/>
              </a:rPr>
              <a:t>O AppSheet organiza a experiência através de Views. Cada visão pode mostrar uma tabela inteira ou um Slice. Interface confusa gera baixa adoção — o arquiteto traduz complexidade em clareza.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394960" cy="1005840"/>
          </a:xfrm>
          <a:prstGeom prst="roundRect">
            <a:avLst>
              <a:gd name="adj" fmla="val 12000"/>
            </a:avLst>
          </a:prstGeom>
          <a:solidFill>
            <a:srgbClr val="F3E8FD"/>
          </a:solidFill>
          <a:ln w="12700">
            <a:solidFill>
              <a:srgbClr val="CCC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3182112"/>
            <a:ext cx="5102352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E1E96"/>
                </a:solidFill>
                <a:latin typeface="Calibri"/>
              </a:rPr>
              <a:t>Cores e ícones condicionais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Destaque indicadores críticos — ex.: vermelho quando o estoque estiver baixo (p. 49-50).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394960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74650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Estoque —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2221992"/>
            <a:ext cx="5175504" cy="47548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0" y="2386584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29514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740"/>
                </a:solidFill>
                <a:latin typeface="Calibri"/>
              </a:rPr>
              <a:t>Parafuso M8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29514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8E3E"/>
                </a:solidFill>
                <a:latin typeface="Calibri"/>
              </a:rPr>
              <a:t>1.240 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2788920"/>
            <a:ext cx="517550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83680" y="2953512"/>
            <a:ext cx="146304" cy="14630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286207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740"/>
                </a:solidFill>
                <a:latin typeface="Calibri"/>
              </a:rPr>
              <a:t>Cabo 2,5mm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86207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D93025"/>
                </a:solidFill>
                <a:latin typeface="Calibri"/>
              </a:rPr>
              <a:t>38 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3355848"/>
            <a:ext cx="5175504" cy="47548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83680" y="3520440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4290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740"/>
                </a:solidFill>
                <a:latin typeface="Calibri"/>
              </a:rPr>
              <a:t>Dowel 6mm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42900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8E3E"/>
                </a:solidFill>
                <a:latin typeface="Calibri"/>
              </a:rPr>
              <a:t>812 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922776"/>
            <a:ext cx="517550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83680" y="4087368"/>
            <a:ext cx="146304" cy="14630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399592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740"/>
                </a:solidFill>
                <a:latin typeface="Calibri"/>
              </a:rPr>
              <a:t>Tinta Branca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99592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D93025"/>
                </a:solidFill>
                <a:latin typeface="Calibri"/>
              </a:rPr>
              <a:t>12 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00600"/>
            <a:ext cx="3153994" cy="274320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Data Format: vermelho = estoque crítico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40, 49-50   |   27 / 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View Types: escolhendo o formato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Table, Deck e Card servem a tarefas diferentes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40-54   |   28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1129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6A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Calibri"/>
              </a:rPr>
              <a:t>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31720"/>
            <a:ext cx="3054096" cy="34747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23317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06040" y="23317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3054096" cy="34747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0" y="27889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40" y="27889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054096" cy="34747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0" y="32461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06040" y="32461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054096" cy="347472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0" y="37033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06040" y="3703320"/>
            <a:ext cx="10972" cy="3474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314553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Listas densas de dados: auditoria, consulta rápida, edição em massa.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1691640"/>
            <a:ext cx="351129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66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1144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Deck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280720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47488" y="2660904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18303" y="224028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18303" y="2240280"/>
            <a:ext cx="1828800" cy="384048"/>
          </a:xfrm>
          <a:prstGeom prst="roundRect">
            <a:avLst>
              <a:gd name="adj" fmla="val 3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55464" y="2788920"/>
            <a:ext cx="1188720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55464" y="2926080"/>
            <a:ext cx="1554480" cy="54864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6775704" y="2606040"/>
            <a:ext cx="411480" cy="201168"/>
          </a:xfrm>
          <a:prstGeom prst="rightArrow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1144" y="4160520"/>
            <a:ext cx="314553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Registros com imagem e ação: catálogos, ordens de serviço, CRM.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9327" y="1691640"/>
            <a:ext cx="351129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B5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7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430CE"/>
                </a:solidFill>
                <a:latin typeface="Calibri"/>
              </a:rPr>
              <a:t>Card / Detail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0848" y="224028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70848" y="2240280"/>
            <a:ext cx="2048256" cy="457200"/>
          </a:xfrm>
          <a:prstGeom prst="roundRect">
            <a:avLst>
              <a:gd name="adj" fmla="val 3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08007" y="2852928"/>
            <a:ext cx="1737360" cy="7315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08007" y="3072384"/>
            <a:ext cx="1417319" cy="7315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08007" y="3291840"/>
            <a:ext cx="1097280" cy="7315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22207" y="4160520"/>
            <a:ext cx="314553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Leitura e foco em um registro por vez: fichas e resumos.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40-54   |   28 /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Boas práticas de UX no AppSheet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Pequenas decisões que definem a adoção do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40-54   |   29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234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Traduza com Display Name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Use o Display Name para converter colunas técnicas em linguagem humana.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147" y="1691640"/>
            <a:ext cx="64008" cy="123444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4739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dirty="0">
                <a:solidFill>
                  <a:srgbClr val="1B2740"/>
                </a:solidFill>
                <a:latin typeface="Calibri"/>
              </a:rPr>
              <a:t>CONTEXT("View")</a:t>
            </a:r>
          </a:p>
          <a:p>
            <a:pPr algn="l">
              <a:lnSpc>
                <a:spcPct val="112000"/>
              </a:lnSpc>
            </a:pPr>
            <a:r>
              <a:rPr sz="1050" b="0" dirty="0" err="1">
                <a:solidFill>
                  <a:srgbClr val="5F6368"/>
                </a:solidFill>
                <a:latin typeface="Calibri"/>
              </a:rPr>
              <a:t>Fórmula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usada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para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mostrar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ou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esconder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elementos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conforme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a view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ativa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EC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Localization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Tradução de botões e termos do sistema para o idioma do usuário.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9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147" y="3154680"/>
            <a:ext cx="64008" cy="1234440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4739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dirty="0">
                <a:solidFill>
                  <a:srgbClr val="1B2740"/>
                </a:solidFill>
                <a:latin typeface="Calibri"/>
              </a:rPr>
              <a:t>Menu </a:t>
            </a:r>
            <a:r>
              <a:rPr sz="1250" b="1" dirty="0" err="1">
                <a:solidFill>
                  <a:srgbClr val="1B2740"/>
                </a:solidFill>
                <a:latin typeface="Calibri"/>
              </a:rPr>
              <a:t>enxuto</a:t>
            </a:r>
            <a:endParaRPr sz="1250" b="1" dirty="0">
              <a:solidFill>
                <a:srgbClr val="1B2740"/>
              </a:solidFill>
              <a:latin typeface="Calibri"/>
            </a:endParaRPr>
          </a:p>
          <a:p>
            <a:pPr algn="l">
              <a:lnSpc>
                <a:spcPct val="112000"/>
              </a:lnSpc>
            </a:pPr>
            <a:r>
              <a:rPr sz="1050" b="0" dirty="0" err="1">
                <a:solidFill>
                  <a:srgbClr val="5F6368"/>
                </a:solidFill>
                <a:latin typeface="Calibri"/>
              </a:rPr>
              <a:t>Excesso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de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visões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polui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a interface: </a:t>
            </a:r>
            <a:r>
              <a:rPr sz="1050" b="0" dirty="0" err="1">
                <a:solidFill>
                  <a:srgbClr val="5F6368"/>
                </a:solidFill>
                <a:latin typeface="Calibri"/>
              </a:rPr>
              <a:t>agrupe</a:t>
            </a:r>
            <a:r>
              <a:rPr sz="1050" b="0" dirty="0">
                <a:solidFill>
                  <a:srgbClr val="5F6368"/>
                </a:solidFill>
                <a:latin typeface="Calibri"/>
              </a:rPr>
              <a:t> no menu lateral "Menu".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5943600" cy="685800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636008"/>
            <a:ext cx="5669280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9AB00"/>
                </a:solidFill>
                <a:latin typeface="Calibri"/>
              </a:rPr>
              <a:t>MOSTRAR/ESCONDER ELEMENTOS POR VIEW</a:t>
            </a:r>
          </a:p>
          <a:p>
            <a:pPr algn="l"/>
            <a:r>
              <a:rPr sz="1200" b="1">
                <a:solidFill>
                  <a:srgbClr val="8AB4F8"/>
                </a:solidFill>
                <a:latin typeface="Consolas"/>
              </a:rPr>
              <a:t>CONTEXT("View") = "Dashboard"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40-54   |   29 / 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47-54   |   30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UX no AppSheet foca em simplicidade e clareza, com o tipo certo de view para cada tarefa.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View Type | Formatação condicional | UX decentralization.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View Type: formato de visualização (Table, Card, Deck). Localization: tradução de botões e termos.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FÓRMULA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CONTEXT("View") = "Dashboard" — mostra/esconde elementos.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Poluir o menu principal com excesso de visões. Use o menu lateral.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B8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Diferença entre Table View e Deck View? Como funciona a formatação condicional?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EB8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EA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EA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EF9C54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EC8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DCC2"/>
                </a:solidFill>
                <a:latin typeface="Calibri"/>
              </a:rPr>
              <a:t>CAPÍTULO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Actions: Ações do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CEEE2"/>
                </a:solidFill>
                <a:latin typeface="Calibri"/>
              </a:rPr>
              <a:t>O motor de interatividade do app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CEEE2"/>
                </a:solidFill>
                <a:latin typeface="Calibri"/>
              </a:rPr>
              <a:t>Posições: Prominently, Inline, Overlay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CEEE2"/>
                </a:solidFill>
                <a:latin typeface="Calibri"/>
              </a:rPr>
              <a:t>Loops: ações que chamam a si mesmas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31 / 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Actions: o motor de interatividade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Funções complexas com um clique — além da simples entrada de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56-57   |   32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CD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051560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3218688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Prominently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Botão flutuante ou no cabeçalho.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691640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691640"/>
            <a:ext cx="64008" cy="1051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783080"/>
            <a:ext cx="3218688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Inline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Dentro do campo ou da lista.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1691640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39327" y="1691640"/>
            <a:ext cx="64008" cy="105156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19" y="1783080"/>
            <a:ext cx="3218688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B2740"/>
                </a:solidFill>
                <a:latin typeface="Calibri"/>
              </a:rPr>
              <a:t>Overlay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5F6368"/>
                </a:solidFill>
                <a:latin typeface="Calibri"/>
              </a:rPr>
              <a:t>Sobreposta à 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2011680" cy="3017520"/>
          </a:xfrm>
          <a:prstGeom prst="roundRect">
            <a:avLst>
              <a:gd name="adj" fmla="val 12000"/>
            </a:avLst>
          </a:prstGeom>
          <a:solidFill>
            <a:srgbClr val="15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352" y="3154680"/>
            <a:ext cx="1865376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2004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Ordens</a:t>
            </a:r>
          </a:p>
        </p:txBody>
      </p:sp>
      <p:sp>
        <p:nvSpPr>
          <p:cNvPr id="23" name="Oval 22"/>
          <p:cNvSpPr/>
          <p:nvPr/>
        </p:nvSpPr>
        <p:spPr>
          <a:xfrm>
            <a:off x="2029968" y="3255264"/>
            <a:ext cx="292608" cy="292608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0E1B33"/>
                </a:solidFill>
                <a:latin typeface="Calibri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12463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481328" y="3785615"/>
            <a:ext cx="709574" cy="23774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Aprovar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87952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481328" y="4261104"/>
            <a:ext cx="709574" cy="23774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Aprovar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63440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889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481328" y="4736592"/>
            <a:ext cx="709574" cy="23774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Aprovar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12080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2120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Overlay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2004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710A"/>
                </a:solidFill>
                <a:latin typeface="Calibri"/>
              </a:rPr>
              <a:t>1. Prominently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1148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Calibri"/>
              </a:rPr>
              <a:t>2. Inline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3035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430CE"/>
                </a:solidFill>
                <a:latin typeface="Calibri"/>
              </a:rPr>
              <a:t>3. Overlay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3063240"/>
            <a:ext cx="722376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26864" y="3136392"/>
            <a:ext cx="6931152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E8710A"/>
                </a:solidFill>
                <a:latin typeface="Calibri"/>
              </a:rPr>
              <a:t>Boas actions valem por um formulário inteiro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Mudar status, navegar com Deep Link, duplicar registros ou disparar processos. Conceitos-chave: gatilhos manuais, Deep Links e Data Actions.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56-57   |   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Loops: ações que se autodisparam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Para processar listas item por 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60-61   |   33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6675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1B2740"/>
                </a:solidFill>
                <a:latin typeface="Calibri"/>
              </a:rPr>
              <a:t>Arquiteturas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avançadas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exigem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uma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ação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dispare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outra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sucessivamente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— ex.: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descontar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10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itens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do estoque um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um.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Isso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é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feito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criando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uma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Action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chama a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si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mesma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até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condição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se </a:t>
            </a:r>
            <a:r>
              <a:rPr sz="1200" b="0" dirty="0" err="1">
                <a:solidFill>
                  <a:srgbClr val="1B2740"/>
                </a:solidFill>
                <a:latin typeface="Calibri"/>
              </a:rPr>
              <a:t>torne</a:t>
            </a:r>
            <a:r>
              <a:rPr sz="1200" b="0" dirty="0">
                <a:solidFill>
                  <a:srgbClr val="1B2740"/>
                </a:solidFill>
                <a:latin typeface="Calibri"/>
              </a:rPr>
              <a:t> falsa.</a:t>
            </a:r>
          </a:p>
        </p:txBody>
      </p:sp>
      <p:sp>
        <p:nvSpPr>
          <p:cNvPr id="11" name="Oval 10"/>
          <p:cNvSpPr/>
          <p:nvPr/>
        </p:nvSpPr>
        <p:spPr>
          <a:xfrm>
            <a:off x="7635240" y="1783080"/>
            <a:ext cx="1920240" cy="1920240"/>
          </a:xfrm>
          <a:prstGeom prst="ellipse">
            <a:avLst/>
          </a:prstGeom>
          <a:noFill/>
          <a:ln w="38100">
            <a:solidFill>
              <a:srgbClr val="E87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19202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8710A"/>
                </a:solidFill>
                <a:latin typeface="Calibri"/>
              </a:rPr>
              <a:t>Action</a:t>
            </a:r>
          </a:p>
          <a:p>
            <a:pPr algn="ctr"/>
            <a:r>
              <a:rPr sz="1000" b="0">
                <a:solidFill>
                  <a:srgbClr val="5F6368"/>
                </a:solidFill>
                <a:latin typeface="Calibri"/>
              </a:rPr>
              <a:t>chama a si mesma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82880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04704" y="1956816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0" y="1828800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B2740"/>
                </a:solidFill>
                <a:latin typeface="Calibri"/>
              </a:rPr>
              <a:t>Item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359152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04704" y="2487168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0" y="2359152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B2740"/>
                </a:solidFill>
                <a:latin typeface="Calibri"/>
              </a:rPr>
              <a:t>Item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88950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204704" y="3017520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0" y="288950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B2740"/>
                </a:solidFill>
                <a:latin typeface="Calibri"/>
              </a:rPr>
              <a:t>Item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3419856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04704" y="3547872"/>
            <a:ext cx="146304" cy="146304"/>
          </a:xfrm>
          <a:prstGeom prst="ellipse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0" y="3419856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B2740"/>
                </a:solidFill>
                <a:latin typeface="Calibri"/>
              </a:rPr>
              <a:t>Item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840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F6368"/>
                </a:solidFill>
                <a:latin typeface="Calibri"/>
              </a:rPr>
              <a:t>até a condição = falso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80"/>
            <a:ext cx="6309360" cy="777240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447288"/>
            <a:ext cx="603504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dirty="0">
                <a:solidFill>
                  <a:srgbClr val="F9AB00"/>
                </a:solidFill>
                <a:latin typeface="Calibri"/>
              </a:rPr>
              <a:t>CONDIÇÃO DO LOOP</a:t>
            </a:r>
          </a:p>
          <a:p>
            <a:pPr algn="l"/>
            <a:r>
              <a:rPr sz="1200" b="1" dirty="0">
                <a:solidFill>
                  <a:srgbClr val="8AB4F8"/>
                </a:solidFill>
                <a:latin typeface="Consolas"/>
              </a:rPr>
              <a:t>COUNT(SELECT(</a:t>
            </a:r>
            <a:r>
              <a:rPr sz="1200" b="1" dirty="0" err="1">
                <a:solidFill>
                  <a:srgbClr val="8AB4F8"/>
                </a:solidFill>
                <a:latin typeface="Consolas"/>
              </a:rPr>
              <a:t>Pedidos</a:t>
            </a:r>
            <a:r>
              <a:rPr sz="1200" b="1" dirty="0">
                <a:solidFill>
                  <a:srgbClr val="8AB4F8"/>
                </a:solidFill>
                <a:latin typeface="Consolas"/>
              </a:rPr>
              <a:t>[ID], [Status] = "Pendente")) &gt;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2628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8A2A22"/>
                </a:solidFill>
                <a:latin typeface="Calibri"/>
              </a:rPr>
              <a:t>Loops mal configurados geram processamento infinito e travam o app. Defina sempre a condição de parada.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60-61   |   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Action ou Bot? Não confunda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 diferença que define a arquitetura da automação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56, 62   |   34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4068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81965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740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4983480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Exige um clique do usuário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Executa na interação da interface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Ideal para navegação e edições pontuais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Deep Link leva a uma tela específica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691640"/>
            <a:ext cx="544068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81965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740"/>
                </a:solidFill>
                <a:latin typeface="Calibri"/>
              </a:rPr>
              <a:t>Bot (Automation)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13432"/>
            <a:ext cx="4983480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Dispara sozinho: evento ou agenda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Executa na nuvem, sem interface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Ideal para notificações e relatórios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B2740"/>
                </a:solidFill>
                <a:latin typeface="Calibri"/>
              </a:rPr>
              <a:t>•  Webhook integra sistemas externos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74EA6"/>
                </a:solidFill>
                <a:latin typeface="Calibri"/>
              </a:rPr>
              <a:t>Pergunta-guia: "isso deve acontecer com ou sem o usuário?" — com: Action; sem: Bot.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56, 62   |   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55-63   |   35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Actions tornam o app dinâmico: navegação, edição de dados e disparo de processos com um clique.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Gatilhos manuais | Deep Links | Data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Deeplink: link que leva o usuário a uma tela específica. Overlay: posição de destaque sobre a interface.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FÓRMULA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COUNT(SELECT(Pedidos[ID], [Status] = "Pendente")) &gt; 0 — condição de loop.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Loops mal configurados: processamento infinito e travamento do app.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2B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Onde uma Action Inline é exibida? Qual a diferença entre uma Action e uma Automação?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336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2A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2A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5D83C1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3C6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D3E9"/>
                </a:solidFill>
                <a:latin typeface="Calibri"/>
              </a:rPr>
              <a:t>CAPÍTULO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Automation / 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3EAF4"/>
                </a:solidFill>
                <a:latin typeface="Calibri"/>
              </a:rPr>
              <a:t>O funcionário invisível 24/7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3EAF4"/>
                </a:solidFill>
                <a:latin typeface="Calibri"/>
              </a:rPr>
              <a:t>Events, Processes e Tasks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3EAF4"/>
                </a:solidFill>
                <a:latin typeface="Calibri"/>
              </a:rPr>
              <a:t>Relatórios e notificações sem intervenção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36 / 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Anatomia de um 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Diferente da Action, o Bot dispara por eventos de dados ou tempo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65-67   |   37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11296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FBC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511296" cy="82296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14553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9AB00"/>
                </a:solidFill>
                <a:latin typeface="Calibri"/>
              </a:rPr>
              <a:t>EVENTS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O "quando"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B2740"/>
                </a:solidFill>
                <a:latin typeface="Calibri"/>
              </a:rPr>
              <a:t>Alteração no dado (Update) ou agendamento (Schedule).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2651760"/>
            <a:ext cx="320040" cy="182880"/>
          </a:xfrm>
          <a:prstGeom prst="rightArrow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98264" y="1691640"/>
            <a:ext cx="3511296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49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98264" y="1691640"/>
            <a:ext cx="3511296" cy="822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920240"/>
            <a:ext cx="314553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74EA6"/>
                </a:solidFill>
                <a:latin typeface="Calibri"/>
              </a:rPr>
              <a:t>PROCESSES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O "o quê"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B2740"/>
                </a:solidFill>
                <a:latin typeface="Calibri"/>
              </a:rPr>
              <a:t>A sequência de lógica a ser seguida, com condições e ramificações.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3" y="2651760"/>
            <a:ext cx="320040" cy="182880"/>
          </a:xfrm>
          <a:prstGeom prst="rightArrow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39327" y="1691640"/>
            <a:ext cx="3511296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F1A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39327" y="1691640"/>
            <a:ext cx="3511296" cy="82296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7" y="1920240"/>
            <a:ext cx="314553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E8710A"/>
                </a:solidFill>
                <a:latin typeface="Calibri"/>
              </a:rPr>
              <a:t>TASKS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A "ação final"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B2740"/>
                </a:solidFill>
                <a:latin typeface="Calibri"/>
              </a:rPr>
              <a:t>Enviar e-mail, gerar um PDF ou chamar um Webhook.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1277295" cy="77724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 w="12700">
            <a:solidFill>
              <a:srgbClr val="101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4233672"/>
            <a:ext cx="10984687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B4F8"/>
                </a:solidFill>
                <a:latin typeface="Calibri"/>
              </a:rPr>
              <a:t>Bot = Events + Process + Task. Juntos, eles são o robô completo de automação.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65-67   |   37 / 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Exemplo prático + testes com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Do gatilho ao relatório — e como validar antes de escalar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66-67   |   38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253128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2531287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865376"/>
            <a:ext cx="24215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Evento: Update no pedido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52495" y="211226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72535" y="1737360"/>
            <a:ext cx="253128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2535" y="1737360"/>
            <a:ext cx="2531287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7399" y="1865376"/>
            <a:ext cx="24215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2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Processo: verificar status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7831" y="211226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87871" y="1737360"/>
            <a:ext cx="253128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7871" y="1737360"/>
            <a:ext cx="2531287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2735" y="1865376"/>
            <a:ext cx="24215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Task: gerar PDF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83167" y="2112264"/>
            <a:ext cx="256032" cy="164592"/>
          </a:xfrm>
          <a:prstGeom prst="rightArrow">
            <a:avLst/>
          </a:prstGeom>
          <a:solidFill>
            <a:srgbClr val="51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03207" y="1737360"/>
            <a:ext cx="253128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03207" y="1737360"/>
            <a:ext cx="2531287" cy="54864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8071" y="1865376"/>
            <a:ext cx="24215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74EA6"/>
                </a:solidFill>
                <a:latin typeface="Calibri"/>
              </a:rPr>
              <a:t>4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Task: enviar por e-mail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0175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090672"/>
            <a:ext cx="514807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8A6D00"/>
                </a:solidFill>
                <a:latin typeface="Calibri"/>
              </a:rPr>
              <a:t>Bot agendado (Schedule)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Como disparar um relatório toda segunda-feira às 08h? Crie um Bot com evento do tipo Schedule e defina a recorrência.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30175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1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090672"/>
            <a:ext cx="514807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B6E2D"/>
                </a:solidFill>
                <a:latin typeface="Calibri"/>
              </a:rPr>
              <a:t>Teste sempre via Monitor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Procedimento: valide cada execução no Monitor antes de escalar o uso para a equipe.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11277295" cy="68580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663440"/>
            <a:ext cx="1091153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A2A22"/>
                </a:solidFill>
                <a:latin typeface="Calibri"/>
              </a:rPr>
              <a:t>Atenção: no plano gratuito, e-mails para destinatários EXTERNOS ao criador não funcionam (p. 09).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66-67   |   38 / 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65-73   |   39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Bots automatizam tarefas repetitivas: notificações e relatórios ocorrem sem intervenção humana.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Gatilhos por evento | Processamento em nuvem.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Bot: robô de automação completo. Webhook: integração com sistemas externos.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PROCEDIMENTO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Sempre testar automações via Monitor antes de escalar o uso.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E-mail para destinatários externos não funciona no plano gratuito (p. 09).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7F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 que compõe um Bot? Como disparar um relatório toda segunda às 08h?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DE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DC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DC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E46E66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DF5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6CBC8"/>
                </a:solidFill>
                <a:latin typeface="Calibri"/>
              </a:rPr>
              <a:t>CAPÍTULO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Distribuição e Gestão de Usuários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AE6E5"/>
                </a:solidFill>
                <a:latin typeface="Calibri"/>
              </a:rPr>
              <a:t>Segurança e governança, não só login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AE6E5"/>
                </a:solidFill>
                <a:latin typeface="Calibri"/>
              </a:rPr>
              <a:t>Row-Level Security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AE6E5"/>
                </a:solidFill>
                <a:latin typeface="Calibri"/>
              </a:rPr>
              <a:t>USEREMAIL() e Security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40 /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Row-Level Security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Garantir que o usuário A não veja os dados do usuário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75-79   |   41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852160" cy="731520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55778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9AB00"/>
                </a:solidFill>
                <a:latin typeface="Calibri"/>
              </a:rPr>
              <a:t>SECURITY FILTER DA TABELA</a:t>
            </a:r>
          </a:p>
          <a:p>
            <a:pPr algn="l"/>
            <a:r>
              <a:rPr sz="1200" b="1">
                <a:solidFill>
                  <a:srgbClr val="8AB4F8"/>
                </a:solidFill>
                <a:latin typeface="Consolas"/>
              </a:rPr>
              <a:t>[Email_Responsavel] = USEREMAIL()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740"/>
                </a:solidFill>
                <a:latin typeface="Calibri"/>
              </a:rPr>
              <a:t>A técnica de Segurança ao Nível de Linha é feita através de filtros de segurança nos Slices ou no Security Filter da tabela.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5852160" cy="123444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D4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3822191"/>
            <a:ext cx="5559552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2A22"/>
                </a:solidFill>
                <a:latin typeface="Calibri"/>
              </a:rPr>
              <a:t>Esquecer de aplicar filtros de segurança pode expor dados de toda a empresa a qualquer usuário.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B2740"/>
                </a:solidFill>
                <a:latin typeface="Calibri"/>
              </a:rPr>
              <a:t>Security Filter roda no SERVIDOR, antes dos dados chegarem ao celular.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78308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9FA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74EA6"/>
                </a:solidFill>
                <a:latin typeface="Calibri"/>
              </a:rPr>
              <a:t>Usuário logado</a:t>
            </a:r>
          </a:p>
          <a:p>
            <a:pPr algn="ctr"/>
            <a:r>
              <a:rPr sz="950" b="0">
                <a:solidFill>
                  <a:srgbClr val="5F6368"/>
                </a:solidFill>
                <a:latin typeface="Consolas"/>
              </a:rPr>
              <a:t>ana@empresa.com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823960" y="2587752"/>
            <a:ext cx="274320" cy="201168"/>
          </a:xfrm>
          <a:prstGeom prst="downArrow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0" y="2816352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81635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Security Filter</a:t>
            </a:r>
          </a:p>
          <a:p>
            <a:pPr algn="ctr"/>
            <a:r>
              <a:rPr sz="950" b="0">
                <a:solidFill>
                  <a:srgbClr val="B7BBC2"/>
                </a:solidFill>
                <a:latin typeface="Consolas"/>
              </a:rPr>
              <a:t>roda no servidor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23960" y="3621024"/>
            <a:ext cx="274320" cy="201168"/>
          </a:xfrm>
          <a:prstGeom prst="downArrow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75120" y="3849624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9FA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849624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0B6E2D"/>
                </a:solidFill>
                <a:latin typeface="Calibri"/>
              </a:rPr>
              <a:t>Só as linhas dela</a:t>
            </a:r>
          </a:p>
          <a:p>
            <a:pPr algn="ctr"/>
            <a:r>
              <a:rPr sz="950" b="0">
                <a:solidFill>
                  <a:srgbClr val="5F6368"/>
                </a:solidFill>
                <a:latin typeface="Consolas"/>
              </a:rPr>
              <a:t>dados filtrados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834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368"/>
                </a:solidFill>
                <a:latin typeface="Calibri"/>
              </a:rPr>
              <a:t>Autenticação (login) + Autorização (papel) + Governança (política)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75-79   |   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75-79   |   42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A gestão de usuários define permissões de acesso e garante integridade e privacidade dos dados.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Autenticação | Autorização | Governança.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FÓRMULA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[Email_Responsavel] = USEREMAIL() — o usuário logado só vê registros com seu e-mail.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USEREMAIL(): identifica quem está logado. Security Filter: filtro executado no servidor.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Filtros de segurança ausentes: dados de toda a empresa expostos a qualquer usuário.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A8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Como funciona a função USEREMAIL()? Onde se configuram permissões de adicionar/deletar dados?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BD6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554480" cy="1554480"/>
          </a:xfrm>
          <a:prstGeom prst="ellipse">
            <a:avLst/>
          </a:prstGeom>
          <a:solidFill>
            <a:srgbClr val="BA6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1097280"/>
            <a:ext cx="2377440" cy="2377440"/>
          </a:xfrm>
          <a:prstGeom prst="ellipse">
            <a:avLst/>
          </a:prstGeom>
          <a:solidFill>
            <a:srgbClr val="BA6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822960"/>
            <a:ext cx="3840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0" b="1">
                <a:solidFill>
                  <a:srgbClr val="CA8753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960120" cy="960120"/>
          </a:xfrm>
          <a:prstGeom prst="roundRect">
            <a:avLst>
              <a:gd name="adj" fmla="val 25000"/>
            </a:avLst>
          </a:prstGeom>
          <a:solidFill>
            <a:srgbClr val="C06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CD4C2"/>
                </a:solidFill>
                <a:latin typeface="Calibri"/>
              </a:rPr>
              <a:t>CAPÍTULO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Otimização e Recursos Avançados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6052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6EAE1"/>
                </a:solidFill>
                <a:latin typeface="Calibri"/>
              </a:rPr>
              <a:t>Apps lentos são abandonados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80060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09159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6EAE1"/>
                </a:solidFill>
                <a:latin typeface="Calibri"/>
              </a:rPr>
              <a:t>O custo das colunas virtuais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14807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56631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6EAE1"/>
                </a:solidFill>
                <a:latin typeface="Calibri"/>
              </a:rPr>
              <a:t>Publicação profissional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visão geral do capítulo   |   43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Performance: o impacto das colunas virtuais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Otimizar é equilibrar visuais e volume de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81-83   |   44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1129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9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511296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37944"/>
            <a:ext cx="3328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93025"/>
                </a:solidFill>
                <a:latin typeface="Calibri"/>
              </a:rPr>
              <a:t>200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3328415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B2740"/>
                </a:solidFill>
                <a:latin typeface="Calibri"/>
              </a:rPr>
              <a:t>linhas por tabela: limite prático</a:t>
            </a:r>
          </a:p>
          <a:p>
            <a:pPr algn="ctr"/>
            <a:r>
              <a:rPr sz="850" b="0">
                <a:solidFill>
                  <a:srgbClr val="9AA0A6"/>
                </a:solidFill>
                <a:latin typeface="Calibri"/>
              </a:rPr>
              <a:t>acima disso, migrar para SQL (p. 07)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691640"/>
            <a:ext cx="351129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AA9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4256" y="1691640"/>
            <a:ext cx="3511296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6" y="1837944"/>
            <a:ext cx="3328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B45309"/>
                </a:solidFill>
                <a:latin typeface="Calibri"/>
              </a:rPr>
              <a:t>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350008"/>
            <a:ext cx="3328415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B2740"/>
                </a:solidFill>
                <a:latin typeface="Calibri"/>
              </a:rPr>
              <a:t>tempo de sincronização é o gargalo</a:t>
            </a:r>
          </a:p>
          <a:p>
            <a:pPr algn="ctr"/>
            <a:r>
              <a:rPr sz="850" b="0">
                <a:solidFill>
                  <a:srgbClr val="9AA0A6"/>
                </a:solidFill>
                <a:latin typeface="Calibri"/>
              </a:rPr>
              <a:t>cada app aberto recalcula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66751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3456432"/>
            <a:ext cx="6382512" cy="1682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A6D00"/>
                </a:solidFill>
                <a:latin typeface="Calibri"/>
              </a:rPr>
              <a:t>Por que a coluna virtual pesa?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40"/>
                </a:solidFill>
                <a:latin typeface="Calibri"/>
              </a:rPr>
              <a:t>Colunas virtuais são processadas TODA VEZ que o app abre. Muitos cálculos complexos com datasets grandes (perto de 200 mil linhas) causam lentidão extrema no Sync Time. Procedimento: reduza o número de colunas virtuais sempre que possível.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383280"/>
            <a:ext cx="4297680" cy="1828800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 w="12700">
            <a:solidFill>
              <a:srgbClr val="BD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52944" y="3456432"/>
            <a:ext cx="4005072" cy="1682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695C"/>
                </a:solidFill>
                <a:latin typeface="Calibri"/>
              </a:rPr>
              <a:t>Fuga de escala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Tabelas com mais de 200.000 linhas devem ser migradas para SQL (p. 07). Sheets → SQL.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81-83   |   44 / 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Publicação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Do link interno às lojas de aplicativos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85-86   |   45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EC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12344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Google Play / App Store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Converta o app em pacote nativo para upload nas lojas.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9164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CB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147" y="1691640"/>
            <a:ext cx="64008" cy="1234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4739" y="178308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Domínio customizado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Use a sua própria marca de domínio (recurso Premium).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9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843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White-label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Remova a marca AppSheet do aplicativo publicado.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3154680"/>
            <a:ext cx="55243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C9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147" y="3154680"/>
            <a:ext cx="64008" cy="1234440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4739" y="3246120"/>
            <a:ext cx="5231739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2740"/>
                </a:solidFill>
                <a:latin typeface="Calibri"/>
              </a:rPr>
              <a:t>Deployment oficial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Calibri"/>
              </a:rPr>
              <a:t>A publicação oficial integra gestão de acesso e atualizações.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26280"/>
            <a:ext cx="11277295" cy="7315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C3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74EA6"/>
                </a:solidFill>
                <a:latin typeface="Calibri"/>
              </a:rPr>
              <a:t>Publicar na loja é um caminho: o pacote nativo é gerado a partir do app AppSheet.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85-86   |   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Resumo do Capítulo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Fixe os pontos-chave antes de avançar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81-86   |   46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Otimizar é equilibrar recursos visuais e volume de dados para manter a velocidade de resposta.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691640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91640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5303" y="1732788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CONCEITOS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2075688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Sync Time | Cache local | Colunas virtuais.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White-label: remover a marca AppSheet do app. Sync: sincronização entre dispositivo e nuvem.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191256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7287" y="3191256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5303" y="3232404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PROCEDIMENTO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3575304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Reduzir o número de colunas virtuais sempre que possível.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90872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ERRO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Tabelas acima de 200.000 linhas: migrar para SQL (p. 07).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690872"/>
            <a:ext cx="5547207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A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7287" y="4690872"/>
            <a:ext cx="554720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5303" y="4732020"/>
            <a:ext cx="52911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5074920"/>
            <a:ext cx="529117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740"/>
                </a:solidFill>
                <a:latin typeface="Calibri"/>
              </a:rPr>
              <a:t>O que torna um app lento? Como publicar na Play Store?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Mapa geral de aprendizado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O fluxo de sucesso, do processo ao app seguro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87-96   |   50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9482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A8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948220" cy="5486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956816"/>
            <a:ext cx="18384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Calibri"/>
              </a:rPr>
              <a:t>1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Workflow estruturado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69428" y="2272284"/>
            <a:ext cx="256032" cy="164592"/>
          </a:xfrm>
          <a:prstGeom prst="rightArrow">
            <a:avLst/>
          </a:prstGeom>
          <a:solidFill>
            <a:srgbClr val="4A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9468" y="1828800"/>
            <a:ext cx="19482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A8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9468" y="1828800"/>
            <a:ext cx="1948220" cy="5486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4332" y="1956816"/>
            <a:ext cx="18384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Calibri"/>
              </a:rPr>
              <a:t>2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Dados normalizados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1697" y="2272284"/>
            <a:ext cx="256032" cy="164592"/>
          </a:xfrm>
          <a:prstGeom prst="rightArrow">
            <a:avLst/>
          </a:prstGeom>
          <a:solidFill>
            <a:srgbClr val="4A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1737" y="1828800"/>
            <a:ext cx="19482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A8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1737" y="1828800"/>
            <a:ext cx="1948220" cy="5486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6601" y="1956816"/>
            <a:ext cx="18384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Calibri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Interface UX limpa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3965" y="2272284"/>
            <a:ext cx="256032" cy="164592"/>
          </a:xfrm>
          <a:prstGeom prst="rightArrow">
            <a:avLst/>
          </a:prstGeom>
          <a:solidFill>
            <a:srgbClr val="4A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54005" y="1828800"/>
            <a:ext cx="19482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A8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4005" y="1828800"/>
            <a:ext cx="1948220" cy="5486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8869" y="1956816"/>
            <a:ext cx="18384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Calibri"/>
              </a:rPr>
              <a:t>4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Automações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66234" y="2272284"/>
            <a:ext cx="256032" cy="164592"/>
          </a:xfrm>
          <a:prstGeom prst="rightArrow">
            <a:avLst/>
          </a:prstGeom>
          <a:solidFill>
            <a:srgbClr val="4A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86274" y="1828800"/>
            <a:ext cx="19482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A8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86274" y="1828800"/>
            <a:ext cx="1948220" cy="5486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1138" y="1956816"/>
            <a:ext cx="18384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Calibri"/>
              </a:rPr>
              <a:t>5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B2740"/>
                </a:solidFill>
                <a:latin typeface="Calibri"/>
              </a:rPr>
              <a:t>Segurança de dados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83280"/>
            <a:ext cx="11277295" cy="123444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 w="12700">
            <a:solidFill>
              <a:srgbClr val="101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" y="3456432"/>
            <a:ext cx="10984687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F0FE"/>
                </a:solidFill>
                <a:latin typeface="Calibri"/>
              </a:rPr>
              <a:t>Para o sucesso, siga sempre esse fluxo. Cada etapa se apoia na anterior: automação sobre dados ruins automatiza o caos; interface bonita sobre workflow confuso confunde o usuário.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87-96   |   50 / 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Checklist de desenvolvimento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Antes de entregar, confira item por 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glossário e checklist final   |   51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85216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83C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" y="1965960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4767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Workflow desenhado no Draw.io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04872"/>
            <a:ext cx="5449824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368" y="2551176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532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Planilha com IDs únicos e sem células mescladas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90088"/>
            <a:ext cx="5449824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" y="3136391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118103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Colunas tipadas corretamente no editor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75303"/>
            <a:ext cx="5449824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8" y="3721608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703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Filtros de segurança USEREMAIL() aplicados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5449824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368" y="4306824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288536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Automações testadas e funcionando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45736"/>
            <a:ext cx="5449824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8368" y="4892040"/>
            <a:ext cx="292608" cy="29260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87375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B2740"/>
                </a:solidFill>
                <a:latin typeface="Calibri"/>
              </a:rPr>
              <a:t>Ícones e nomes de visualização traduzidos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691640"/>
            <a:ext cx="4846320" cy="434340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183794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AB00"/>
                </a:solidFill>
                <a:latin typeface="Calibri"/>
              </a:rPr>
              <a:t>Glossário geral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258568"/>
            <a:ext cx="210312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No-code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Key ID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Slices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Bot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Initial Value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USEREMAIL()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Enum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258568"/>
            <a:ext cx="210312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Deployment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White-label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Virtual Column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PII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Dashboard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Deep Link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CEDEF"/>
                </a:solidFill>
                <a:latin typeface="Calibri"/>
              </a:rPr>
              <a:t>·  Webhook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p. 87-96   |   51 / 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B2740"/>
                </a:solidFill>
                <a:latin typeface="Calibri"/>
              </a:rPr>
              <a:t>Quiz de certificação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868680" cy="41148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Dez perguntas rápidas para validar o domínio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perguntas finais da apostila   |   52 / 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6" y="1938528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64792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Usuários do plano gratuito?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Criador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575" y="1691640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33591" y="1938528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503" y="1764792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Onde ficam as imagens por padrão?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Subpasta na pasta de dados do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15184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" y="2862072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88336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Por que evitar muitas colunas virtuais?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Aumentam o tempo de sincronização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2615184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33591" y="2862072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503" y="2688336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O que é um Key ID?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Valor único que identifica cada linha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38728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5216" y="3785616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611880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Células mescladas?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Proibidas — geram erro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5575" y="3538728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33591" y="3785616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503" y="3611880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Função do botão Scan?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Abrir a câmera p/ QR Code / Barcode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62272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5216" y="4709160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535424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Cobrança no plano Core?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Integrada no valor do e-mail Workspace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5575" y="4462272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33591" y="4709160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2503" y="4535424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O que é um Slice?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Subconjunto filtrado de uma tabela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85816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85216" y="5632704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458968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Action vs Bot?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Action é manual; Bot é automático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5575" y="5385816"/>
            <a:ext cx="552891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33591" y="5632704"/>
            <a:ext cx="310896" cy="310896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2503" y="5458968"/>
            <a:ext cx="4815687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B2740"/>
                </a:solidFill>
                <a:latin typeface="Calibri"/>
              </a:rPr>
              <a:t>Usuário só vê seus dados?</a:t>
            </a:r>
          </a:p>
          <a:p>
            <a:pPr algn="l"/>
            <a:r>
              <a:rPr sz="1000" b="0">
                <a:solidFill>
                  <a:srgbClr val="0B6E2D"/>
                </a:solidFill>
                <a:latin typeface="Calibri"/>
              </a:rPr>
              <a:t>USEREMAIL() no Security Filter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A0A6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AA0A6"/>
                </a:solidFill>
                <a:latin typeface="Calibri"/>
              </a:rPr>
              <a:t>Ref. Apostila AppSheet: perguntas finais da apostila   |   52 / 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297680"/>
            <a:ext cx="2377440" cy="2377440"/>
          </a:xfrm>
          <a:prstGeom prst="ellipse">
            <a:avLst/>
          </a:prstGeom>
          <a:solidFill>
            <a:srgbClr val="1C2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1645920" cy="1645920"/>
          </a:xfrm>
          <a:prstGeom prst="ellipse">
            <a:avLst/>
          </a:prstGeom>
          <a:solidFill>
            <a:srgbClr val="1A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5760" y="5029200"/>
            <a:ext cx="1554480" cy="1554480"/>
          </a:xfrm>
          <a:prstGeom prst="ellipse">
            <a:avLst/>
          </a:prstGeom>
          <a:solidFill>
            <a:srgbClr val="1A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353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REVISÃO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 dado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9AB00"/>
                </a:solidFill>
                <a:latin typeface="Calibri"/>
              </a:rPr>
              <a:t>sendo o alicerce.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3035808"/>
            <a:ext cx="1371600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7E8EB"/>
                </a:solidFill>
                <a:latin typeface="Calibri"/>
              </a:rPr>
              <a:t>Workflow estruturado, dados normalizados, UX limpa,</a:t>
            </a:r>
          </a:p>
          <a:p>
            <a:pPr algn="l"/>
            <a:r>
              <a:rPr sz="1500" b="0">
                <a:solidFill>
                  <a:srgbClr val="E7E8EB"/>
                </a:solidFill>
                <a:latin typeface="Calibri"/>
              </a:rPr>
              <a:t>automação produtiva e segurança: esse é o caminho.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916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3A8B1"/>
                </a:solidFill>
                <a:latin typeface="Calibri"/>
              </a:rPr>
              <a:t>AppSheet — Apresentação Resumo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391656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A3A8B1"/>
                </a:solidFill>
                <a:latin typeface="Calibri"/>
              </a:rPr>
              <a:t>Ref. Apostila AppSheet: fim   |   53 /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5635</Words>
  <Application>Microsoft Office PowerPoint</Application>
  <PresentationFormat>Widescreen</PresentationFormat>
  <Paragraphs>885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 Resumo - Google AppSheet (editavel)</dc:title>
  <dc:subject/>
  <dc:creator>Estudo AppSheet</dc:creator>
  <cp:keywords/>
  <dc:description>generated using python-pptx</dc:description>
  <cp:lastModifiedBy>Ivan Lucas</cp:lastModifiedBy>
  <cp:revision>3</cp:revision>
  <dcterms:created xsi:type="dcterms:W3CDTF">2013-01-27T09:14:16Z</dcterms:created>
  <dcterms:modified xsi:type="dcterms:W3CDTF">2026-09-24T12:26:03Z</dcterms:modified>
  <cp:category/>
</cp:coreProperties>
</file>