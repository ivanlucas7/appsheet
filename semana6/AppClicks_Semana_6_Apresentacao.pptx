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6" r:id="rId69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17" r:id="rId70"/>
    <p:sldId id="274" r:id="rId20"/>
    <p:sldId id="318" r:id="rId71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19" r:id="rId72"/>
    <p:sldId id="298" r:id="rId44"/>
    <p:sldId id="299" r:id="rId45"/>
    <p:sldId id="300" r:id="rId46"/>
    <p:sldId id="301" r:id="rId47"/>
    <p:sldId id="302" r:id="rId48"/>
    <p:sldId id="303" r:id="rId49"/>
    <p:sldId id="320" r:id="rId73"/>
    <p:sldId id="304" r:id="rId50"/>
    <p:sldId id="321" r:id="rId74"/>
    <p:sldId id="305" r:id="rId51"/>
    <p:sldId id="306" r:id="rId52"/>
    <p:sldId id="307" r:id="rId53"/>
    <p:sldId id="308" r:id="rId54"/>
    <p:sldId id="322" r:id="rId75"/>
    <p:sldId id="309" r:id="rId55"/>
    <p:sldId id="323" r:id="rId76"/>
    <p:sldId id="310" r:id="rId56"/>
    <p:sldId id="311" r:id="rId57"/>
    <p:sldId id="324" r:id="rId77"/>
    <p:sldId id="312" r:id="rId58"/>
    <p:sldId id="313" r:id="rId59"/>
    <p:sldId id="314" r:id="rId60"/>
    <p:sldId id="315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448ED-4A66-4A03-B9E2-E13B431B168F}" v="1" dt="2026-08-16T16:38:40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958" autoAdjust="0"/>
  </p:normalViewPr>
  <p:slideViewPr>
    <p:cSldViewPr snapToGrid="0" snapToObjects="1">
      <p:cViewPr varScale="1">
        <p:scale>
          <a:sx n="46" d="100"/>
          <a:sy n="46" d="100"/>
        </p:scale>
        <p:origin x="8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1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slide" Target="slides/slide41.xml"/><Relationship Id="rId40" Type="http://schemas.openxmlformats.org/officeDocument/2006/relationships/slide" Target="slides/slide42.xml"/><Relationship Id="rId41" Type="http://schemas.openxmlformats.org/officeDocument/2006/relationships/slide" Target="slides/slide43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7.xml"/><Relationship Id="rId45" Type="http://schemas.openxmlformats.org/officeDocument/2006/relationships/slide" Target="slides/slide48.xml"/><Relationship Id="rId46" Type="http://schemas.openxmlformats.org/officeDocument/2006/relationships/slide" Target="slides/slide49.xml"/><Relationship Id="rId47" Type="http://schemas.openxmlformats.org/officeDocument/2006/relationships/slide" Target="slides/slide50.xml"/><Relationship Id="rId48" Type="http://schemas.openxmlformats.org/officeDocument/2006/relationships/slide" Target="slides/slide51.xml"/><Relationship Id="rId49" Type="http://schemas.openxmlformats.org/officeDocument/2006/relationships/slide" Target="slides/slide52.xml"/><Relationship Id="rId50" Type="http://schemas.openxmlformats.org/officeDocument/2006/relationships/slide" Target="slides/slide54.xml"/><Relationship Id="rId51" Type="http://schemas.openxmlformats.org/officeDocument/2006/relationships/slide" Target="slides/slide56.xml"/><Relationship Id="rId52" Type="http://schemas.openxmlformats.org/officeDocument/2006/relationships/slide" Target="slides/slide57.xml"/><Relationship Id="rId53" Type="http://schemas.openxmlformats.org/officeDocument/2006/relationships/slide" Target="slides/slide58.xml"/><Relationship Id="rId54" Type="http://schemas.openxmlformats.org/officeDocument/2006/relationships/slide" Target="slides/slide59.xml"/><Relationship Id="rId55" Type="http://schemas.openxmlformats.org/officeDocument/2006/relationships/slide" Target="slides/slide61.xml"/><Relationship Id="rId56" Type="http://schemas.openxmlformats.org/officeDocument/2006/relationships/slide" Target="slides/slide63.xml"/><Relationship Id="rId57" Type="http://schemas.openxmlformats.org/officeDocument/2006/relationships/slide" Target="slides/slide64.xml"/><Relationship Id="rId58" Type="http://schemas.openxmlformats.org/officeDocument/2006/relationships/slide" Target="slides/slide66.xml"/><Relationship Id="rId59" Type="http://schemas.openxmlformats.org/officeDocument/2006/relationships/slide" Target="slides/slide67.xml"/><Relationship Id="rId60" Type="http://schemas.openxmlformats.org/officeDocument/2006/relationships/slide" Target="slides/slide68.xml"/><Relationship Id="rId61" Type="http://schemas.openxmlformats.org/officeDocument/2006/relationships/slide" Target="slides/slide69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Relationship Id="rId69" Type="http://schemas.openxmlformats.org/officeDocument/2006/relationships/slide" Target="slides/slide10.xml"/><Relationship Id="rId70" Type="http://schemas.openxmlformats.org/officeDocument/2006/relationships/slide" Target="slides/slide20.xml"/><Relationship Id="rId71" Type="http://schemas.openxmlformats.org/officeDocument/2006/relationships/slide" Target="slides/slide22.xml"/><Relationship Id="rId72" Type="http://schemas.openxmlformats.org/officeDocument/2006/relationships/slide" Target="slides/slide46.xml"/><Relationship Id="rId73" Type="http://schemas.openxmlformats.org/officeDocument/2006/relationships/slide" Target="slides/slide53.xml"/><Relationship Id="rId74" Type="http://schemas.openxmlformats.org/officeDocument/2006/relationships/slide" Target="slides/slide55.xml"/><Relationship Id="rId75" Type="http://schemas.openxmlformats.org/officeDocument/2006/relationships/slide" Target="slides/slide60.xml"/><Relationship Id="rId76" Type="http://schemas.openxmlformats.org/officeDocument/2006/relationships/slide" Target="slides/slide62.xml"/><Relationship Id="rId77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Lucas" userId="f488f667df7b9828" providerId="LiveId" clId="{7341C001-F0AF-4418-95D9-934B15DF2660}"/>
    <pc:docChg chg="undo custSel addSld delSld modSld">
      <pc:chgData name="Ivan Lucas" userId="f488f667df7b9828" providerId="LiveId" clId="{7341C001-F0AF-4418-95D9-934B15DF2660}" dt="2026-08-16T17:09:32.989" v="657" actId="478"/>
      <pc:docMkLst>
        <pc:docMk/>
      </pc:docMkLst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56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16T17:02:05.117" v="641" actId="122"/>
        <pc:sldMkLst>
          <pc:docMk/>
          <pc:sldMk cId="0" sldId="257"/>
        </pc:sldMkLst>
        <pc:spChg chg="mod">
          <ac:chgData name="Ivan Lucas" userId="f488f667df7b9828" providerId="LiveId" clId="{7341C001-F0AF-4418-95D9-934B15DF2660}" dt="2026-08-16T17:02:05.117" v="641" actId="122"/>
          <ac:spMkLst>
            <pc:docMk/>
            <pc:sldMk cId="0" sldId="257"/>
            <ac:spMk id="25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16T16:54:05.397" v="639" actId="478"/>
        <pc:sldMkLst>
          <pc:docMk/>
          <pc:sldMk cId="0" sldId="258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8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16T16:54:01.695" v="638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Ivan Lucas" userId="f488f667df7b9828" providerId="LiveId" clId="{7341C001-F0AF-4418-95D9-934B15DF2660}" dt="2026-08-16T16:54:05.397" v="639" actId="478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59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1"/>
        </pc:sldMkLst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2"/>
        </pc:sldMkLst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4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5"/>
        </pc:sldMkLst>
      </pc:sldChg>
      <pc:sldChg chg="addSp 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66"/>
        </pc:sldMkLst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13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67"/>
        </pc:sldMkLst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7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67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7"/>
            <ac:spMk id="12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68"/>
        </pc:sldMkLst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8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68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8"/>
            <ac:spMk id="12" creationId="{00000000-0000-0000-0000-000000000000}"/>
          </ac:spMkLst>
        </pc:spChg>
      </pc:sldChg>
      <pc:sldChg chg="modSp del mod">
        <pc:chgData name="Ivan Lucas" userId="f488f667df7b9828" providerId="LiveId" clId="{7341C001-F0AF-4418-95D9-934B15DF2660}" dt="2026-08-08T20:48:38.273" v="29" actId="26606"/>
        <pc:sldMkLst>
          <pc:docMk/>
          <pc:sldMk cId="0" sldId="269"/>
        </pc:sldMkLst>
        <pc:spChg chg="mod">
          <ac:chgData name="Ivan Lucas" userId="f488f667df7b9828" providerId="LiveId" clId="{7341C001-F0AF-4418-95D9-934B15DF2660}" dt="2026-08-08T19:25:17.112" v="0" actId="26606"/>
          <ac:spMkLst>
            <pc:docMk/>
            <pc:sldMk cId="0" sldId="269"/>
            <ac:spMk id="11" creationId="{00000000-0000-0000-0000-000000000000}"/>
          </ac:spMkLst>
        </pc:spChg>
      </pc:sldChg>
      <pc:sldChg chg="delSp modSp add del mod">
        <pc:chgData name="Ivan Lucas" userId="f488f667df7b9828" providerId="LiveId" clId="{7341C001-F0AF-4418-95D9-934B15DF2660}" dt="2026-08-16T15:51:06.357" v="486" actId="47"/>
        <pc:sldMkLst>
          <pc:docMk/>
          <pc:sldMk cId="0" sldId="270"/>
        </pc:sldMkLst>
      </pc:sldChg>
      <pc:sldChg chg="addSp delSp modSp mod">
        <pc:chgData name="Ivan Lucas" userId="f488f667df7b9828" providerId="LiveId" clId="{7341C001-F0AF-4418-95D9-934B15DF2660}" dt="2026-08-16T17:03:25.014" v="642" actId="478"/>
        <pc:sldMkLst>
          <pc:docMk/>
          <pc:sldMk cId="0" sldId="271"/>
        </pc:sldMkLst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1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12" creationId="{00000000-0000-0000-0000-000000000000}"/>
          </ac:spMkLst>
        </pc:spChg>
        <pc:spChg chg="del">
          <ac:chgData name="Ivan Lucas" userId="f488f667df7b9828" providerId="LiveId" clId="{7341C001-F0AF-4418-95D9-934B15DF2660}" dt="2026-08-16T17:03:25.014" v="642" actId="478"/>
          <ac:spMkLst>
            <pc:docMk/>
            <pc:sldMk cId="0" sldId="271"/>
            <ac:spMk id="15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72"/>
        </pc:sldMkLst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12" creationId="{00000000-0000-0000-0000-000000000000}"/>
          </ac:spMkLst>
        </pc:spChg>
      </pc:sldChg>
      <pc:sldChg chg="addSp delSp modSp mod">
        <pc:chgData name="Ivan Lucas" userId="f488f667df7b9828" providerId="LiveId" clId="{7341C001-F0AF-4418-95D9-934B15DF2660}" dt="2026-08-16T13:51:23.534" v="359" actId="14100"/>
        <pc:sldMkLst>
          <pc:docMk/>
          <pc:sldMk cId="0" sldId="273"/>
        </pc:sldMkLst>
        <pc:spChg chg="mod">
          <ac:chgData name="Ivan Lucas" userId="f488f667df7b9828" providerId="LiveId" clId="{7341C001-F0AF-4418-95D9-934B15DF2660}" dt="2026-08-08T21:44:23.636" v="56" actId="26606"/>
          <ac:spMkLst>
            <pc:docMk/>
            <pc:sldMk cId="0" sldId="273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16T13:50:57.401" v="353" actId="20577"/>
          <ac:spMkLst>
            <pc:docMk/>
            <pc:sldMk cId="0" sldId="273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3:51:00.054" v="354" actId="478"/>
          <ac:spMkLst>
            <pc:docMk/>
            <pc:sldMk cId="0" sldId="273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3"/>
            <ac:spMk id="11" creationId="{00000000-0000-0000-0000-000000000000}"/>
          </ac:spMkLst>
        </pc:spChg>
        <pc:picChg chg="add del mod">
          <ac:chgData name="Ivan Lucas" userId="f488f667df7b9828" providerId="LiveId" clId="{7341C001-F0AF-4418-95D9-934B15DF2660}" dt="2026-08-16T13:51:23.534" v="359" actId="14100"/>
          <ac:picMkLst>
            <pc:docMk/>
            <pc:sldMk cId="0" sldId="273"/>
            <ac:picMk id="9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74"/>
        </pc:sldMkLst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2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4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12" creationId="{00000000-0000-0000-0000-000000000000}"/>
          </ac:spMkLst>
        </pc:spChg>
      </pc:sldChg>
      <pc:sldChg chg="delSp modSp mod modNotes">
        <pc:chgData name="Ivan Lucas" userId="f488f667df7b9828" providerId="LiveId" clId="{7341C001-F0AF-4418-95D9-934B15DF2660}" dt="2026-08-09T04:26:10.233" v="321" actId="26606"/>
        <pc:sldMkLst>
          <pc:docMk/>
          <pc:sldMk cId="0" sldId="275"/>
        </pc:sldMkLst>
        <pc:spChg chg="del">
          <ac:chgData name="Ivan Lucas" userId="f488f667df7b9828" providerId="LiveId" clId="{7341C001-F0AF-4418-95D9-934B15DF2660}" dt="2026-08-08T21:47:20.855" v="59" actId="26606"/>
          <ac:spMkLst>
            <pc:docMk/>
            <pc:sldMk cId="0" sldId="275"/>
            <ac:spMk id="2" creationId="{00000000-0000-0000-0000-000000000000}"/>
          </ac:spMkLst>
        </pc:spChg>
        <pc:spChg chg="del">
          <ac:chgData name="Ivan Lucas" userId="f488f667df7b9828" providerId="LiveId" clId="{7341C001-F0AF-4418-95D9-934B15DF2660}" dt="2026-08-08T21:47:20.855" v="59" actId="26606"/>
          <ac:spMkLst>
            <pc:docMk/>
            <pc:sldMk cId="0" sldId="275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3:14:28.481" v="210" actId="20577"/>
          <ac:spMkLst>
            <pc:docMk/>
            <pc:sldMk cId="0" sldId="275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3" creationId="{00000000-0000-0000-0000-000000000000}"/>
          </ac:spMkLst>
        </pc:spChg>
      </pc:sldChg>
      <pc:sldChg chg="addSp delSp modSp mod">
        <pc:chgData name="Ivan Lucas" userId="f488f667df7b9828" providerId="LiveId" clId="{7341C001-F0AF-4418-95D9-934B15DF2660}" dt="2026-08-16T14:10:14.776" v="439" actId="14100"/>
        <pc:sldMkLst>
          <pc:docMk/>
          <pc:sldMk cId="0" sldId="276"/>
        </pc:sldMkLst>
        <pc:spChg chg="mod">
          <ac:chgData name="Ivan Lucas" userId="f488f667df7b9828" providerId="LiveId" clId="{7341C001-F0AF-4418-95D9-934B15DF2660}" dt="2026-08-09T02:25:10.646" v="153" actId="26606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4:10:14.776" v="439" actId="14100"/>
          <ac:spMkLst>
            <pc:docMk/>
            <pc:sldMk cId="0" sldId="276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3:51:32.927" v="360" actId="478"/>
          <ac:spMkLst>
            <pc:docMk/>
            <pc:sldMk cId="0" sldId="276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6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3:52:18.759" v="372" actId="14100"/>
          <ac:picMkLst>
            <pc:docMk/>
            <pc:sldMk cId="0" sldId="276"/>
            <ac:picMk id="9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77"/>
        </pc:sldMkLst>
        <pc:spChg chg="mod">
          <ac:chgData name="Ivan Lucas" userId="f488f667df7b9828" providerId="LiveId" clId="{7341C001-F0AF-4418-95D9-934B15DF2660}" dt="2026-08-09T02:14:36.192" v="120" actId="26606"/>
          <ac:spMkLst>
            <pc:docMk/>
            <pc:sldMk cId="0" sldId="277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0:59.842" v="115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1:01.793" v="116" actId="478"/>
          <ac:spMkLst>
            <pc:docMk/>
            <pc:sldMk cId="0" sldId="277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7"/>
            <ac:spMk id="11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1:05.726" v="117" actId="478"/>
          <ac:spMkLst>
            <pc:docMk/>
            <pc:sldMk cId="0" sldId="277"/>
            <ac:spMk id="12" creationId="{00000000-0000-0000-0000-000000000000}"/>
          </ac:spMkLst>
        </pc:spChg>
      </pc:sldChg>
      <pc:sldChg chg="addSp delSp modSp mod modNotes">
        <pc:chgData name="Ivan Lucas" userId="f488f667df7b9828" providerId="LiveId" clId="{7341C001-F0AF-4418-95D9-934B15DF2660}" dt="2026-08-16T14:10:09.656" v="438" actId="14100"/>
        <pc:sldMkLst>
          <pc:docMk/>
          <pc:sldMk cId="0" sldId="278"/>
        </pc:sldMkLst>
        <pc:spChg chg="mod">
          <ac:chgData name="Ivan Lucas" userId="f488f667df7b9828" providerId="LiveId" clId="{7341C001-F0AF-4418-95D9-934B15DF2660}" dt="2026-08-08T22:04:04.953" v="66" actId="26606"/>
          <ac:spMkLst>
            <pc:docMk/>
            <pc:sldMk cId="0" sldId="278"/>
            <ac:spMk id="2" creationId="{00000000-0000-0000-0000-000000000000}"/>
          </ac:spMkLst>
        </pc:spChg>
        <pc:spChg chg="mod">
          <ac:chgData name="Ivan Lucas" userId="f488f667df7b9828" providerId="LiveId" clId="{7341C001-F0AF-4418-95D9-934B15DF2660}" dt="2026-08-09T02:14:36.192" v="120" actId="26606"/>
          <ac:spMkLst>
            <pc:docMk/>
            <pc:sldMk cId="0" sldId="278"/>
            <ac:spMk id="3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4:10:09.656" v="438" actId="14100"/>
          <ac:spMkLst>
            <pc:docMk/>
            <pc:sldMk cId="0" sldId="278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3:52:31.152" v="373" actId="478"/>
          <ac:spMkLst>
            <pc:docMk/>
            <pc:sldMk cId="0" sldId="278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8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3:53:07.911" v="381" actId="1076"/>
          <ac:picMkLst>
            <pc:docMk/>
            <pc:sldMk cId="0" sldId="278"/>
            <ac:picMk id="9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79"/>
        </pc:sldMkLst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3" creationId="{00000000-0000-0000-0000-000000000000}"/>
          </ac:spMkLst>
        </pc:spChg>
      </pc:sldChg>
      <pc:sldChg chg="addSp delSp modSp mod">
        <pc:chgData name="Ivan Lucas" userId="f488f667df7b9828" providerId="LiveId" clId="{7341C001-F0AF-4418-95D9-934B15DF2660}" dt="2026-08-16T14:10:02.992" v="437" actId="14100"/>
        <pc:sldMkLst>
          <pc:docMk/>
          <pc:sldMk cId="0" sldId="280"/>
        </pc:sldMkLst>
        <pc:spChg chg="mod">
          <ac:chgData name="Ivan Lucas" userId="f488f667df7b9828" providerId="LiveId" clId="{7341C001-F0AF-4418-95D9-934B15DF2660}" dt="2026-08-09T02:28:39.081" v="163" actId="26606"/>
          <ac:spMkLst>
            <pc:docMk/>
            <pc:sldMk cId="0" sldId="280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16T14:10:02.992" v="437" actId="14100"/>
          <ac:spMkLst>
            <pc:docMk/>
            <pc:sldMk cId="0" sldId="280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6:12.243" v="382" actId="478"/>
          <ac:spMkLst>
            <pc:docMk/>
            <pc:sldMk cId="0" sldId="280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0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6:38.775" v="390" actId="14100"/>
          <ac:picMkLst>
            <pc:docMk/>
            <pc:sldMk cId="0" sldId="280"/>
            <ac:picMk id="12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16T14:09:58.723" v="436" actId="14100"/>
        <pc:sldMkLst>
          <pc:docMk/>
          <pc:sldMk cId="0" sldId="281"/>
        </pc:sldMkLst>
        <pc:spChg chg="mod">
          <ac:chgData name="Ivan Lucas" userId="f488f667df7b9828" providerId="LiveId" clId="{7341C001-F0AF-4418-95D9-934B15DF2660}" dt="2026-08-09T02:25:10.646" v="153" actId="26606"/>
          <ac:spMkLst>
            <pc:docMk/>
            <pc:sldMk cId="0" sldId="281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16T14:09:58.723" v="436" actId="14100"/>
          <ac:spMkLst>
            <pc:docMk/>
            <pc:sldMk cId="0" sldId="281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6:52.745" v="391" actId="478"/>
          <ac:spMkLst>
            <pc:docMk/>
            <pc:sldMk cId="0" sldId="281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1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7:10.029" v="405" actId="1076"/>
          <ac:picMkLst>
            <pc:docMk/>
            <pc:sldMk cId="0" sldId="281"/>
            <ac:picMk id="12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09T04:26:10.233" v="321" actId="26606"/>
        <pc:sldMkLst>
          <pc:docMk/>
          <pc:sldMk cId="0" sldId="282"/>
        </pc:sldMkLst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8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2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2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83"/>
        </pc:sldMkLst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83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12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4"/>
        </pc:sldMkLst>
        <pc:spChg chg="mod">
          <ac:chgData name="Ivan Lucas" userId="f488f667df7b9828" providerId="LiveId" clId="{7341C001-F0AF-4418-95D9-934B15DF2660}" dt="2026-08-09T03:13:01.311" v="199" actId="20577"/>
          <ac:spMkLst>
            <pc:docMk/>
            <pc:sldMk cId="0" sldId="284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2.721" v="201" actId="478"/>
          <ac:spMkLst>
            <pc:docMk/>
            <pc:sldMk cId="0" sldId="284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4.699" v="202" actId="478"/>
          <ac:spMkLst>
            <pc:docMk/>
            <pc:sldMk cId="0" sldId="284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4"/>
            <ac:spMk id="11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6.511" v="203" actId="478"/>
          <ac:spMkLst>
            <pc:docMk/>
            <pc:sldMk cId="0" sldId="284"/>
            <ac:spMk id="12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5"/>
        </pc:sldMkLst>
        <pc:spChg chg="mod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4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5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6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5"/>
            <ac:spMk id="12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6"/>
        </pc:sldMkLst>
        <pc:spChg chg="mod">
          <ac:chgData name="Ivan Lucas" userId="f488f667df7b9828" providerId="LiveId" clId="{7341C001-F0AF-4418-95D9-934B15DF2660}" dt="2026-08-09T03:24:55.948" v="215" actId="26606"/>
          <ac:spMkLst>
            <pc:docMk/>
            <pc:sldMk cId="0" sldId="286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3:29.067" v="213" actId="478"/>
          <ac:spMkLst>
            <pc:docMk/>
            <pc:sldMk cId="0" sldId="286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3:32.972" v="214" actId="478"/>
          <ac:spMkLst>
            <pc:docMk/>
            <pc:sldMk cId="0" sldId="28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6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3:25:13.375" v="216" actId="478"/>
          <ac:spMkLst>
            <pc:docMk/>
            <pc:sldMk cId="0" sldId="286"/>
            <ac:spMk id="12" creationId="{00000000-0000-0000-0000-000000000000}"/>
          </ac:spMkLst>
        </pc:spChg>
      </pc:sldChg>
      <pc:sldChg chg="delSp modSp del mod">
        <pc:chgData name="Ivan Lucas" userId="f488f667df7b9828" providerId="LiveId" clId="{7341C001-F0AF-4418-95D9-934B15DF2660}" dt="2026-08-16T14:28:40.231" v="473" actId="47"/>
        <pc:sldMkLst>
          <pc:docMk/>
          <pc:sldMk cId="0" sldId="287"/>
        </pc:sldMkLst>
      </pc:sldChg>
      <pc:sldChg chg="addSp delSp modSp del mod">
        <pc:chgData name="Ivan Lucas" userId="f488f667df7b9828" providerId="LiveId" clId="{7341C001-F0AF-4418-95D9-934B15DF2660}" dt="2026-08-16T17:07:30.803" v="653" actId="20577"/>
        <pc:sldMkLst>
          <pc:docMk/>
          <pc:sldMk cId="0" sldId="288"/>
        </pc:sldMkLst>
        <pc:spChg chg="mod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3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7:06:36.169" v="646" actId="1076"/>
          <ac:spMkLst>
            <pc:docMk/>
            <pc:sldMk cId="0" sldId="288"/>
            <ac:spMk id="5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0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4" creationId="{00000000-0000-0000-0000-000000000000}"/>
          </ac:spMkLst>
        </pc:spChg>
        <pc:spChg chg="add del">
          <ac:chgData name="Ivan Lucas" userId="f488f667df7b9828" providerId="LiveId" clId="{7341C001-F0AF-4418-95D9-934B15DF2660}" dt="2026-08-16T17:07:02.285" v="649" actId="478"/>
          <ac:spMkLst>
            <pc:docMk/>
            <pc:sldMk cId="0" sldId="288"/>
            <ac:spMk id="16" creationId="{83477590-6680-F4D6-B2AD-E65485ECA553}"/>
          </ac:spMkLst>
        </pc:spChg>
        <pc:spChg chg="add del">
          <ac:chgData name="Ivan Lucas" userId="f488f667df7b9828" providerId="LiveId" clId="{7341C001-F0AF-4418-95D9-934B15DF2660}" dt="2026-08-16T17:07:00.301" v="648" actId="478"/>
          <ac:spMkLst>
            <pc:docMk/>
            <pc:sldMk cId="0" sldId="288"/>
            <ac:spMk id="18" creationId="{A1E402C1-42EC-8E4D-027F-C2B34E97CC70}"/>
          </ac:spMkLst>
        </pc:spChg>
        <pc:spChg chg="add">
          <ac:chgData name="Ivan Lucas" userId="f488f667df7b9828" providerId="LiveId" clId="{7341C001-F0AF-4418-95D9-934B15DF2660}" dt="2026-08-16T17:07:25.116" v="650" actId="22"/>
          <ac:spMkLst>
            <pc:docMk/>
            <pc:sldMk cId="0" sldId="288"/>
            <ac:spMk id="20" creationId="{8B85AA72-A4EB-FD6A-A9F6-318D4553BB4C}"/>
          </ac:spMkLst>
        </pc:spChg>
        <pc:spChg chg="add mod">
          <ac:chgData name="Ivan Lucas" userId="f488f667df7b9828" providerId="LiveId" clId="{7341C001-F0AF-4418-95D9-934B15DF2660}" dt="2026-08-16T17:07:30.803" v="653" actId="20577"/>
          <ac:spMkLst>
            <pc:docMk/>
            <pc:sldMk cId="0" sldId="288"/>
            <ac:spMk id="22" creationId="{5A781059-1FC1-D99C-DA8E-89170B9999C4}"/>
          </ac:spMkLst>
        </pc:spChg>
      </pc:sldChg>
      <pc:sldChg chg="delSp modSp mod">
        <pc:chgData name="Ivan Lucas" userId="f488f667df7b9828" providerId="LiveId" clId="{7341C001-F0AF-4418-95D9-934B15DF2660}" dt="2026-08-16T17:06:30.532" v="644" actId="21"/>
        <pc:sldMkLst>
          <pc:docMk/>
          <pc:sldMk cId="0" sldId="289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39:33.885" v="288" actId="478"/>
          <ac:spMkLst>
            <pc:docMk/>
            <pc:sldMk cId="0" sldId="289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39:37.351" v="289" actId="478"/>
          <ac:spMkLst>
            <pc:docMk/>
            <pc:sldMk cId="0" sldId="289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4:04:05.438" v="307" actId="478"/>
          <ac:spMkLst>
            <pc:docMk/>
            <pc:sldMk cId="0" sldId="289"/>
            <ac:spMk id="12" creationId="{00000000-0000-0000-0000-000000000000}"/>
          </ac:spMkLst>
        </pc:spChg>
        <pc:spChg chg="del">
          <ac:chgData name="Ivan Lucas" userId="f488f667df7b9828" providerId="LiveId" clId="{7341C001-F0AF-4418-95D9-934B15DF2660}" dt="2026-08-16T17:06:30.532" v="644" actId="21"/>
          <ac:spMkLst>
            <pc:docMk/>
            <pc:sldMk cId="0" sldId="289"/>
            <ac:spMk id="24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7:06:30.532" v="644" actId="21"/>
          <ac:spMkLst>
            <pc:docMk/>
            <pc:sldMk cId="0" sldId="289"/>
            <ac:spMk id="25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90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90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7:32.087" v="312" actId="14100"/>
          <ac:spMkLst>
            <pc:docMk/>
            <pc:sldMk cId="0" sldId="290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8:12.458" v="317" actId="20577"/>
          <ac:spMkLst>
            <pc:docMk/>
            <pc:sldMk cId="0" sldId="290"/>
            <ac:spMk id="1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2:15.445" v="310" actId="26606"/>
          <ac:spMkLst>
            <pc:docMk/>
            <pc:sldMk cId="0" sldId="290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7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91"/>
        </pc:sldMkLst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11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92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2" creationId="{00000000-0000-0000-0000-000000000000}"/>
          </ac:spMkLst>
        </pc:spChg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2" creationId="{00000000-0000-0000-0000-000000000000}"/>
          </ac:spMkLst>
        </pc:spChg>
      </pc:sldChg>
      <pc:sldChg chg="delSp modSp mod modNotes">
        <pc:chgData name="Ivan Lucas" userId="f488f667df7b9828" providerId="LiveId" clId="{7341C001-F0AF-4418-95D9-934B15DF2660}" dt="2026-08-16T14:09:46.737" v="435" actId="14100"/>
        <pc:sldMkLst>
          <pc:docMk/>
          <pc:sldMk cId="0" sldId="293"/>
        </pc:sldMkLst>
        <pc:spChg chg="mod">
          <ac:chgData name="Ivan Lucas" userId="f488f667df7b9828" providerId="LiveId" clId="{7341C001-F0AF-4418-95D9-934B15DF2660}" dt="2026-08-09T04:17:36.500" v="315" actId="26606"/>
          <ac:spMkLst>
            <pc:docMk/>
            <pc:sldMk cId="0" sldId="293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4:17:36.500" v="315" actId="26606"/>
          <ac:spMkLst>
            <pc:docMk/>
            <pc:sldMk cId="0" sldId="293"/>
            <ac:spMk id="4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44.108" v="295" actId="478"/>
          <ac:spMkLst>
            <pc:docMk/>
            <pc:sldMk cId="0" sldId="293"/>
            <ac:spMk id="5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45.861" v="296" actId="478"/>
          <ac:spMkLst>
            <pc:docMk/>
            <pc:sldMk cId="0" sldId="293"/>
            <ac:spMk id="6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4:09:46.737" v="435" actId="14100"/>
          <ac:spMkLst>
            <pc:docMk/>
            <pc:sldMk cId="0" sldId="293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7:49.293" v="407" actId="478"/>
          <ac:spMkLst>
            <pc:docMk/>
            <pc:sldMk cId="0" sldId="293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54.095" v="300" actId="478"/>
          <ac:spMkLst>
            <pc:docMk/>
            <pc:sldMk cId="0" sldId="293"/>
            <ac:spMk id="10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55.743" v="301" actId="478"/>
          <ac:spMkLst>
            <pc:docMk/>
            <pc:sldMk cId="0" sldId="293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8:37.501" v="420" actId="14100"/>
          <ac:picMkLst>
            <pc:docMk/>
            <pc:sldMk cId="0" sldId="293"/>
            <ac:picMk id="12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94"/>
        </pc:sldMkLst>
      </pc:sldChg>
      <pc:sldChg chg="delSp modSp mod">
        <pc:chgData name="Ivan Lucas" userId="f488f667df7b9828" providerId="LiveId" clId="{7341C001-F0AF-4418-95D9-934B15DF2660}" dt="2026-08-16T14:09:41.032" v="434" actId="14100"/>
        <pc:sldMkLst>
          <pc:docMk/>
          <pc:sldMk cId="0" sldId="295"/>
        </pc:sldMkLst>
        <pc:spChg chg="mod">
          <ac:chgData name="Ivan Lucas" userId="f488f667df7b9828" providerId="LiveId" clId="{7341C001-F0AF-4418-95D9-934B15DF2660}" dt="2026-08-16T14:09:41.032" v="434" actId="14100"/>
          <ac:spMkLst>
            <pc:docMk/>
            <pc:sldMk cId="0" sldId="295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8:43.487" v="421" actId="478"/>
          <ac:spMkLst>
            <pc:docMk/>
            <pc:sldMk cId="0" sldId="295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09T04:16:32.582" v="311" actId="478"/>
          <ac:spMkLst>
            <pc:docMk/>
            <pc:sldMk cId="0" sldId="295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8:58.405" v="424" actId="14100"/>
          <ac:picMkLst>
            <pc:docMk/>
            <pc:sldMk cId="0" sldId="295"/>
            <ac:picMk id="12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96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6"/>
            <ac:spMk id="8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16T14:09:35.862" v="433" actId="1076"/>
        <pc:sldMkLst>
          <pc:docMk/>
          <pc:sldMk cId="0" sldId="297"/>
        </pc:sldMkLst>
        <pc:spChg chg="del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72" v="319" actId="27636"/>
          <ac:spMkLst>
            <pc:docMk/>
            <pc:sldMk cId="0" sldId="297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16T14:09:27.669" v="431" actId="1076"/>
          <ac:spMkLst>
            <pc:docMk/>
            <pc:sldMk cId="0" sldId="297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9:05.515" v="425" actId="478"/>
          <ac:spMkLst>
            <pc:docMk/>
            <pc:sldMk cId="0" sldId="297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9:35.862" v="433" actId="1076"/>
          <ac:picMkLst>
            <pc:docMk/>
            <pc:sldMk cId="0" sldId="297"/>
            <ac:picMk id="12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16T14:11:28.541" v="447" actId="1076"/>
        <pc:sldMkLst>
          <pc:docMk/>
          <pc:sldMk cId="0" sldId="299"/>
        </pc:sldMkLst>
        <pc:spChg chg="mod">
          <ac:chgData name="Ivan Lucas" userId="f488f667df7b9828" providerId="LiveId" clId="{7341C001-F0AF-4418-95D9-934B15DF2660}" dt="2026-08-16T14:11:17.926" v="444" actId="1076"/>
          <ac:spMkLst>
            <pc:docMk/>
            <pc:sldMk cId="0" sldId="299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10:44.387" v="440" actId="478"/>
          <ac:spMkLst>
            <pc:docMk/>
            <pc:sldMk cId="0" sldId="299"/>
            <ac:spMk id="8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11:28.541" v="447" actId="1076"/>
          <ac:picMkLst>
            <pc:docMk/>
            <pc:sldMk cId="0" sldId="299"/>
            <ac:picMk id="12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16T14:12:12.078" v="455" actId="1076"/>
        <pc:sldMkLst>
          <pc:docMk/>
          <pc:sldMk cId="0" sldId="300"/>
        </pc:sldMkLst>
        <pc:spChg chg="mod">
          <ac:chgData name="Ivan Lucas" userId="f488f667df7b9828" providerId="LiveId" clId="{7341C001-F0AF-4418-95D9-934B15DF2660}" dt="2026-08-16T14:12:06.021" v="452" actId="1076"/>
          <ac:spMkLst>
            <pc:docMk/>
            <pc:sldMk cId="0" sldId="300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11:54.016" v="449" actId="478"/>
          <ac:spMkLst>
            <pc:docMk/>
            <pc:sldMk cId="0" sldId="300"/>
            <ac:spMk id="8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12:12.078" v="455" actId="1076"/>
          <ac:picMkLst>
            <pc:docMk/>
            <pc:sldMk cId="0" sldId="300"/>
            <ac:picMk id="12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16T14:19:43.725" v="472" actId="1076"/>
        <pc:sldMkLst>
          <pc:docMk/>
          <pc:sldMk cId="0" sldId="314"/>
        </pc:sldMkLst>
        <pc:spChg chg="mod">
          <ac:chgData name="Ivan Lucas" userId="f488f667df7b9828" providerId="LiveId" clId="{7341C001-F0AF-4418-95D9-934B15DF2660}" dt="2026-08-16T14:19:22.975" v="463" actId="1076"/>
          <ac:spMkLst>
            <pc:docMk/>
            <pc:sldMk cId="0" sldId="314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19:12.721" v="461" actId="478"/>
          <ac:spMkLst>
            <pc:docMk/>
            <pc:sldMk cId="0" sldId="314"/>
            <ac:spMk id="8" creationId="{00000000-0000-0000-0000-000000000000}"/>
          </ac:spMkLst>
        </pc:spChg>
        <pc:picChg chg="del mod">
          <ac:chgData name="Ivan Lucas" userId="f488f667df7b9828" providerId="LiveId" clId="{7341C001-F0AF-4418-95D9-934B15DF2660}" dt="2026-08-16T14:19:10.934" v="460" actId="478"/>
          <ac:picMkLst>
            <pc:docMk/>
            <pc:sldMk cId="0" sldId="314"/>
            <ac:picMk id="12" creationId="{00000000-0000-0000-0000-000000000000}"/>
          </ac:picMkLst>
        </pc:picChg>
        <pc:picChg chg="add mod">
          <ac:chgData name="Ivan Lucas" userId="f488f667df7b9828" providerId="LiveId" clId="{7341C001-F0AF-4418-95D9-934B15DF2660}" dt="2026-08-16T14:19:43.725" v="472" actId="1076"/>
          <ac:picMkLst>
            <pc:docMk/>
            <pc:sldMk cId="0" sldId="314"/>
            <ac:picMk id="13" creationId="{00D397B2-49AA-BAAC-F931-4B7CCCFD1F2F}"/>
          </ac:picMkLst>
        </pc:picChg>
      </pc:sldChg>
      <pc:sldChg chg="modSp mod">
        <pc:chgData name="Ivan Lucas" userId="f488f667df7b9828" providerId="LiveId" clId="{7341C001-F0AF-4418-95D9-934B15DF2660}" dt="2026-08-16T17:08:00.815" v="655" actId="122"/>
        <pc:sldMkLst>
          <pc:docMk/>
          <pc:sldMk cId="0" sldId="316"/>
        </pc:sldMkLst>
        <pc:spChg chg="mod">
          <ac:chgData name="Ivan Lucas" userId="f488f667df7b9828" providerId="LiveId" clId="{7341C001-F0AF-4418-95D9-934B15DF2660}" dt="2026-08-16T16:39:47.373" v="583" actId="20577"/>
          <ac:spMkLst>
            <pc:docMk/>
            <pc:sldMk cId="0" sldId="316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16T16:40:36.658" v="637" actId="20577"/>
          <ac:spMkLst>
            <pc:docMk/>
            <pc:sldMk cId="0" sldId="316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16T16:39:27.511" v="552" actId="1076"/>
          <ac:spMkLst>
            <pc:docMk/>
            <pc:sldMk cId="0" sldId="316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16T16:39:27.511" v="552" actId="1076"/>
          <ac:spMkLst>
            <pc:docMk/>
            <pc:sldMk cId="0" sldId="31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16T16:38:40.576" v="488"/>
          <ac:spMkLst>
            <pc:docMk/>
            <pc:sldMk cId="0" sldId="316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16T17:08:00.815" v="655" actId="122"/>
          <ac:spMkLst>
            <pc:docMk/>
            <pc:sldMk cId="0" sldId="316"/>
            <ac:spMk id="15" creationId="{00000000-0000-0000-0000-000000000000}"/>
          </ac:spMkLst>
        </pc:spChg>
      </pc:sldChg>
      <pc:sldChg chg="delSp mod">
        <pc:chgData name="Ivan Lucas" userId="f488f667df7b9828" providerId="LiveId" clId="{7341C001-F0AF-4418-95D9-934B15DF2660}" dt="2026-08-16T17:09:29.833" v="656" actId="478"/>
        <pc:sldMkLst>
          <pc:docMk/>
          <pc:sldMk cId="0" sldId="318"/>
        </pc:sldMkLst>
        <pc:spChg chg="del">
          <ac:chgData name="Ivan Lucas" userId="f488f667df7b9828" providerId="LiveId" clId="{7341C001-F0AF-4418-95D9-934B15DF2660}" dt="2026-08-16T17:09:29.833" v="656" actId="478"/>
          <ac:spMkLst>
            <pc:docMk/>
            <pc:sldMk cId="0" sldId="318"/>
            <ac:spMk id="17" creationId="{00000000-0000-0000-0000-000000000000}"/>
          </ac:spMkLst>
        </pc:spChg>
      </pc:sldChg>
      <pc:sldChg chg="delSp mod">
        <pc:chgData name="Ivan Lucas" userId="f488f667df7b9828" providerId="LiveId" clId="{7341C001-F0AF-4418-95D9-934B15DF2660}" dt="2026-08-16T17:09:32.989" v="657" actId="478"/>
        <pc:sldMkLst>
          <pc:docMk/>
          <pc:sldMk cId="0" sldId="319"/>
        </pc:sldMkLst>
        <pc:spChg chg="del">
          <ac:chgData name="Ivan Lucas" userId="f488f667df7b9828" providerId="LiveId" clId="{7341C001-F0AF-4418-95D9-934B15DF2660}" dt="2026-08-16T17:09:32.989" v="657" actId="478"/>
          <ac:spMkLst>
            <pc:docMk/>
            <pc:sldMk cId="0" sldId="319"/>
            <ac:spMk id="15" creationId="{00000000-0000-0000-0000-000000000000}"/>
          </ac:spMkLst>
        </pc:spChg>
      </pc:sldChg>
      <pc:sldChg chg="del">
        <pc:chgData name="Ivan Lucas" userId="f488f667df7b9828" providerId="LiveId" clId="{7341C001-F0AF-4418-95D9-934B15DF2660}" dt="2026-08-16T16:29:50.126" v="487" actId="47"/>
        <pc:sldMkLst>
          <pc:docMk/>
          <pc:sldMk cId="0" sldId="320"/>
        </pc:sldMkLst>
      </pc:sldChg>
      <pc:sldChg chg="delSp modSp mod">
        <pc:chgData name="Ivan Lucas" userId="f488f667df7b9828" providerId="LiveId" clId="{7341C001-F0AF-4418-95D9-934B15DF2660}" dt="2026-08-16T15:33:23.443" v="483" actId="1076"/>
        <pc:sldMkLst>
          <pc:docMk/>
          <pc:sldMk cId="0" sldId="321"/>
        </pc:sldMkLst>
        <pc:spChg chg="mod">
          <ac:chgData name="Ivan Lucas" userId="f488f667df7b9828" providerId="LiveId" clId="{7341C001-F0AF-4418-95D9-934B15DF2660}" dt="2026-08-16T15:32:58.019" v="475" actId="207"/>
          <ac:spMkLst>
            <pc:docMk/>
            <pc:sldMk cId="0" sldId="321"/>
            <ac:spMk id="5" creationId="{00000000-0000-0000-0000-000000000000}"/>
          </ac:spMkLst>
        </pc:spChg>
        <pc:spChg chg="del">
          <ac:chgData name="Ivan Lucas" userId="f488f667df7b9828" providerId="LiveId" clId="{7341C001-F0AF-4418-95D9-934B15DF2660}" dt="2026-08-16T15:30:55.955" v="474" actId="478"/>
          <ac:spMkLst>
            <pc:docMk/>
            <pc:sldMk cId="0" sldId="321"/>
            <ac:spMk id="8" creationId="{00000000-0000-0000-0000-000000000000}"/>
          </ac:spMkLst>
        </pc:spChg>
        <pc:picChg chg="mod">
          <ac:chgData name="Ivan Lucas" userId="f488f667df7b9828" providerId="LiveId" clId="{7341C001-F0AF-4418-95D9-934B15DF2660}" dt="2026-08-16T15:33:23.443" v="483" actId="1076"/>
          <ac:picMkLst>
            <pc:docMk/>
            <pc:sldMk cId="0" sldId="321"/>
            <ac:picMk id="15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57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Dê as boas-vindas à Semana 6. Explique que nesta semana o projeto entra em outra fase: deixamos de coletar requisitos e passamos a planejar o desenvolvimento de forma ágil (Dia 1), organizar o trabalho em tarefas e delegar (Dia 2) e construir formulários dinâmicos com validação no AppSheet, fechando com uma visão geral de APIs e calendários (Dia 3). Lembre que cada dia tem 4h com uma pausa de 20 minutos.</a:t>
            </a:r>
          </a:p>
          <a:p>
            <a:endParaRPr/>
          </a:p>
          <a:p>
            <a:r>
              <a:t>Dica ao professor: Faça a pergunta rápida: 'quem aqui já participou de um projeto que atrasou porque os requisitos mudaram?' e conecte com o tema do dia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Apresente o mapa da semana: dia 1 planejamento ágil, dia 2 tarefas e delegação, dia 3 formulários dinâmicos, avaliação e visão geral de APIs e calendários. Reforce que o conteúdo vem do Módulo 3, Unidade 1 do material didático (páginas 82 a 107) e que a prática acontece no app que cada equipe já iniciou.</a:t>
            </a:r>
          </a:p>
          <a:p>
            <a:endParaRPr/>
          </a:p>
          <a:p>
            <a:r>
              <a:t>Dica ao professor: Pergunte às equipes se trouxeram o problema real que escolheram — isso será usado já no Dia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Leia os três objetivos e diga aos alunos que eles serão retomados na avaliação do Dia 1 e na avaliação em equipe do Dia 3: planejar de forma ágil, organizar o trabalho em tarefas e construir formulários dinâmicos com validação.</a:t>
            </a:r>
          </a:p>
          <a:p>
            <a:endParaRPr/>
          </a:p>
          <a:p>
            <a:r>
              <a:t>Dica ao professor: Faça uma pergunta rápida, confirme a compreensão e conecte os objetivos às entregas finais do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0h03</a:t>
            </a:r>
          </a:p>
          <a:p>
            <a:endParaRPr/>
          </a:p>
          <a:p>
            <a:r>
              <a:t>Fala sugerida:</a:t>
            </a:r>
          </a:p>
          <a:p>
            <a:r>
              <a:t>Abertura do Dia 1. Apresente o tema do dia — Planejando o projeto de forma ágil — e a lógica da sequência: retomada rápida, conteúdo, prática e avaliação. Encaminhe a leitura da agenda cronometrada no próximo slide.</a:t>
            </a:r>
          </a:p>
          <a:p>
            <a:endParaRPr/>
          </a:p>
          <a:p>
            <a:r>
              <a:t>Dica ao professor: Projete a agenda em seguida e combine o horário da pausa de 20 minutos com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Projete a agenda do Dia 1 e percorra os blocos com a turma: conteúdo, prática, pausa de 20 minutos e fechamento. Combine que os horários de retorno serão respeitados. Destaque o bloco de avaliação/atividade final do dia.</a:t>
            </a:r>
          </a:p>
          <a:p>
            <a:endParaRPr/>
          </a:p>
          <a:p>
            <a:r>
              <a:t>Dica ao professor: Se a turma chegar atrasada, corte a discussão dos vídeos antes de cortar a prática — a prática é o coração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0h40</a:t>
            </a:r>
          </a:p>
          <a:p>
            <a:endParaRPr/>
          </a:p>
          <a:p>
            <a:r>
              <a:t>Fala sugerida:</a:t>
            </a:r>
          </a:p>
          <a:p>
            <a:r>
              <a:t>Organize as equipes para apresentar os problemas reais que escolheram. Controle o tempo (5 minutos por equipe + perguntas). Media as perguntas para que se concentrem no escopo mínimo do aplicativo, não em ideias avançadas demais.</a:t>
            </a:r>
          </a:p>
          <a:p>
            <a:endParaRPr/>
          </a:p>
          <a:p>
            <a:r>
              <a:t>Dica ao professor: Se alguma equipe não trouxe problema, ajude-a a escolher um no ato usando o contexto do app de agendamento de serviços do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0h40</a:t>
            </a:r>
          </a:p>
          <a:p>
            <a:endParaRPr/>
          </a:p>
          <a:p>
            <a:r>
              <a:t>Fala sugerida:</a:t>
            </a:r>
          </a:p>
          <a:p>
            <a:r>
              <a:t>Com os problemas apresentados, cada equipe transforma o problema em visão, desafios e metas. Circule pelas equipes garantindo metas concretas e verificáveis — nada de 'fazer o app'. As metas serão usadas na avaliação do dia e nas sprints das próximas semanas.</a:t>
            </a:r>
          </a:p>
          <a:p>
            <a:endParaRPr/>
          </a:p>
          <a:p>
            <a:r>
              <a:t>Dica ao professor: Peça que registrem no caderno/documento compartilhado; na próxima aula esses itens viram tarefas no quadro.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Apresente a definição do material (pág. 82): a metodologia ágil prioriza a colaboração contínua com o cliente, entregas rápidas e frequentes, adaptação constante às mudanças e trabalho em equipe auto-organizado. Vincule cada característica a algo concreto do projeto de agendamento de serviços.</a:t>
            </a:r>
          </a:p>
          <a:p>
            <a:endParaRPr/>
          </a:p>
          <a:p>
            <a:r>
              <a:t>Dica ao professor: Pergunte: 'qual dessas características faria mais diferença no projeto de vocês? Por quê?' — aquece a avaliação do fim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Compare os dois caminhos usando o material (págs. 82-84): no tradicional, reunimos todos os requisitos, desenvolvemos tudo e mostramos no fim — arriscado quando o tempo é curto e os requisitos mudam. No ágil, dividimos para conquistar: pequenas partes, entregas frequentes, adaptação constante.</a:t>
            </a:r>
          </a:p>
          <a:p>
            <a:endParaRPr/>
          </a:p>
          <a:p>
            <a:r>
              <a:t>Dica ao professor: Peça um exemplo do cotidiano: 'o que acontece quando você só vê o resultado de uma encomenda depois de pronta?'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0h07</a:t>
            </a:r>
          </a:p>
          <a:p>
            <a:endParaRPr/>
          </a:p>
          <a:p>
            <a:r>
              <a:t>Fala sugerida:</a:t>
            </a:r>
          </a:p>
          <a:p>
            <a:r>
              <a:t>Explique por que o material adota ágil: restrições de tempo e custo exigem uma forma de trabalhar que, ao final do curso, entregue o app atendendo às necessidades do usuário. O produto é inovador e tecnológico — exatamente o cenário em que requisitos mudam e o ágil brilha.</a:t>
            </a:r>
          </a:p>
          <a:p>
            <a:endParaRPr/>
          </a:p>
          <a:p>
            <a:r>
              <a:t>Dica ao professor: Vincule ao app Atende+/agendamento: mostrar cedo o cadastro de clientes evita refazer tudo no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0h07</a:t>
            </a:r>
          </a:p>
          <a:p>
            <a:endParaRPr/>
          </a:p>
          <a:p>
            <a:r>
              <a:t>Fala sugerida:</a:t>
            </a:r>
          </a:p>
          <a:p>
            <a:r>
              <a:t>Mostre que existem várias metodologias ágeis com regras bem definidas — as mais conhecidas são Scrum, XP e Kanban (pág. 82). Todas pregam as mesmas 4 características da agilidade; o que muda são os detalhes específicos de cada roteiro, que não precisamos dominar agora.</a:t>
            </a:r>
          </a:p>
          <a:p>
            <a:endParaRPr/>
          </a:p>
          <a:p>
            <a:r>
              <a:t>Dica ao professor: Antecipe: no Dia 2 o quadro Kanban aparece como ferramenta de apoio, mesmo usando Scrum como roteiro.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Feche a escolha técnica: o projeto do curso usa Scrum, seguindo o roteiro do material (pág. 82). Nas próximas semanas as sprints e o quadro de tarefas mostram o roteiro em ação.</a:t>
            </a:r>
          </a:p>
          <a:p>
            <a:endParaRPr/>
          </a:p>
          <a:p>
            <a:r>
              <a:t>Dica ao professor: Mostre o slide 11 de novo se houver dúvida entre 'usar Scrum' e 'usar Kanban': Scrum é o roteiro; o quadro é apoio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0h06</a:t>
            </a:r>
          </a:p>
          <a:p>
            <a:endParaRPr/>
          </a:p>
          <a:p>
            <a:r>
              <a:t>Fala sugerida:</a:t>
            </a:r>
          </a:p>
          <a:p>
            <a:r>
              <a:t>Consolide as 4 características (pág. 82) que estruturam toda a semana: elas reaparecem na delegação (auto-organização, Dia 2) e nas entregas parciais (marcos, hoje). Esta é a base da avaliação verbal do dia.</a:t>
            </a:r>
          </a:p>
          <a:p>
            <a:endParaRPr/>
          </a:p>
          <a:p>
            <a:r>
              <a:t>Dica ao professor: Use como revisão rápida: aponte cada card e peça para um aluno completar com exemplo próprio.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Exiba o vídeo e peça aos alunos que anotem as 3 diferenças mais marcantes entre ágil e tradicional. Depois conecte cada diferença com a realidade do app de agendamento que a equipe está construindo no curso.</a:t>
            </a:r>
          </a:p>
          <a:p>
            <a:endParaRPr/>
          </a:p>
          <a:p>
            <a:r>
              <a:t>Dica ao professor: Se a internet falhar, use a síntese da página 82 do material: colaboração contínua, entregas rápidas, adaptação e equipe auto-organizada.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Mostre o vídeo e peça para relacionar o que aparece nele com o roteiro do material: backlog do produto, sprint de 15 dias e entregas parciais. Pergunte: 'em que parte do nosso app de agendamento cabe uma sprint?'</a:t>
            </a:r>
          </a:p>
          <a:p>
            <a:endParaRPr/>
          </a:p>
          <a:p>
            <a:r>
              <a:t>Vídeo em português (18min39): se necessário, exiba até ~min 10 e retome o restante depois. Reforce que o material segue Scrum neste projeto (pág. 82).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0h07</a:t>
            </a:r>
          </a:p>
          <a:p>
            <a:endParaRPr/>
          </a:p>
          <a:p>
            <a:r>
              <a:t>Fala sugerida:</a:t>
            </a:r>
          </a:p>
          <a:p>
            <a:r>
              <a:t>Explique a visão do projeto no Scrum (pág. 84): é o norte estratégico que alinha todos os envolvidos e sustenta foco e motivação. O material alerta: visão vaga gera desorganização, retrabalho e perda de foco.</a:t>
            </a:r>
          </a:p>
          <a:p>
            <a:endParaRPr/>
          </a:p>
          <a:p>
            <a:r>
              <a:t>Dica ao professor: Pergunte às equipes: 'conseguem dizer sua visão em uma frase sem olhar o caderno?' — se não, ainda está vaga.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Detalhe a visão do produto (págs. 84-85): declaração clara sobre propósito, objetivos e resultados esperados. Leia os dois exemplos do material e peça às equipes que escrevam a visão de seu próprio app em uma frase.</a:t>
            </a:r>
          </a:p>
          <a:p>
            <a:endParaRPr/>
          </a:p>
          <a:p>
            <a:r>
              <a:t>Dica ao professor: Dê 3 minutos para cada equipe redigir e ouça duas em voz alta; ajuste no ato se estiverem genéricas.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Explique metas e marcos (págs. 85-86): marcos são módulos priorizados; quando grandes demais, viram submódulos que cabem em uma ou duas semanas. O usuário testa o sistema parcialmente e a equipe aprende cedo o que melhorar.</a:t>
            </a:r>
          </a:p>
          <a:p>
            <a:endParaRPr/>
          </a:p>
          <a:p>
            <a:r>
              <a:t>Dica ao professor: Desenhe no quadro o módulo de gerenciamento de usuário quebrado em submódulos — o mesmo gesto será feito com o app deles no Dia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Apresente o Roadmap (págs. 86-87): cronograma com os módulos do sistema e entregas a cada 15 dias. Reforce que o roadmap pode mudar e que a ordem obedece às dependências entre módulos, como no exemplo do sistema de agendamento de serviços.</a:t>
            </a:r>
          </a:p>
          <a:p>
            <a:endParaRPr/>
          </a:p>
          <a:p>
            <a:r>
              <a:t>Dica ao professor: Compare com o roadmap das próprias equipes desenhado no bloco de metas — elas já estão praticando o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0h30</a:t>
            </a:r>
          </a:p>
          <a:p>
            <a:endParaRPr/>
          </a:p>
          <a:p>
            <a:r>
              <a:t>Fala sugerida:</a:t>
            </a:r>
          </a:p>
          <a:p>
            <a:r>
              <a:t>Realize a avaliação verbal: cada aluno, em 1 a 2 minutos, descreve as vantagens de um projeto ágil. Observe se citam as características do material (colaboração contínua, entregas rápidas e frequentes, adaptação às mudanças, equipe auto-organizada) e se dão exemplo concreto. Registre rapidamente quem apresentou e algum destaque de fala.</a:t>
            </a:r>
          </a:p>
          <a:p>
            <a:endParaRPr/>
          </a:p>
          <a:p>
            <a:r>
              <a:t>Dica ao professor: Alunos tímidos podem falar em dupla; o importante é a verbalização. Use a síntese dos slides 8 e 13 como apoio visual durante as falas.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Feche o dia retomando a síntese e antecipe o Dia 2: transformar as metas em tarefas pequenas e organizar a equipe ao redor de um quadro. Reforce o combinado de horário com a pausa.</a:t>
            </a:r>
          </a:p>
          <a:p>
            <a:endParaRPr/>
          </a:p>
          <a:p>
            <a:r>
              <a:t>Dica ao professor: Peça um 'exit ticket' rápido: cada aluno escreve em uma palavra o que leva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0h03</a:t>
            </a:r>
          </a:p>
          <a:p>
            <a:endParaRPr/>
          </a:p>
          <a:p>
            <a:r>
              <a:t>Fala sugerida:</a:t>
            </a:r>
          </a:p>
          <a:p>
            <a:r>
              <a:t>Abertura do Dia 2. Apresente o tema do dia — Criando e delegando tarefas — e a lógica da sequência: retomada rápida, conteúdo, prática e avaliação. Encaminhe a leitura da agenda cronometrada no próximo slide.</a:t>
            </a:r>
          </a:p>
          <a:p>
            <a:endParaRPr/>
          </a:p>
          <a:p>
            <a:r>
              <a:t>Dica ao professor: Projete a agenda em seguida e combine o horário da pausa de 20 minutos com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Projete a agenda do Dia 2 e percorra os blocos com a turma: conteúdo, prática, pausa de 20 minutos e fechamento. Combine que os horários de retorno serão respeitados. Destaque o bloco de avaliação/atividade final do dia.</a:t>
            </a:r>
          </a:p>
          <a:p>
            <a:endParaRPr/>
          </a:p>
          <a:p>
            <a:r>
              <a:t>Dica ao professor: Se a turma chegar atrasada, corte a discussão dos vídeos antes de cortar a prática — a prática é o coração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Situe o Dia 2 no roteiro: com metas e marcos definidos (Dia 1), as histórias de usuário escolhidas para a sprint precisam virar tarefas. O backlog é a lista de tudo a produzir; a sprint é o ciclo de 15 dias (págs. 59, 113).</a:t>
            </a:r>
          </a:p>
          <a:p>
            <a:endParaRPr/>
          </a:p>
          <a:p>
            <a:r>
              <a:t>Dica ao professor: Recupere as metas escritas pelas equipes no Dia 1 — é delas que nascerão as tarefas 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Explique a quebra técnica (pág. 59 e 114): transformar um item do backlog — geralmente uma história de usuário — em tarefas pequenas, objetivas e com escopo claro, executáveis por uma ou duas pessoas em até 15 dias.</a:t>
            </a:r>
          </a:p>
          <a:p>
            <a:endParaRPr/>
          </a:p>
          <a:p>
            <a:r>
              <a:t>Dica ao professor: Peça um contraexemplo: 'criar o app' não é tarefa. Provoque a turma a reescrever tarefas genéricas.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Use o exemplo do material (pág. 59): a história 'Agendar um serviço' vira tarefas técnicas menores — tela de agendamento, campos, cadastros, salvamento e confirmação. Mostre como uma história ganha corpo no quadro.</a:t>
            </a:r>
          </a:p>
          <a:p>
            <a:endParaRPr/>
          </a:p>
          <a:p>
            <a:r>
              <a:t>Dica ao professor: Peça que cada equipe escolha UMA história do próprio app e quebre em 3 a 5 tarefas; será usada na atividade do quadro.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0h07</a:t>
            </a:r>
          </a:p>
          <a:p>
            <a:endParaRPr/>
          </a:p>
          <a:p>
            <a:r>
              <a:t>Fala sugerida:</a:t>
            </a:r>
          </a:p>
          <a:p>
            <a:r>
              <a:t>Explique a estimativa (págs. 60, 114-115): cada tarefa recebe uma estimativa em horas para distribuir o trabalho de forma equilibrada. Analise esforço, tecnologias, relacionamentos e complexidade. Erros de estimativa são normais no início.</a:t>
            </a:r>
          </a:p>
          <a:p>
            <a:endParaRPr/>
          </a:p>
          <a:p>
            <a:r>
              <a:t>Dica ao professor: Estimativa em horas basta nesta fase; semanas seguintes aprofundam esforço e datas (Unidade 2 do material).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Explique a delegação no ambiente ágil (pág. 59): colaborativa, transparente e flexível, respeitando a autonomia — no Scrum a equipe se auto-organiza com base em prioridades e capacidades, em vez de receber ordens.</a:t>
            </a:r>
          </a:p>
          <a:p>
            <a:endParaRPr/>
          </a:p>
          <a:p>
            <a:r>
              <a:t>Dica ao professor: Contraste com delegação centralizadora: pergunte o que muda na motivação quando a equipe escolhe o que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0h06</a:t>
            </a:r>
          </a:p>
          <a:p>
            <a:endParaRPr/>
          </a:p>
          <a:p>
            <a:r>
              <a:t>Fala sugerida:</a:t>
            </a:r>
          </a:p>
          <a:p>
            <a:r>
              <a:t>Detalhe o 'pull, não push' (pág. 60): os membros puxam as tarefas do board conforme disponibilidade, habilidade ou interesse — reforçando senso de propriedade e motivação. O professor não empurra tarefas.</a:t>
            </a:r>
          </a:p>
          <a:p>
            <a:endParaRPr/>
          </a:p>
          <a:p>
            <a:r>
              <a:t>Dica ao professor: Faça uma simulação de 2 minutos: um cartão no quadro e pergunte quem puxa e por 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Apresente o quadro Kanban (págs. 60, 110, 113-114): cada tarefa é um cartão movido entre colunas. O material mostra tanto o modelo simples (To Do / Doing / Done) quanto o fluxo completo com revisão e teste. O quadro dá visão do progresso e revela gargalos.</a:t>
            </a:r>
          </a:p>
          <a:p>
            <a:endParaRPr/>
          </a:p>
          <a:p>
            <a:r>
              <a:t>Dica ao professor: Desenhe um mini-quadro no quadro branco com 3 post-its e mova um em tempo real durante a explicação.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Feche o conteúdo com o alerta do material (pág. 60): delegue com base na capacidade real da sprint e evite que alguém fique com muitas tarefas simultâneas — foco em uma por vez até concluir.</a:t>
            </a:r>
          </a:p>
          <a:p>
            <a:endParaRPr/>
          </a:p>
          <a:p>
            <a:r>
              <a:t>Dica ao professor: Pergunte quem já tentou fazer cinco coisas ao mesmo tempo e não terminou nenhuma — o exemplo cai bem.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Apresente os papéis (pág. 111): equipes ágeis de 5 a 9 pessoas assumindo 1 ou mais papéis — desenvolvedor (executa no AppSheet/FlutterFlow), gerente do produto (organiza, cria tarefas, lida com o cliente) e dono do produto (o cliente, que dá feedback). Dentro do desenvolvedor há subpapéis: designer, testador, codificador. A equipe é multidisciplinar e autônoma.</a:t>
            </a:r>
          </a:p>
          <a:p>
            <a:endParaRPr/>
          </a:p>
          <a:p>
            <a:r>
              <a:t>Dica ao professor: Peça que cada equipe nomeie provisoriamente quem observa cada papel nesta semana; os papéis podem revezar.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Exiba o vídeo e mostre que o que vale é a lógica do quadro: cada tarefa é um cartão movido entre colunas, como o material pede. A ferramenta pode ser Notion, Trello ou até post-its na parede — o importante é visualizar o fluxo.</a:t>
            </a:r>
          </a:p>
          <a:p>
            <a:endParaRPr/>
          </a:p>
          <a:p>
            <a:r>
              <a:t>Dica ao professor: Peça que compare as colunas do vídeo com o fluxo To Do / Doing / Done citado no material e com o template Kanban do Trello.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Vídeo curtinho: exiba e pergunte o que Abilio Diniz faz que se parece com o 'pull' do material — confiar, explicar o objetivo e deixar a pessoa se posicionar, em vez de empurrar a tarefa.</a:t>
            </a:r>
          </a:p>
          <a:p>
            <a:endParaRPr/>
          </a:p>
          <a:p>
            <a:r>
              <a:t>Dica ao professor: Use como provocação de abertura do bloco de delegação; a regra do material é a equipe puxar as tarefas (pull, não push).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0h40</a:t>
            </a:r>
          </a:p>
          <a:p>
            <a:endParaRPr/>
          </a:p>
          <a:p>
            <a:r>
              <a:t>Fala sugerida:</a:t>
            </a:r>
          </a:p>
          <a:p>
            <a:r>
              <a:t>Conduza a atividade: cada equipe monta seu quadro Kanban, cria os cartões da história escolhida no slide 26 e simula a dinâmica de pull. Circule verificando estimativas em horas e se algum cartão precisa de nova quebra.</a:t>
            </a:r>
          </a:p>
          <a:p>
            <a:endParaRPr/>
          </a:p>
          <a:p>
            <a:r>
              <a:t>Dica ao professor: Photografe cada quadro ao final: a foto servirá de registro para as sprints das próximas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Abra a prática do dia (pág. 63 do material): os formulários do AppSheet são moldados pelas propriedades das colunas — Show?, Editable?, Require? (campo obrigatório), Initial Value (valor padrão), Display Name e Description. E o Type afeta como o conteúdo é exibido e validado.</a:t>
            </a:r>
          </a:p>
          <a:p>
            <a:endParaRPr/>
          </a:p>
          <a:p>
            <a:r>
              <a:t>Dica ao professor: Mostre ao vivo uma coluna Phone com Require? marcado e tente salvar vazio — o erro de validação é o gancho da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0h40</a:t>
            </a:r>
          </a:p>
          <a:p>
            <a:endParaRPr/>
          </a:p>
          <a:p>
            <a:r>
              <a:t>Fala sugerida:</a:t>
            </a:r>
          </a:p>
          <a:p>
            <a:r>
              <a:t>Conduza o roteiro passo a passo no projetor e deixe as equipes reproduzirem no app delas: campo de telefone obrigatório e validado pelo tipo Phone. Feche cada etapa com o teste no emulador e registre a tarefa como concluída no quadro.</a:t>
            </a:r>
          </a:p>
          <a:p>
            <a:endParaRPr/>
          </a:p>
          <a:p>
            <a:r>
              <a:t>Dica ao professor: Adapte a coluna ao app de cada equipe se necessário; o essencial é experimentar a validação por propriedade e 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0h20</a:t>
            </a:r>
          </a:p>
          <a:p>
            <a:endParaRPr/>
          </a:p>
          <a:p>
            <a:r>
              <a:t>Fala sugerida:</a:t>
            </a:r>
          </a:p>
          <a:p>
            <a:r>
              <a:t>Aplique a atividade H5P 'Complete as palavras sobre projeto ágil' em duplas e corrija coletivamente. As respostas retomam backlog, sprint, kanban e as 4 características do ágil. Use as correções para reforçar termos que serão cobrados nas próximas semanas.</a:t>
            </a:r>
          </a:p>
          <a:p>
            <a:endParaRPr/>
          </a:p>
          <a:p>
            <a:r>
              <a:t>Dica ao professor: Se a plataforma H5P não estiver disponível, projete as frases e peça respostas no caderno — a fixação é o que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Feche o dia com a síntese e conecte: hoje criamos e delegamos tarefas; amanhã os formulários do app ganham dinamismo e validação, e cada equipe apresenta o resultado.</a:t>
            </a:r>
          </a:p>
          <a:p>
            <a:endParaRPr/>
          </a:p>
          <a:p>
            <a:r>
              <a:t>Dica ao professor: Lembre as equipes de trazer o app atualizado — o formulário prático de amanhã parte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0h03</a:t>
            </a:r>
          </a:p>
          <a:p>
            <a:endParaRPr/>
          </a:p>
          <a:p>
            <a:r>
              <a:t>Fala sugerida:</a:t>
            </a:r>
          </a:p>
          <a:p>
            <a:r>
              <a:t>Abertura do Dia 3. Apresente o tema do dia — Formulários dinâmicos, validação, APIs e calendários — e a lógica da sequência: retomada rápida, conteúdo, prática e avaliação. Encaminhe a leitura da agenda cronometrada no próximo slide.</a:t>
            </a:r>
          </a:p>
          <a:p>
            <a:endParaRPr/>
          </a:p>
          <a:p>
            <a:r>
              <a:t>Dica ao professor: Projete a agenda em seguida e combine o horário da pausa de 20 minutos com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Projete a agenda do Dia 3 e percorra os blocos com a turma: conteúdo, prática, pausa de 20 minutos e fechamento. Combine que os horários de retorno serão respeitados. Destaque o bloco de avaliação/atividade final do dia.</a:t>
            </a:r>
          </a:p>
          <a:p>
            <a:endParaRPr/>
          </a:p>
          <a:p>
            <a:r>
              <a:t>Dica ao professor: Se a turma chegar atrasada, corte a discussão dos vídeos antes de cortar a prática — a prática é o coração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Retome a base (págs. 103-106): o AppSheet gera os formulários automaticamente e nós os editamos — Column order Manual reordena os campos (Agendamento_Form) e colunas podem ser ocultadas (RegistraAgendamento_Form, restando Data e Hora). É esse formulário que ganhará dinamismo hoje.</a:t>
            </a:r>
          </a:p>
          <a:p>
            <a:endParaRPr/>
          </a:p>
          <a:p>
            <a:r>
              <a:t>Dica ao professor: Abra o editor de um formulário do app da turma para ancorar a revisão antes do conteúdo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Recapitule as propriedades da pág. 63, agora com o olhar de formulário dinâmico: Show?, Require?, Initial Value, Type e Display Name/Description. Cada uma delas será combinada na avaliação.</a:t>
            </a:r>
          </a:p>
          <a:p>
            <a:endParaRPr/>
          </a:p>
          <a:p>
            <a:r>
              <a:t>Dica ao professor: Cite os Initial Values da tabela Agendamento do material: NOW(), UNIQUEID(), 'Residência', 'Mensal', 'Pré-Pago'.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0h12</a:t>
            </a:r>
          </a:p>
          <a:p>
            <a:endParaRPr/>
          </a:p>
          <a:p>
            <a:r>
              <a:t>Fala sugerida:</a:t>
            </a:r>
          </a:p>
          <a:p>
            <a:r>
              <a:t>Explique o formulário dinâmico/condicional: campos que aparecem, desaparecem ou se ajustam conforme as respostas. Use a tabela Agendamento do material: Tipo_Atendimento 'Mensal' abre frequência semanal e data de início; atendimento por evento abre quantidade. Mostre os vídeos a seguir.</a:t>
            </a:r>
          </a:p>
          <a:p>
            <a:endParaRPr/>
          </a:p>
          <a:p>
            <a:r>
              <a:t>Dica ao professor: Desenhe a árvore de decisão do formulário no quadro antes de exibir os vídeos — ajuda a fixar a lógica condicional.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Exiba e conecte com a prática: quando o formulário do app de agendamento pergunta o tipo de atendimento, as perguntas seguintes podem depender dessa resposta. Listas dependentes deixam o formulário mais curto e sem erros.</a:t>
            </a:r>
          </a:p>
          <a:p>
            <a:endParaRPr/>
          </a:p>
          <a:p>
            <a:r>
              <a:t>Dica ao professor: Peça que anotem a fórmula usada no vídeo; no laboratório, eles reproduzem o efeito no formulário de sua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Mostre como o Show_If esconde ou exibe campos conforme uma condição. Exemplo do nosso app: se o tipo de atendimento for 'Mensal', mostrar 'Frequência Semanal'; se for evento, mostrar a quantidade de atendimentos.</a:t>
            </a:r>
          </a:p>
          <a:p>
            <a:endParaRPr/>
          </a:p>
          <a:p>
            <a:r>
              <a:t>Dica ao professor: Se sobrar tempo, mostre também os trechos finais do vídeo (validação de dados) para reforçar; senão, siga direto para a prática avaliativa.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Apresente a validação de dados (págs. 63, 98-101): Require? para obrigatoriedade, tipo de dado para formato, Enum com lista fechada de valores ('Residência', 'Pré-Pago'), valores vindos da planilha com autocomplete e colunas Ref com Source table definindo a tabela de origem.</a:t>
            </a:r>
          </a:p>
          <a:p>
            <a:endParaRPr/>
          </a:p>
          <a:p>
            <a:r>
              <a:t>Dica ao professor: Mostre na tabela RegistraAgendamento do material a coluna Ref de ID_Agendamento com Source table 'Agendamento'.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Percorra o formulário de Agendamento do material (págs. 98-105): três páginas com textos informativos, ordem manual das colunas e controles Enum com valores padrão. É a referência visual de um formulário bem validado e organizado.</a:t>
            </a:r>
          </a:p>
          <a:p>
            <a:endParaRPr/>
          </a:p>
          <a:p>
            <a:r>
              <a:t>Dica ao professor: Peça que comparem com o formulário atual do app deles: o que melhoraria primeiro?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0h40</a:t>
            </a:r>
          </a:p>
          <a:p>
            <a:endParaRPr/>
          </a:p>
          <a:p>
            <a:r>
              <a:t>Fala sugerida:</a:t>
            </a:r>
          </a:p>
          <a:p>
            <a:r>
              <a:t>Conduza o aquecimento: cada equipe aplica Require?, tipo correto, um Enum e um Initial Value no próprio app e testa os erros no emulador. Esse ensaio prepara a avaliação do próximo bloco.</a:t>
            </a:r>
          </a:p>
          <a:p>
            <a:endParaRPr/>
          </a:p>
          <a:p>
            <a:r>
              <a:t>Dica ao professor: Avise: na avaliação, cada equipe apresenta um formulário com dinâmica E validação — este roteiro é o piso.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1h00</a:t>
            </a:r>
          </a:p>
          <a:p>
            <a:endParaRPr/>
          </a:p>
          <a:p>
            <a:r>
              <a:t>Fala sugerida:</a:t>
            </a:r>
          </a:p>
          <a:p>
            <a:r>
              <a:t>Realize a avaliação: cada equipe cria no seu app um formulário dinâmico com validação e apresenta para a turma. Avalie a dinâmica real (campo condicional funcionando), a validação (obrigatório, tipo, Enum), a organização do formulário e a apresentação. Registre os destaques por equipe.</a:t>
            </a:r>
          </a:p>
          <a:p>
            <a:endParaRPr/>
          </a:p>
          <a:p>
            <a:r>
              <a:t>Dica ao professor: Tenha um plano B por equipe que não conseguir terminar: apresentar o plano do formulário no papel também rende nota parcial.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Apresente a rubrica antes das apresentações para que as equipes saibam onde ganhar pontos: dinâmica (2,5), validação (2,5), organização/usabilidade (2,5) e apresentação (2,5). Total 10.</a:t>
            </a:r>
          </a:p>
          <a:p>
            <a:endParaRPr/>
          </a:p>
          <a:p>
            <a:r>
              <a:t>Dica ao professor: Anote os pontos por equipe no mesmo registro da avaliação verbal do Dia 1 — compõe a nota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Este vídeo fecha a semana com uma visão geral: o que configuramos na view de calendário (tipo calendar, data/hora de início e fim, descrição) é a base para, nas próximas semanas, integrar o app ao Google Calendar e criar eventos automáticos.</a:t>
            </a:r>
          </a:p>
          <a:p>
            <a:endParaRPr/>
          </a:p>
          <a:p>
            <a:r>
              <a:t>Dica ao professor: Não é para reproduzir agora — é preparação. Reforce que a tela de Agendamentos do material (págs. 97-103) usa a view type 'calendar'.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</a:t>
            </a:r>
          </a:p>
          <a:p>
            <a:endParaRPr/>
          </a:p>
          <a:p>
            <a:r>
              <a:t>Fala sugerida:</a:t>
            </a:r>
          </a:p>
          <a:p>
            <a:r>
              <a:t>Feche com a visão geral de APIs (págs. 90-97): o app Atende+ já usa serviços externos — a tela de mapa (view tipo 'map' com Map Column e Map Type) e a action de WhatsApp via 'External: go to a website' com a fórmula CONCATENATE no Target. Nas próximas semanas implementamos passo a passo.</a:t>
            </a:r>
          </a:p>
          <a:p>
            <a:endParaRPr/>
          </a:p>
          <a:p>
            <a:r>
              <a:t>Dica ao professor: É preparação, não laboratório hoje: mostre as telas do material e desperte curiosidade para a semana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0h08</a:t>
            </a:r>
          </a:p>
          <a:p>
            <a:endParaRPr/>
          </a:p>
          <a:p>
            <a:r>
              <a:t>Fala sugerida:</a:t>
            </a:r>
          </a:p>
          <a:p>
            <a:r>
              <a:t>Apresente os calendários (págs. 97-103): configurar Agendamento e RegistraAgendamento, criar colunas virtuais de descrição e a view com View Type 'calendar', datas e horas de início/fim e descrição concatenada. É o fecho do desenvolvimento do app nesta unidade.</a:t>
            </a:r>
          </a:p>
          <a:p>
            <a:endParaRPr/>
          </a:p>
          <a:p>
            <a:r>
              <a:t>Dica ao professor: Reforce que a view 'calendar' já transforma os agendamentos em uma agenda visual dentro do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0h06</a:t>
            </a:r>
          </a:p>
          <a:p>
            <a:endParaRPr/>
          </a:p>
          <a:p>
            <a:r>
              <a:t>Fala sugerida:</a:t>
            </a:r>
          </a:p>
          <a:p>
            <a:r>
              <a:t>Mostre o que vem depois (págs. 102-107 e Unidade 2): telas de Serviços em vídeos, identidade visual no Settings (Theme &amp; Brand, logo, Show view name in header), tela inicial em Starting view e, na Unidade 2, o fluxo de trabalho com execução e entregas.</a:t>
            </a:r>
          </a:p>
          <a:p>
            <a:endParaRPr/>
          </a:p>
          <a:p>
            <a:r>
              <a:t>Dica ao professor: Peça que anotem o link do vídeo de calendário via QR Code — ele reaparece na semana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</a:t>
            </a:r>
          </a:p>
          <a:p>
            <a:endParaRPr/>
          </a:p>
          <a:p>
            <a:r>
              <a:t>Fala sugerida:</a:t>
            </a:r>
          </a:p>
          <a:p>
            <a:r>
              <a:t>Percorra a síntese dos três dias conectando com os objetivos do início da semana: planejar de forma ágil, organizar o trabalho e construir formulários que validam. Pergunte onde cada objetivo foi praticado.</a:t>
            </a:r>
          </a:p>
          <a:p>
            <a:endParaRPr/>
          </a:p>
          <a:p>
            <a:r>
              <a:t>Dica ao professor: Se houver tempo, peça a um aluno de cada dia resumir sua parte em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0h04</a:t>
            </a:r>
          </a:p>
          <a:p>
            <a:endParaRPr/>
          </a:p>
          <a:p>
            <a:r>
              <a:t>Fala sugerida:</a:t>
            </a:r>
          </a:p>
          <a:p>
            <a:r>
              <a:t>Projete o checklist e peça que cada aluno confira mentalmente o que entregou. O checklist orienta a recuperação de pontos para quem ficou para trás em algum item.</a:t>
            </a:r>
          </a:p>
          <a:p>
            <a:endParaRPr/>
          </a:p>
          <a:p>
            <a:r>
              <a:t>Dica ao professor: Deixe este slide aberto enquanto circula pela sala respondendo dúvidas finais.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0h06</a:t>
            </a:r>
          </a:p>
          <a:p>
            <a:endParaRPr/>
          </a:p>
          <a:p>
            <a:r>
              <a:t>Fala sugerida:</a:t>
            </a:r>
          </a:p>
          <a:p>
            <a:r>
              <a:t>Abra para dúvidas gerais e feche com os compromissos: quadro atualizado, formulário dinâmico funcionando e app sincronizado. Antecipe a agenda das próximas semanas (APIs, calendário, sprint).</a:t>
            </a:r>
          </a:p>
          <a:p>
            <a:endParaRPr/>
          </a:p>
          <a:p>
            <a:r>
              <a:t>Dica ao professor: Registre as dúvidas não respondidas e retome-as na abertura da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0h02</a:t>
            </a:r>
          </a:p>
          <a:p>
            <a:endParaRPr/>
          </a:p>
          <a:p>
            <a:r>
              <a:t>Fala sugerida:</a:t>
            </a:r>
          </a:p>
          <a:p>
            <a:r>
              <a:t>Indique as fontes da semana: o material didático (págs. 82-107 e seções de tarefas e papéis) e os vídeos de apoio com QR Code. Reforce que os alunos podem acessar tudo pelo material digital da disciplina.</a:t>
            </a:r>
          </a:p>
          <a:p>
            <a:endParaRPr/>
          </a:p>
          <a:p>
            <a:r>
              <a:t>Dica ao professor: Sugira que fotografem este slide para consultar as referências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0h02</a:t>
            </a:r>
          </a:p>
          <a:p>
            <a:endParaRPr/>
          </a:p>
          <a:p>
            <a:r>
              <a:t>Fala sugerida:</a:t>
            </a:r>
          </a:p>
          <a:p>
            <a:r>
              <a:t>Slide de fechamento. Agradeça a participação, reforce os compromissos da equipe e diga que a sprint começa agora — com o quadro Kanban preenchido e o formulário dinâmico no ar.</a:t>
            </a:r>
          </a:p>
          <a:p>
            <a:endParaRPr/>
          </a:p>
          <a:p>
            <a:r>
              <a:t>Dica ao professor: Combine o canal de comunicação da semana para dúvidas entre as aulas.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figura recortada do material didático. Conecte com o slide anterior: peça que os alunos leiam a figura e relacionem com o conteúdo apresentado.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figura recortada do material didático. Conecte com o slide anterior: peça que os alunos leiam a figura e relacionem com o conteúdo apresentado.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figura recortada do material didático. Conecte com o slide anterior: peça que os alunos leiam a figura e relacionem com o conteúdo apresentado.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figura recortada do material didático. Conecte com o slide anterior: peça que os alunos leiam a figura e relacionem com o conteúdo apresentado.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figura recortada do material didático. Conecte com o slide anterior: peça que os alunos leiam a figura e relacionem com o conteúdo apresentado.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figura recortada do material didático. Conecte com o slide anterior: peça que os alunos leiam a figura e relacionem com o conteúdo apresentado.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figura recortada do material didático. Conecte com o slide anterior: peça que os alunos leiam a figura e relacionem com o conteúdo apresentado.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figura recortada do material didático. Conecte com o slide anterior: peça que os alunos leiam a figura e relacionem com o conteúdo apresentado.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figura recortada do material didático. Conecte com o slide anterior: peça que os alunos leiam a figura e relacionem com o conteúdo apresentado.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s://www.youtube.com/watch?v=ds_FydzsuO8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KaBPJDPRLAo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X8y32TdaR-I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QY9774uclnM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g7ikKJS3A_E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D-w5l4aBI8w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6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gkULvcWBM5M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6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6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6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8FA3BF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8FA3BF"/>
                </a:solidFill>
                <a:latin typeface="Aptos"/>
              </a:rPr>
              <a:t>1 / 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035040" cy="6261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800" b="1" err="1">
                <a:solidFill/>
                <a:latin typeface="Aptos Display"/>
              </a:rPr>
              <a:t>AppClicks</a:t>
            </a:r>
            <a:r>
              <a:rPr lang="pt-BR" sz="3800" b="1">
                <a:solidFill/>
                <a:latin typeface="Aptos Display"/>
              </a:rPr>
              <a:t> - Semana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88920"/>
            <a:ext cx="914400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127248"/>
            <a:ext cx="5897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222E40"/>
                </a:solidFill>
                <a:latin typeface="Aptos"/>
              </a:rPr>
              <a:t>Projeto</a:t>
            </a:r>
            <a:r>
              <a:rPr sz="2200" b="0" dirty="0">
                <a:solidFill>
                  <a:srgbClr val="222E40"/>
                </a:solidFill>
                <a:latin typeface="Aptos"/>
              </a:rPr>
              <a:t> </a:t>
            </a:r>
            <a:r>
              <a:rPr sz="2200" b="0" dirty="0" err="1">
                <a:solidFill>
                  <a:srgbClr val="222E40"/>
                </a:solidFill>
                <a:latin typeface="Aptos"/>
              </a:rPr>
              <a:t>ágil</a:t>
            </a:r>
            <a:r>
              <a:rPr sz="2200" b="0" dirty="0">
                <a:solidFill>
                  <a:srgbClr val="222E40"/>
                </a:solidFill>
                <a:latin typeface="Aptos"/>
              </a:rPr>
              <a:t>, </a:t>
            </a:r>
            <a:r>
              <a:rPr sz="2200" b="0" dirty="0" err="1">
                <a:solidFill>
                  <a:srgbClr val="222E40"/>
                </a:solidFill>
                <a:latin typeface="Aptos"/>
              </a:rPr>
              <a:t>formulários</a:t>
            </a:r>
            <a:r>
              <a:rPr sz="2200" b="0" dirty="0">
                <a:solidFill>
                  <a:srgbClr val="222E40"/>
                </a:solidFill>
                <a:latin typeface="Aptos"/>
              </a:rPr>
              <a:t> </a:t>
            </a:r>
            <a:r>
              <a:rPr sz="2200" b="0" dirty="0" err="1">
                <a:solidFill>
                  <a:srgbClr val="222E40"/>
                </a:solidFill>
                <a:latin typeface="Aptos"/>
              </a:rPr>
              <a:t>dinâmicos</a:t>
            </a:r>
            <a:r>
              <a:rPr sz="2200" b="0" dirty="0">
                <a:solidFill>
                  <a:srgbClr val="222E40"/>
                </a:solidFill>
                <a:latin typeface="Aptos"/>
              </a:rPr>
              <a:t>, APIs e </a:t>
            </a:r>
            <a:r>
              <a:rPr sz="2200" b="0" dirty="0" err="1">
                <a:solidFill>
                  <a:srgbClr val="222E40"/>
                </a:solidFill>
                <a:latin typeface="Aptos"/>
              </a:rPr>
              <a:t>calendários</a:t>
            </a:r>
            <a:r>
              <a:rPr sz="2200" b="0" dirty="0">
                <a:solidFill>
                  <a:srgbClr val="222E40"/>
                </a:solidFill>
                <a:latin typeface="Aptos"/>
              </a:rPr>
              <a:t> no </a:t>
            </a:r>
            <a:r>
              <a:rPr sz="2200" b="0" dirty="0" err="1">
                <a:solidFill>
                  <a:srgbClr val="222E40"/>
                </a:solidFill>
                <a:latin typeface="Aptos"/>
              </a:rPr>
              <a:t>AppSheet</a:t>
            </a:r>
            <a:endParaRPr sz="2200" b="0" dirty="0">
              <a:solidFill>
                <a:srgbClr val="222E4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4846320"/>
            <a:ext cx="5897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8FA3BF"/>
                </a:solidFill>
                <a:latin typeface="Aptos"/>
              </a:rPr>
              <a:t>Disciplina 1 — Módulo 3, Unidade 1  •  3 dias × 4h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19659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67728" y="2395728"/>
            <a:ext cx="1024128" cy="1024128"/>
          </a:xfrm>
          <a:prstGeom prst="roundRect">
            <a:avLst>
              <a:gd name="adj" fmla="val 1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168896" y="2596896"/>
            <a:ext cx="201168" cy="201168"/>
          </a:xfrm>
          <a:prstGeom prst="ellipse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79792" y="2606040"/>
            <a:ext cx="310896" cy="146304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68896" y="2980944"/>
            <a:ext cx="621792" cy="146304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5257800"/>
            <a:ext cx="1965960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5532120"/>
            <a:ext cx="1325880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5806440"/>
            <a:ext cx="822960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 / 69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Visão geral da Semana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2487168" cy="429768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600200"/>
            <a:ext cx="2487168" cy="502920"/>
          </a:xfrm>
          <a:prstGeom prst="roundRect">
            <a:avLst>
              <a:gd name="adj" fmla="val 12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709928"/>
            <a:ext cx="2121408" cy="230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DIA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86000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Planejando o projeto de forma ágil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154680"/>
            <a:ext cx="212140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Problemas reais das equipes; desafios e metas; vantagens do ágil, comparativo com o método tradicional e Scrum.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5" y="1600200"/>
            <a:ext cx="2487168" cy="429768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28415" y="1600200"/>
            <a:ext cx="2487168" cy="502920"/>
          </a:xfrm>
          <a:prstGeom prst="roundRect">
            <a:avLst>
              <a:gd name="adj" fmla="val 12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11296" y="1709928"/>
            <a:ext cx="2121408" cy="230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DIA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286000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Criando e delegando tarefas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3154680"/>
            <a:ext cx="212140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Quebra técnica de histórias em tarefas, esforço, quadro Kanban, papéis da equipe e prática de validação em formulário.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98464" y="1600200"/>
            <a:ext cx="2487168" cy="429768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98464" y="1600200"/>
            <a:ext cx="2487168" cy="502920"/>
          </a:xfrm>
          <a:prstGeom prst="roundRect">
            <a:avLst>
              <a:gd name="adj" fmla="val 12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1709928"/>
            <a:ext cx="2121408" cy="230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DIA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286000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Formulários dinâmicos e avaliação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154680"/>
            <a:ext cx="212140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Formulários dinâmicos e validação de dados no AppSheet; avaliação em equipe; visão geral de APIs e calendários.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 / 69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Objetivos da Aula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444752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44752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Planejar de forma ágil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767328"/>
            <a:ext cx="219456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Compreender as vantagens da metodologia ágil frente ao método tradicional e planejar o projeto com visão, metas e marcos.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8415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14800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Organizar o trabalho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767328"/>
            <a:ext cx="219456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Criar e delegar tarefas com quebra técnica, estimativa de esforço, quadro Kanban e papéis da equipe.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98464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84848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22E40"/>
                </a:solidFill>
                <a:latin typeface="Aptos"/>
              </a:rPr>
              <a:t>Formulários que validam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3767328"/>
            <a:ext cx="219456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Criar formulários dinâmicos com validação de dados no AppSheet e conhecer APIs e calendários na ferramenta.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8FA3BF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8FA3BF"/>
                </a:solidFill>
                <a:latin typeface="Aptos"/>
              </a:rPr>
              <a:t>4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914400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8FA3BF"/>
                </a:solidFill>
                <a:latin typeface="Aptos"/>
              </a:rPr>
              <a:t>SEMANA 6  •  DIA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7772400" cy="560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400" b="1" err="1">
                <a:solidFill/>
                <a:latin typeface="Aptos Display"/>
              </a:rPr>
              <a:t>Planejando</a:t>
            </a:r>
            <a:r>
              <a:rPr lang="pt-BR" sz="3400" b="1">
                <a:solidFill/>
                <a:latin typeface="Aptos Display"/>
              </a:rPr>
              <a:t> o </a:t>
            </a:r>
            <a:r>
              <a:rPr lang="pt-BR" sz="3400" b="1" err="1">
                <a:solidFill/>
                <a:latin typeface="Aptos Display"/>
              </a:rPr>
              <a:t>projeto</a:t>
            </a:r>
            <a:r>
              <a:rPr lang="pt-BR" sz="3400" b="1">
                <a:solidFill/>
                <a:latin typeface="Aptos Display"/>
              </a:rPr>
              <a:t> de forma </a:t>
            </a:r>
            <a:r>
              <a:rPr lang="pt-BR" sz="3400" b="1" err="1">
                <a:solidFill/>
                <a:latin typeface="Aptos Display"/>
              </a:rPr>
              <a:t>ágil</a:t>
            </a:r>
            <a:endParaRPr sz="3400" b="1" dirty="0">
              <a:latin typeface="Aptos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222E40"/>
                </a:solidFill>
                <a:latin typeface="Aptos"/>
              </a:rPr>
              <a:t>Abertura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da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semana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apresentação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dos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problemas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reais das equipes,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planejamento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dos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desafios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e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metas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e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conteúdo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vantagens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do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projeto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22E40"/>
                </a:solidFill>
                <a:latin typeface="Aptos"/>
              </a:rPr>
              <a:t>ágil</a:t>
            </a:r>
            <a:r>
              <a:rPr sz="1600" b="0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53949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49440" y="56235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Agenda do Dia 1 — 4 horas (com pausa)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60020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0h00–0h20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49961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Abertura da semana, objetivos e visão geral dos 3 dias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2140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24028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0h20–1h00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13969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Atividade: apresentação dos problemas reais pelas equipes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6148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88036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1h00–1h40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277977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Planejamento dos desafios e metas de cada equipe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0156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52044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1h40–2h00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341985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606E84"/>
                </a:solidFill>
                <a:latin typeface="Aptos"/>
              </a:rPr>
              <a:t>P A U S A  (20 minutos)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4164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16052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2h00–3h00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405993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Conteúdo: planejando o projeto de forma ágil (método tradicional x ágil, Scrum, visão, metas e marcos)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68172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80060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3h00–3h30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470001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Vídeos: métodos ágeis e Scrum + discussão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32180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44068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3h30–4h00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534009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Avaliação: cada aluno descreve as vantagens de um projeto ágil (1–2 min) e encerramento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989320"/>
            <a:ext cx="8001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Pausa de 20 minutos entre os blocos 3 e 4. Reserve 30 minutos para a avaliação final do 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Atividade: problemas reais das equipes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ATIVIDADE EM EQUIPE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Cada equipe apresenta seu problema real (até 5 min por equipe)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Descreva o problema que dá origem ao app: quem é o usuário, qual a dor vivida hoje e onde esse problema acontece.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A turma questiona e sugere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Cada apresentação recebe 2 perguntas da turma: 'o que o app precisa fazer primeiro?' e 'como o usuário saberá que funcionou?'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Registro no quadro da equipe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Anote em uma frase o problema e o usuário — esse registro alimenta o planejamento dos desafios e metas do próximo bloco.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7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Do problema às metas do projeto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Defina a visão inicial em uma frase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Para quem é o app, o que ele resolve e o resultado esperado ao final do curso.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Transforme o problema em desafios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Liste os desafios em ordem de prioridade: o que precisa existir primeiro para o usuário ter valor.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Escreva as metas da semana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Metas curtas e verificáveis, por exemplo: 'ter o cadastro de cliente funcionando com validação de telefone'.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Registre metas e marcos no cronograma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Marque onde cada meta entra no panorama de entregas — é o embrião do Roadmap do projeto.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8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O que é a metodologia ágil?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Surgiu da alta demanda por software e da necessidade de entregas rápidas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É uma forma de trabalhar que prioriza como o time se organiza e entrega.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Colaboração contínua com o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usuário acompanha e influencia o produto durante todo o desenvolvimento.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Entregas rápidas e frequentes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Em vez de uma grande entrega final, muitas entregas parciais e úteis.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Adaptação constante às mudanças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Requisitos podem mudar: o plano se ajusta sem perder o rumo.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08406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01091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Trabalho em equipe auto-organizado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equipe decide como fazer, respeitando prioridades e capacidades.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9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Projeto tradicional x projeto ágil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3931920" cy="502920"/>
          </a:xfrm>
          <a:prstGeom prst="roundRect">
            <a:avLst>
              <a:gd name="adj" fmla="val 14000"/>
            </a:avLst>
          </a:prstGeom>
          <a:solidFill>
            <a:srgbClr val="E4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91056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142341"/>
                </a:solidFill>
                <a:latin typeface="Aptos"/>
              </a:rPr>
              <a:t>MÉTODO TRADICIONAL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6592" y="1481328"/>
            <a:ext cx="3931920" cy="502920"/>
          </a:xfrm>
          <a:prstGeom prst="roundRect">
            <a:avLst>
              <a:gd name="adj" fmla="val 14000"/>
            </a:avLst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591056"/>
            <a:ext cx="3931920" cy="230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FFFFFF"/>
                </a:solidFill>
                <a:latin typeface="Aptos"/>
              </a:rPr>
              <a:t>MÉTODO ÁGIL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2276856"/>
            <a:ext cx="109728" cy="10972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5" y="2194560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Reúne primeiro TODOS os requisitos do produto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" y="2898648"/>
            <a:ext cx="109728" cy="10972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2415" y="2816352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Desenvolve todo o produto de uma vez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3520440"/>
            <a:ext cx="109728" cy="10972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5" y="3438144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Mostra ao usuário só no final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" y="4142232"/>
            <a:ext cx="109728" cy="10972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5" y="4059936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Mudanças descobertas tarde custam caro</a:t>
            </a:r>
          </a:p>
        </p:txBody>
      </p:sp>
      <p:sp>
        <p:nvSpPr>
          <p:cNvPr id="23" name="Oval 22"/>
          <p:cNvSpPr/>
          <p:nvPr/>
        </p:nvSpPr>
        <p:spPr>
          <a:xfrm>
            <a:off x="786384" y="4764024"/>
            <a:ext cx="109728" cy="10972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4681728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Arriscado com tempo e custo limitados</a:t>
            </a:r>
          </a:p>
        </p:txBody>
      </p:sp>
      <p:sp>
        <p:nvSpPr>
          <p:cNvPr id="25" name="Oval 24"/>
          <p:cNvSpPr/>
          <p:nvPr/>
        </p:nvSpPr>
        <p:spPr>
          <a:xfrm>
            <a:off x="4864607" y="2276856"/>
            <a:ext cx="109728" cy="10972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0" y="2194560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Requisitos evoluem durante o projeto</a:t>
            </a:r>
          </a:p>
        </p:txBody>
      </p:sp>
      <p:sp>
        <p:nvSpPr>
          <p:cNvPr id="27" name="Oval 26"/>
          <p:cNvSpPr/>
          <p:nvPr/>
        </p:nvSpPr>
        <p:spPr>
          <a:xfrm>
            <a:off x="4864607" y="2898648"/>
            <a:ext cx="109728" cy="10972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0" y="2816352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Desenvolve em pequenas partes (dividir para conquistar)</a:t>
            </a:r>
          </a:p>
        </p:txBody>
      </p:sp>
      <p:sp>
        <p:nvSpPr>
          <p:cNvPr id="29" name="Oval 28"/>
          <p:cNvSpPr/>
          <p:nvPr/>
        </p:nvSpPr>
        <p:spPr>
          <a:xfrm>
            <a:off x="4864607" y="3520440"/>
            <a:ext cx="109728" cy="10972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0" y="3438144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Usuário testa e influencia a cada entrega</a:t>
            </a:r>
          </a:p>
        </p:txBody>
      </p:sp>
      <p:sp>
        <p:nvSpPr>
          <p:cNvPr id="31" name="Oval 30"/>
          <p:cNvSpPr/>
          <p:nvPr/>
        </p:nvSpPr>
        <p:spPr>
          <a:xfrm>
            <a:off x="4864607" y="4142232"/>
            <a:ext cx="109728" cy="10972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20640" y="4059936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Feedback cedo = correção barata</a:t>
            </a:r>
          </a:p>
        </p:txBody>
      </p:sp>
      <p:sp>
        <p:nvSpPr>
          <p:cNvPr id="33" name="Oval 32"/>
          <p:cNvSpPr/>
          <p:nvPr/>
        </p:nvSpPr>
        <p:spPr>
          <a:xfrm>
            <a:off x="4864607" y="4764024"/>
            <a:ext cx="109728" cy="109728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0" y="4681728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Indicado para requisitos que mudam e ambientes inovadores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10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Do material: ágil × waterfall na prática</a:t>
            </a:r>
          </a:p>
        </p:txBody>
      </p:sp>
      <p:pic>
        <p:nvPicPr>
          <p:cNvPr id="10" name="Picture 9" descr="p08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753391"/>
            <a:ext cx="7680960" cy="27555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59, pág. 84.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Peça aos alunos que apontem 2 diferenças entre os fluxos antes de avançar.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11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Por que ágil no produto do nosso curso?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Restrições reais de tempo e 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produto precisa ficar pronto dentro do calendário e dos recursos do curso.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usuário precisa receber algo que atenda às suas necessidades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Ao final, entregamos da forma que atenda às necessidades do usuário — não só 'um app pronto'.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Requisitos podem mudar no caminho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Ao mostrar entregas parciais, descobrimos cedo o que ajustar.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É a recomendação do material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Seguiremos as recomendações da metodologia ágil durante todo o desenvolvimento (pág. 82).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12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Metodologias ágeis mais conhecidas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627632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27632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222E40"/>
                </a:solidFill>
                <a:latin typeface="Aptos"/>
              </a:rPr>
              <a:t>Scrum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767328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Muito desenvolvida no mercado; é a que adotaremos neste projeto, com backlog e sprints.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28416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97680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222E40"/>
                </a:solidFill>
                <a:latin typeface="Aptos"/>
              </a:rPr>
              <a:t>XP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67328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Foco em práticas técnicas de programação, como testes e integração contínua.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98464" y="1874519"/>
            <a:ext cx="2487168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67728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67728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2807208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1">
                <a:solidFill>
                  <a:srgbClr val="222E40"/>
                </a:solidFill>
                <a:latin typeface="Aptos"/>
              </a:rPr>
              <a:t>Kanban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767328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Quadro com cartões movidos entre colunas para visualizar e limitar o trabalho em andamento.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13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Neste projeto: Scrum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Escolhida por ser muito desenvolvida no mercado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Facilita encontrar referências, ferramentas e profissionais que a usam.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Seguiremos o roteiro da metodologia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Backlog, sprints e entregas parciais organizam o desenvolvimento do app.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material nos guia em cada passo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Do planejamento (Unidade 1) à execução das tarefas e entregas (Unidade 2).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Kanban entra como apoio visual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quadro de cartões ajuda a equipe a acompanhar o que está em andamento.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14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As 4 características da metodologia ágil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248155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48155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Colaboração contínua com o 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O dono do produto participa de perto e dá feedback sobre o que está sendo feito.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78124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78124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Entregas rápidas e frequentes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Pequenas partes úteis entregas a cada ciclo, em vez de uma grande entrega final.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5152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08092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8092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Adaptação constante às mudanças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6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Requisitos evoluem; o plano e o produto se ajustam a cada ciclo.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38060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38060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Equipe auto-organizada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A própria equipe distribui o trabalho com base em prioridades e capacidades.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15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Vídeo: métodos ágeis em 5 minutos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2200" b="1">
                <a:solidFill>
                  <a:srgbClr val="000000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Entenda o que são os métodos ágeis em 5 minutos [Decifrando Agile 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Brainss — Andriele Ribeiro  •  5min52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Explica em português, de forma direta, por que times usam métodos ágeis e o que os diferencia do modelo tradicional — base teórica do Dia 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1_1_metodos_age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1E979D"/>
                </a:solidFill>
                <a:latin typeface="Aptos"/>
                <a:hlinkClick r:id="rId4"/>
              </a:rPr>
              <a:t>https://www.youtube.com/watch?v=ds_FydzsuO8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metodologia ágil, entregas em partes, colaboração com o cliente.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16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Vídeo: introdução ao ágil e Scrum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2200" b="1">
                <a:solidFill>
                  <a:srgbClr val="000000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Uma Introdução ao Desenvolvimento Ágil e Scrum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Bóson Treinamentos  •  18min39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Introdução em português ao desenvolvimento ágil: a crise do software, o Manifesto Ágil, valores e princípios, e frameworks como Scrum, Kanban e XP.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1_2_scrum_10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1E979D"/>
                </a:solidFill>
                <a:latin typeface="Aptos"/>
                <a:hlinkClick r:id="rId4"/>
              </a:rPr>
              <a:t>https://www.youtube.com/watch?v=KaBPJDPRLAo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desenvolvimento ágil, manifesto ágil, Scrum.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17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Visão do projeto no Scrum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É o norte estratégico da equipe e dos stakeholders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Serve de guia durante todo o desenvolvimento — todos remetem a ela nas decisões.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Traz alinhamento, foco e motivação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equipe inteira conhece como será o produto e o que ele faz.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Não é documento burocrático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É uma ferramenta essencial que conecta estratégia, execução e valor.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Visão vaga gera desorganização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Ignorar a visão pode levar à desorganização, ao retrabalho e à perda de foco.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18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A visão do produto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Uma declaração clara e objetiva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Orienta a equipe sobre propósito, objetivos e resultados esperados ao final do projeto.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Une as partes interessadas em uma mesma direção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Todos sabem o que estamos fazendo, por que estamos fazendo e o que esperamos alcançar.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Exemplos do 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'Nosso produto auxilia nossos clientes a venderem mais'; 'facilita a vida do usuário final com praticidade de encontrar e contratar prestadores de serviço'.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Apresente e registre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Apresente em reuniões e registre em documentos norteadores: alinhamento, decisões mais fáceis, menos retrabalho.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19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Metas e marcos: dividir para conquistar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Marcos = módulos do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Funcionalidades priorizadas agrupadas: módulo de gerenciamento de usuário (cadastrar, logar, recuperar senha, editar informações).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Módulos grandes viram submódulos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Grupos de funcionalidades com objetivos comuns: cadastro de usuário; edição e exclusão; recuperação de senha.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Submódulos cabem em 1 a 2 semanas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Em no máximo 15 dias o usuário já testa o cadastro e a recuperação de senha.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Uso parcial gera aprendizado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Descobrimos se o usuário sabe usar e se era o que ele precisava, abrindo espaço para melhorias.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20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Do material: linha do tempo com marcos</a:t>
            </a:r>
          </a:p>
        </p:txBody>
      </p:sp>
      <p:pic>
        <p:nvPicPr>
          <p:cNvPr id="10" name="Picture 9" descr="p08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833" y="1417320"/>
            <a:ext cx="4742333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61, pág. 86.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Mostre como os marcos de 15 dias se encaixam no cronograma do app do curso.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21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Entregas de 15 dias e o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Linha do tempo com entregas a cada 15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Pequenas partes do sistema — módulos ou submódulos — entregues em sequência.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Roadmap: panorama dos módulos em cronograma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Dá a visão ampla do sistema; pode sofrer alterações conforme os requisitos mudam.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 ordem vem das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Para ter o Sistema de Notificação, é preciso antes ter o Gerenciamento de Usuários (ex. do material).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Exemplo: roadmap do agendamento de serviços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Usuários → Serviços → Agendamentos → Notificações, cada bloco com sua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22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Do material: roadmap do sistema de agendamento</a:t>
            </a:r>
          </a:p>
        </p:txBody>
      </p:sp>
      <p:pic>
        <p:nvPicPr>
          <p:cNvPr id="10" name="Picture 9" descr="p08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95" y="1417320"/>
            <a:ext cx="7299009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62, pág. 87.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Roadmap do app que as equipes vão construir — conecte com os desafios da semana.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23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Avaliação do Dia 1 — vantagens do projeto ágil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AVALIAÇÃO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Cada aluno tem de 1 a 2 minutos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Descreva VERBALMENTE as vantagens de um projeto ágil para o nosso produto — sem ler do caderno.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O que deve aparecer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Pelo menos 2 das 4 características da metodologia ágil e um exemplo concreto do app da equipe.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Como será registrado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professor marca quem falou e registra observações rápidas; a participação compõe a avaliação da semana.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74336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974336"/>
            <a:ext cx="91440" cy="84124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65776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Dica de estrutura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58384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1) Vantagem, 2) por que importa para o usuário, 3) exemplo no app de agendamento.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8FA3BF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8FA3BF"/>
                </a:solidFill>
                <a:latin typeface="Aptos"/>
              </a:rPr>
              <a:t>24 / 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DIA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7772400" cy="4943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000" b="1" err="1">
                <a:solidFill/>
                <a:latin typeface="Aptos Display"/>
              </a:rPr>
              <a:t>Encerramento</a:t>
            </a:r>
            <a:r>
              <a:rPr lang="pt-BR" sz="3000" b="1">
                <a:solidFill/>
                <a:latin typeface="Aptos Display"/>
              </a:rPr>
              <a:t> do Dia 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914400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8FA3BF"/>
                </a:solidFill>
                <a:latin typeface="Aptos"/>
              </a:rPr>
              <a:t>O que vimos hoje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79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Problemas reais apresentados e registrados pelas equipes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64991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273552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Metas e marcos planejados com visão e desafios priorizados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803903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12463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Vantagens do ágil x tradicional, com Scrum como roteiro do projeto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242816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151376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Avaliação verbal: 1-2 minutos por aluno sobre as vantagens do ágil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7316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8FA3BF"/>
                </a:solidFill>
                <a:latin typeface="Aptos"/>
              </a:rPr>
              <a:t>Próxima aula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11496"/>
            <a:ext cx="7772400" cy="481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pt-BR" sz="1450" b="0">
                <a:solidFill>
                  <a:srgbClr val="000000"/>
                </a:solidFill>
                <a:latin typeface="Aptos"/>
              </a:rPr>
              <a:t>Dia 2 — Criando e delegando tarefas: quebra técnica, estimativa de esforço, quadro Kanban, papéis da equipe e prática de validação em formulário no AppSheet.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8FA3BF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8FA3BF"/>
                </a:solidFill>
                <a:latin typeface="Aptos"/>
              </a:rPr>
              <a:t>25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914400" cy="5486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8FA3BF"/>
                </a:solidFill>
                <a:latin typeface="Aptos"/>
              </a:rPr>
              <a:t>SEMANA 6  •  DIA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7772400" cy="560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400" b="1">
                <a:solidFill/>
                <a:latin typeface="Aptos Display"/>
              </a:rPr>
              <a:t>Criando e </a:t>
            </a:r>
            <a:r>
              <a:rPr lang="pt-BR" sz="3400" b="1" err="1">
                <a:solidFill/>
                <a:latin typeface="Aptos Display"/>
              </a:rPr>
              <a:t>delegando</a:t>
            </a:r>
            <a:r>
              <a:rPr lang="pt-BR" sz="3400" b="1">
                <a:solidFill/>
                <a:latin typeface="Aptos Display"/>
              </a:rPr>
              <a:t> </a:t>
            </a:r>
            <a:r>
              <a:rPr lang="pt-BR" sz="3400" b="1" err="1">
                <a:solidFill/>
                <a:latin typeface="Aptos Display"/>
              </a:rPr>
              <a:t>tarefas</a:t>
            </a:r>
            <a:endParaRPr sz="3400" b="1" dirty="0">
              <a:latin typeface="Aptos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Da história de usuário às tarefas: quebra técnica, esforço, quadro Kanban, papéis da equipe e prática de validação em um formulário.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53949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49440" y="56235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26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Agenda do Dia 2 — 4 horas (com pausa)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60020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0h00–0h15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49961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Retomada do Dia 1 e agenda do 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2140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24028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0h15–1h15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13969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Conteúdo: criando tarefas (quebra técnica, escopo e esforço)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6148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88036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1h15–2h00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277977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Conteúdo: delegando tarefas (auto-organização, Kanban, papéis)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0156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52044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2h00–2h20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341985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606E84"/>
                </a:solidFill>
                <a:latin typeface="Aptos"/>
              </a:rPr>
              <a:t>P A U S A  (20 minutos)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4164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16052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2h20–3h00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405993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Atividade: montar o quadro Kanban da equipe + vídeo de apoio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68172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80060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3h00–3h40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470001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Prática: criar uma validação em um formulário no AppSheet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32180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44068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3h40–4h00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534009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H5P: 'Complete as palavras sobre projeto ágil' e encerramento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989320"/>
            <a:ext cx="8001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A prática de validação usa as propriedades de coluna do AppSheet (pág. 63 do material). O H5P fecha o 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27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Do backlog à sprint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backlog reúne tudo que precisa ser produzido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Todas as funcionalidades do sistema que serão desenvolvidas ao longo das sprints.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 sprint é o ciclo de 15 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Algumas histórias do usuário são escolhidas para serem trabalhadas no ciclo.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Cada história pode virar uma ou mais tarefas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As tarefas precisam ser concluídas dentro dos 15 dias da sprint.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Não coube? Vai para a sprint seguinte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 a capacidade da equipe precisa ser repensada — sinal de estimativa a revisar.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28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Criando tarefas: a quebra técnica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Transformar backlog em tarefas é essencial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história de usuário é quebrada em tarefas para facilitar a execução durante a sprint.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 quebra técnica esclarece e distribui o trabalho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equipe compreende o que deve ser feito e divide de forma eficiente.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Tarefas pequenas, objetivas e com escopo claro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Uma tarefa é feita por uma ou duas pessoas dentro do intervalo de 15 dias.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Muito grande? Quebre de novo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Tarefas fora dessas características devem ser divididas em tarefas menores.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29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Exemplo do material: 'Agendar um serviço'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 história de usuário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'Como cliente, quero agendar um serviço pelo app para não precisar ligar para o prestador.'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Quebrando em tarefas técnicas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Criar a tela de agendamento com campos de data e hora; escolher o serviço e o cliente; salvar o registro; confirmar ou cancelar.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Cada tarefa cabe em uma ou duas pessoas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Se 'montar a tela completa' for grande demais, quebre em subtelas e formulários.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Desse conjunto nasce a sprint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As tarefas da história entram no quadro e são estimadas no bloco seguinte.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30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Estimando o esforço das tarefas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Estime em horas cada tarefa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Além das ações descritas, estime a carga de trabalho — isso equilibra a distribuição.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Analise o que a tarefa exige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Tecnologias necessárias, relações com outras tarefas, cadastros envolvidos e complexidade.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Mal estimado é normal no começo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Equipes iniciantes e produtos inovadores erram na estimativa — e isso é esperado.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 experiência torna a equipe mais assertiva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Com o tempo, o cálculo das estimativas fica mais preciso.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31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Delegando tarefas: auto-organização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Delegação colaborativa, transparente e flexível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Sempre respeitando a autonomia da equipe.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No Scrum não é o líder que 'manda'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É a equipe que se auto-organiza com base em prioridades e capacidades.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Histórias viram tarefas menores e técnicas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 cada membro assume o que consegue executar bem no ciclo.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papel do professor aqui é de coach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Mediar conflitos e garantir transparência, não distribuir tarefas arbitrariamente.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32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Pull, não push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Deixe a equipe escolher as tarefas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Em vez de atribuir, incentive que os membros 'puxem' as tarefas do board.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Puxe conforme disponibilidade, habilidade ou interesse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Isso reforça o senso de propriedade e a motivação de cada membro.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Combinado com a estimativa em horas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soma do que cada um puxa deve caber na capacidade real da sprint.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Quadro visível para todos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cartão movido mostra a todos quem está fazendo o quê.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33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Kanban: o quadro visual do fluxo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Cada tarefa é um cartão no quadro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Movido entre colunas conforme o trabalho avança.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Colunas clássicas do fluxo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'A fazer', 'Em andamento', 'Concluído' — o modelo simples To Do / Doing / Done.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Fluxo completo do 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Backlog, Design, A fazer, Em andamento, Revisão de código, Fase de teste e Concluído.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Para que 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Visão clara do progresso, identificação de gargalos e gestão do tempo da equipe.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34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Evite sobrecarga e multitarefa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Delegue com base na capacidade real da sprint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Evite atribuir tudo de uma vez ao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Ninguém com muitas tarefas simultâneas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Evite sobrecarga: melhor focar em uma tarefa por vez até concluir.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WIP alto esconde gargalos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Com tudo 'em andamento', nada termina — o quadro perde a função de sinalizar.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Terminar antes de começar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Conclua o cartão atual e só então puxe o próximo.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35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Equipes e papéis no projeto ágil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Equipe de 5 a 9 pessoas, com 1 ou mais papéis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Os principais: desenvolvedor, gerente do produto e dono do produto.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Desenvolvedor — executa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Cria de fato o sistema; no nosso projeto, quem constrói o app no AppSheet/FlutterFlow.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Gerente do produto — organiza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Cria tarefas, resolve conflitos interpessoais, lida com o cliente.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Dono do produto — o cliente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Faz parte da equipe: está muito próximo do que é desenvolvido e dá feedback.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08406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01091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Subpapéis dentro do desenvolvedor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Designer, testador, codificador (montador) — equipe multidisciplinar e autônoma.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36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Vídeo: quadro Kanban na prática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2200" b="1">
                <a:solidFill>
                  <a:srgbClr val="000000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Como fazer um quadro Kanban no Notion (Passo a Passo)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Bruna Alice  •  6min40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Tutorial em português que monta um quadro Kanban com colunas 'A fazer', 'Em andamento' e 'Concluído', criando cartões de tarefas com prazo e responsável.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2_1_kanban_n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266FAD"/>
                </a:solidFill>
                <a:latin typeface="Aptos"/>
                <a:hlinkClick r:id="rId4"/>
              </a:rPr>
              <a:t>https://www.youtube.com/watch?v=X8y32TdaR-I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quadro Kanban, colunas, cartões de tarefas, organização visual.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37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Vídeo: delegação de tarefas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2200" b="1">
                <a:solidFill>
                  <a:srgbClr val="000000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Liderança por Abilio Diniz — Como Delegar Tarefas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Abilio Diniz  •  1min03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Mensagem curta de um grande gestor brasileiro sobre delegação: escolher bem a pessoa, explicar o que quer, dar autonomia e acompanhar.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26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2_2_deleg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266FAD"/>
                </a:solidFill>
                <a:latin typeface="Aptos"/>
                <a:hlinkClick r:id="rId4"/>
              </a:rPr>
              <a:t>https://www.youtube.com/watch?v=QY9774uclnM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delegação, confiança na equipe, acompanhamento.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38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Atividade: o quadro Kanban da equipe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ATIVIDADE EM EQUIPE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Monte o quadro com 3 colunas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fazer • Em andamento • Concluído (papel, quadro branco ou ferramenta digital).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Transforme a história escolhida em cartões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Uma tarefa por cartão, com nome, estimativa em horas e responsável, quando já houver.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Cada membro puxa o primeiro cartão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Ninguém recebe nada 'empurrado': puxe por disponibilidade, habilidade ou interesse.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74336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974336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65776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Simule a sprint de 15 dias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58384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Percorra os cartões: o que entra nesta sprint? Algo precisa ser quebrado ainda mais?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39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Prática: validação em um formulário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AppSheet gera formulários automaticamente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Ao configurar as tabelas, os formulários já surgem — e nós os ajustamos.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As propriedades da coluna controlam o formulário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Show? define se o campo aparece; Editable? se pode ser editado; Require? se é obrigatório.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Initial Value e Display Name refinam a experiência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Valor padrão (ex.: NOW(), UNIQUEID()) e o nome amigável exibido no app.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Type também valida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tipo de dado afeta como o conteúdo é exibido e validado: Phone, Email, Date, Number, Enum...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40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Roteiro da prática de validação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65176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PRÁTICA GUIADA NO APPSHEET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01952"/>
            <a:ext cx="8001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222E40"/>
                </a:solidFill>
                <a:latin typeface="Aptos"/>
              </a:rPr>
              <a:t>No app da equipe, tornar o campo Telefone do Cliente obrigatório e validado por tipo (pág. 63).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395728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473452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09444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Abra o AppSheet e vá em Data &gt; tabela Cliente &gt; colunas.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2907792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985516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921508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Selecione a coluna Telefone_Cliente e confirme Type = Phone.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419856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497580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33572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Marque Require? para tornar o campo obrigatório.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3931920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009644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945636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Ajuste Display Name ('Telefone do cliente') e a Description (dica visível no app).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4443984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521708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57700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Salve (Save) e teste no emulador: tente salvar o formulário sem telefone.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" y="4956048"/>
            <a:ext cx="365760" cy="365760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033772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969764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Registre no quadro da equipe a tarefa concluída e mova o cartão para 'Concluído'.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41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H5P: Complete as palavras sobre projeto ágil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ATIVIDADE INTERATIVA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Atividade interativa de fixação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Complete as lacunas com as palavras-chave da semana sobre projeto ágil.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Palavras do banco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ÁGIL • SPRINT • BACKLOG • KANBAN • CLIENTE • TAREFAS • ENTREGAS • EQUIPE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Exemplos de frases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'O ______ reúne tudo que precisa ser produzido.' / 'Cada tarefa é um cartão no quadro ______.' / 'No Scrum, a ______ dura 15 dias.'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74336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974336"/>
            <a:ext cx="91440" cy="84124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65776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Jogue em duplas e depois corrija em turma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58384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Quem errar volta ao slide correspondente do dia para revisar o conceito.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8FA3BF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8FA3BF"/>
                </a:solidFill>
                <a:latin typeface="Aptos"/>
              </a:rPr>
              <a:t>42 / 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DIA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7772400" cy="4943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000" b="1" err="1">
                <a:solidFill/>
                <a:latin typeface="Aptos Display"/>
              </a:rPr>
              <a:t>Encerramento</a:t>
            </a:r>
            <a:r>
              <a:rPr lang="pt-BR" sz="3000" b="1">
                <a:solidFill/>
                <a:latin typeface="Aptos Display"/>
              </a:rPr>
              <a:t> do Dia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914400" cy="54864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8FA3BF"/>
                </a:solidFill>
                <a:latin typeface="Aptos"/>
              </a:rPr>
              <a:t>O que vimos hoje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79"/>
            <a:ext cx="128016" cy="128016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Histórias de usuário quebradas em tarefas com escopo claro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64991"/>
            <a:ext cx="128016" cy="128016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273552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Esforço estimado em horas para distribuição equilibrada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803903"/>
            <a:ext cx="128016" cy="128016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12463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Quadro Kanban montado com dinâmica de pull, sem sobrecarga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242816"/>
            <a:ext cx="128016" cy="128016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151376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Validação prática: campo obrigatório e validado por tipo no formulário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681728"/>
            <a:ext cx="128016" cy="128016"/>
          </a:xfrm>
          <a:prstGeom prst="ellipse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>
                <a:solidFill>
                  <a:srgbClr val="222E40"/>
                </a:solidFill>
                <a:latin typeface="Aptos"/>
              </a:rPr>
              <a:t>Fixação com o H5P de palavras sobre projeto ágil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2120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8FA3BF"/>
                </a:solidFill>
                <a:latin typeface="Aptos"/>
              </a:rPr>
              <a:t>Próxima aula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50408"/>
            <a:ext cx="7772400" cy="481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pt-BR" sz="1450" b="0">
                <a:solidFill>
                  <a:srgbClr val="000000"/>
                </a:solidFill>
                <a:latin typeface="Aptos"/>
              </a:rPr>
              <a:t>Dia 3 — Formulários dinâmicos e validação de dados no AppSheet, avaliação em equipe e visão geral de APIs e calendários.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8FA3BF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8FA3BF"/>
                </a:solidFill>
                <a:latin typeface="Aptos"/>
              </a:rPr>
              <a:t>43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914400" cy="5486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8FA3BF"/>
                </a:solidFill>
                <a:latin typeface="Aptos"/>
              </a:rPr>
              <a:t>SEMANA 6  •  DIA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7772400" cy="11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400" b="1" err="1">
                <a:solidFill/>
                <a:latin typeface="Aptos Display"/>
              </a:rPr>
              <a:t>Formulários</a:t>
            </a:r>
            <a:r>
              <a:rPr lang="pt-BR" sz="3400" b="1">
                <a:solidFill/>
                <a:latin typeface="Aptos Display"/>
              </a:rPr>
              <a:t> </a:t>
            </a:r>
            <a:r>
              <a:rPr lang="pt-BR" sz="3400" b="1" err="1">
                <a:solidFill/>
                <a:latin typeface="Aptos Display"/>
              </a:rPr>
              <a:t>dinâmicos</a:t>
            </a:r>
            <a:r>
              <a:rPr lang="pt-BR" sz="3400" b="1">
                <a:solidFill/>
                <a:latin typeface="Aptos Display"/>
              </a:rPr>
              <a:t>, </a:t>
            </a:r>
            <a:r>
              <a:rPr lang="pt-BR" sz="3400" b="1" err="1">
                <a:solidFill/>
                <a:latin typeface="Aptos Display"/>
              </a:rPr>
              <a:t>validação</a:t>
            </a:r>
            <a:r>
              <a:rPr lang="pt-BR" sz="3400" b="1">
                <a:solidFill/>
                <a:latin typeface="Aptos Display"/>
              </a:rPr>
              <a:t>, APIs e </a:t>
            </a:r>
            <a:r>
              <a:rPr lang="pt-BR" sz="3400" b="1" err="1">
                <a:solidFill/>
                <a:latin typeface="Aptos Display"/>
              </a:rPr>
              <a:t>calendários</a:t>
            </a:r>
            <a:endParaRPr sz="3400" b="1" dirty="0">
              <a:latin typeface="Aptos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Formulários dinâmicos e condicionais, validação de dados no AppSheet, avaliação em equipe e visão geral de APIs e calendários.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539496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49440" y="56235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44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Agenda do Dia 3 — 4 horas (com pausa)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60020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0h00–0h15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49961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Retomada do Dia 2 e agenda do 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2140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24028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0h15–1h15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13969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Conteúdo: formulários dinâmicos e condicionais no AppSheet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6148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88036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1h15–2h00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277977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Conteúdo: validação de dados (Require?, tipos, Enum, referências)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0156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52044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2h00–2h20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341985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606E84"/>
                </a:solidFill>
                <a:latin typeface="Aptos"/>
              </a:rPr>
              <a:t>P A U S A  (20 minutos)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4164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16052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2h20–3h20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405993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Avaliação: cada equipe cria e apresenta um formulário dinâmico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68172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80060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3h20–3h50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470001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Visão geral: APIs (Google Maps e WhatsApp) e calendários no AppSheet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321808"/>
            <a:ext cx="1508760" cy="475488"/>
          </a:xfrm>
          <a:prstGeom prst="roundRect">
            <a:avLst>
              <a:gd name="adj" fmla="val 14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440680"/>
            <a:ext cx="1508760" cy="189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50" b="1">
                <a:solidFill>
                  <a:srgbClr val="000000"/>
                </a:solidFill>
                <a:latin typeface="Aptos"/>
              </a:rPr>
              <a:t>3h50–4h00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5340096"/>
            <a:ext cx="6263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E40"/>
                </a:solidFill>
                <a:latin typeface="Aptos"/>
              </a:rPr>
              <a:t>Síntese da semana, checklist do aluno e encerramento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989320"/>
            <a:ext cx="8001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A avaliação em equipe ocupa 1h: criação e apresentação do formulário dinâmico.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45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Formulários no AppSheet: ponto de partida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AppSheet gera formulários automaticamente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partir das tabelas, como vimos nas semanas anteriores.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Podemos editar cada formulário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Em SYSTEM GENERATED &gt; tabela &gt; _Form, ajustamos o que aparece e em que ordem.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Column order: Manual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No formulário de Agendamento do material, as colunas são reordenadas manualmente (pág. 105).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Esconder o que não é necessário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No RegistraAgendamento_Form, quase todas as colunas saem, ficando Data e Hora (pág. 106).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46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Do material: o app do curso em ação</a:t>
            </a:r>
          </a:p>
        </p:txBody>
      </p:sp>
      <p:pic>
        <p:nvPicPr>
          <p:cNvPr id="10" name="Picture 9" descr="p09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539" y="1417320"/>
            <a:ext cx="2306920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64, pág. 91.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Tela real do app com lista e ações — referência do que as equipes alcançarão.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47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Propriedades que moldam o formulário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248155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48155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Show?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Define se o campo será visível no formulário — a chave dos formulários dinâmicos.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78124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78124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Require?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Campo obrigatório: o app não salva sem o dado preenchido.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5152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08092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8092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Initial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6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Valor padrão: NOW() para data e hora, UNIQUEID() para chaves, 'Residência' para o local.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38060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38060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Type / Display 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O tipo valida o dado (Phone, Email, Date, Enum); o Display Name mostra o nome amigável no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48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Formulários dinâmicos e condicionais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Campos que respondem às escolhas do usuário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formulário mostra, esconde ou ajusta campos conforme as respostas anteriores.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Por que usar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Formulários mais curtos, sem perguntas irrelevantes e com menos erros de preenchimento.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Exemplo com as tabelas do 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No Agendamento: se Tipo_Atendimento = 'Mensal', mostrar Frequencia_Semanal e Data_Inicio; se for evento, mostrar a quantidade.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Como se faz no AppSheet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Condições nas propriedades da coluna (Show_If) e listas dependentes entre campos.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49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Vídeo: listas dependentes no AppSheet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2200" b="1">
                <a:solidFill>
                  <a:srgbClr val="000000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Menus Dependentes e Sincronizados - Google AppSheet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Webdesign em Foco  •  8min28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Tutorial em português que cria menus dependentes com Valid_If no AppSheet: as opções de um campo mudam conforme o valor escolhido no anterior.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3_1_dependent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6953A5"/>
                </a:solidFill>
                <a:latin typeface="Aptos"/>
                <a:hlinkClick r:id="rId4"/>
              </a:rPr>
              <a:t>https://www.youtube.com/watch?v=g7ikKJS3A_E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menu dependente, Valid_If, formulário dinâmico.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50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Vídeo: formulário dinâmico na prática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2200" b="1">
                <a:solidFill>
                  <a:srgbClr val="000000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Como fazer um app de Controle Financeiro na AppSheet? APP TUTORIAL - Aula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SkillKey (Matheus Lopes)  •  51min44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Aula completa em português: monte um formulário dinâmico na prática, com campos que aparecem ou somem conforme a resposta (colunas condicionais) e validação de dados.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3_2_show_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6953A5"/>
                </a:solidFill>
                <a:latin typeface="Aptos"/>
                <a:hlinkClick r:id="rId4"/>
              </a:rPr>
              <a:t>https://www.youtube.com/watch?v=D-w5l4aBI8w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campos condicionais, formulário dinâmico, validação de dados.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51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Validação de dados no AppSheet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Require? — o básico da validação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formulário não salva sem o campo obrigatório preenchido.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Tipo de dado valida o formato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Phone, Email, Date, Number e Price rejeitam entradas fora do formato esperado.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Enum — lista fechada de valores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Local_Atendimento: 'Residência'; Controle_Pagamento: 'Pré-Pago' (valores do material).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Valores vindos da planilha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Colunas podem puxar valores da planilha (ex.: Cor_Calendario) com Autocomplete de outros valores.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08406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01091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Referências entre tabelas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ID_Agendamento do tipo Ref aponta para a tabela Agendamento — Source table define a origem.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52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Exemplo do material: o formulário de Agendamento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Organizado em 3 páginas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Texto Informativo 1, 2 e 3 dividem o formulário em blocos legíveis.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Ordem manual das colunas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Cliente → Related RegistraAgendamentos → Serviço → Local_Atendimento → Controle_Altera_Valor → Valor_Receber → Endereços → Controle_Pagamento.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Colunas de controle com Enum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Controle_Altera_Valor ('Não') e Controle_Pagamento ('Pré-Pago') com valores padrão.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Validação espalhada pelo formulário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Campos Ref, Enum e de valor com Initial Value — tudo configurado na tabela (págs. 98-101).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53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Do material: editando o formulário de Agendamento</a:t>
            </a:r>
          </a:p>
        </p:txBody>
      </p:sp>
      <p:pic>
        <p:nvPicPr>
          <p:cNvPr id="10" name="Picture 9" descr="p10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515491"/>
            <a:ext cx="7680960" cy="36206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79, pág. 105.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Mostre os campos do formulário e onde entra a validação prática da semana.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54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Prática: validar os dados do seu formulário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65176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PRÁTICA GUIADA NO APPSHEET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01952"/>
            <a:ext cx="8001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222E40"/>
                </a:solidFill>
                <a:latin typeface="Aptos"/>
              </a:rPr>
              <a:t>Aquecimento para a avaliação: aplicar validação real no app da equipe.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395728"/>
            <a:ext cx="365760" cy="365760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473452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09444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Escolha no app da equipe um formulário com campo crítico (telefone, data, valor...).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2907792"/>
            <a:ext cx="365760" cy="365760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985516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921508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Marque Require? no campo crítico e confira o Type (Phone, Date, Number...).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419856"/>
            <a:ext cx="365760" cy="365760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497580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33572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Transforme uma escolha em Enum com lista fechada de valores.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3931920"/>
            <a:ext cx="365760" cy="365760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009644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945636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Defina Initial Value para ao menos um campo (ex.: NOW()).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4443984"/>
            <a:ext cx="365760" cy="365760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521708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57700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Teste no emulador: tente salvar vazio e com dados fora do formato.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" y="4956048"/>
            <a:ext cx="365760" cy="365760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033772"/>
            <a:ext cx="36576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000000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969764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Anote o resultado: o que o formulário impediu? O que ainda falta validar?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55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Do material: editando o formulário de RegistraAgendamento</a:t>
            </a:r>
          </a:p>
        </p:txBody>
      </p:sp>
      <p:pic>
        <p:nvPicPr>
          <p:cNvPr id="10" name="Picture 9" descr="p10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981" y="1417320"/>
            <a:ext cx="3616036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80, pág. 106.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Segundo formulário do app — compare os campos com o anterior.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56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Avaliação — formulário dinâmico em equipe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2476"/>
            <a:ext cx="237744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AVALIAÇÃO EM EQUIPE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11680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Cada equipe CRIA um formulário dinâmico no AppSheet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95728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No app da equipe: campos que aparecem/escondem conforme uma escolha (Show_If ou lista dependente).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2999232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90672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Com validação de dados funcionando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Ao menos um campo obrigatório (Require?), um tipo validador e um Enum com lista fechada.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86784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986784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Cada equipe APRESENTA para a turma (até 5 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Mostre o formulário funcionando e explique as escolhas: o que é dinâmico, o que valida e por quê.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74336"/>
            <a:ext cx="8001000" cy="841248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974336"/>
            <a:ext cx="91440" cy="841248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65776"/>
            <a:ext cx="7543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E40"/>
                </a:solidFill>
                <a:latin typeface="Aptos"/>
              </a:rPr>
              <a:t>Tempo: 40 min de criação + apresentações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58384"/>
            <a:ext cx="7543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Use o roteiro do slide anterior como trilha; o resultado substitui a lista de exercícios desta semana.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57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Critérios de avaliação do formulário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248155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48155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Dinâmica funcionando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Ao menos um campo aparece ou some conforme a resposta do usuário — 2,5 pontos.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78124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78124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Validação de 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Obrigatório, tipo correto e lista fechada de valores — 2,5 pontos.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5152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08092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8092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Organização e usabilidade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6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Ordem dos campos, textos informativos e nomes amigáveis — 2,5 pontos.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874519"/>
            <a:ext cx="1874519" cy="3383280"/>
          </a:xfrm>
          <a:prstGeom prst="rect">
            <a:avLst/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38060" y="207568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38060" y="2185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400" b="1">
                <a:solidFill>
                  <a:srgbClr val="000000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2807208"/>
            <a:ext cx="158191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Apresentação da equipe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767328"/>
            <a:ext cx="158191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Demonstração clara das escolhas e do teste de erro — 2,5 pontos.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58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Vídeo: AppSheet + Google Calendar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04188"/>
            <a:ext cx="2103120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100" b="1">
                <a:solidFill>
                  <a:srgbClr val="000000"/>
                </a:solidFill>
                <a:latin typeface="Aptos"/>
              </a:rPr>
              <a:t>VÍDEO DE APOIO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2200" b="1">
                <a:solidFill>
                  <a:srgbClr val="000000"/>
                </a:solidFill>
                <a:latin typeface="Apto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22E40"/>
                </a:solidFill>
                <a:latin typeface="Aptos"/>
              </a:rPr>
              <a:t>Conecte o AppSheet ao Google Calendário e crie eventos automaticamente (Parte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Academia Brasileira de Appsheet  •  10min05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377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Canal brasileiro: conecta o app do AppSheet ao Google Calendar para criar eventos automaticamente a partir dos agendamentos do aplicativo.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60020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F0F8FF"/>
          </a:solidFill>
          <a:ln w="15240">
            <a:solidFill>
              <a:srgbClr val="695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3_3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83080"/>
            <a:ext cx="233172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06E84"/>
                </a:solidFill>
                <a:latin typeface="Aptos"/>
              </a:rPr>
              <a:t>Aponte a câmera do celular ou clique: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5537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50" b="1" u="sng">
                <a:solidFill>
                  <a:srgbClr val="6953A5"/>
                </a:solidFill>
                <a:latin typeface="Aptos"/>
                <a:hlinkClick r:id="rId4"/>
              </a:rPr>
              <a:t>https://www.youtube.com/watch?v=gkULvcWBM5M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1208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06E84"/>
                </a:solidFill>
                <a:latin typeface="Aptos"/>
              </a:rPr>
              <a:t>Temas: integração com Google Calendar, automação de eventos, agendamentos.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59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Visão geral: APIs no AppSheet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O app conversa com serviços externos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APIs integram o AppSheet a serviços como WhatsApp e Google Maps (Unidade 1 do material).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Google Maps: a tela de localização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REFERENCE VIEWS &gt; Add View; View Type 'map'; Map Column 'Localização do Cliente'; Map Type 'Road'; Location Mode 'Normal'.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WhatsApp: trocando o SMS padrão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Em Actions, uma action 'External: go to a website' abre o WhatsApp do cliente no lugar do SMS.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 fórmula do botão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CONCATENATE("https://wa.me/", "+55", [Telefone_Cliente], "?text=", SUBSTITUTE(...)) monta a mensagem com nome e saudação.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60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Do material: Google Maps dentro do app</a:t>
            </a:r>
          </a:p>
        </p:txBody>
      </p:sp>
      <p:pic>
        <p:nvPicPr>
          <p:cNvPr id="10" name="Picture 9" descr="p09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701995"/>
            <a:ext cx="7680960" cy="29424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69, pág. 94.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Exemplo de integração com API externa (Google Maps) explorada nas próximas semanas.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61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Visão geral: calendários no AppSheet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Tabelas Agendamento e RegistraAgendamento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A tabela de agendamento é configurada em 3 páginas; a de registro guarda data, hora e controles.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Colunas virtuais montam a descrição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CONCATENATE de nome do cliente + descrição do serviço aparece como descrição do evento.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A view do calendário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Nova view 'Agendamentos': For this data = RegistraAgendamento; View Type = 'calendar'; Start/End date = Data; Start/End time = Hora.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Para onde isso caminha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Com a view pronta, a integração com o Google Calendar (vídeo anterior) cria os eventos automaticamente.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62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Do material: action que abre o WhatsApp</a:t>
            </a:r>
          </a:p>
        </p:txBody>
      </p:sp>
      <p:pic>
        <p:nvPicPr>
          <p:cNvPr id="10" name="Picture 9" descr="p09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760" y="1417320"/>
            <a:ext cx="7390479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72, pág. 96.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Integração com API do WhatsApp via wa.me — mostre a fórmula CONCATENATE da pág. 96.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63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Preparando as próximas semanas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60934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3619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Telas de Serviços em vídeos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O material conclui as telas de Serviços por vídeos e a de Agendamentos com calendário em sala.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78024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Identidade do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7063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Settings &gt; Theme &amp; Brand: Primary color, App logo e a opção 'Show view name in header'.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4670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273551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Tela inicial do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1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Settings &gt; General &gt; Starting view: selecionar a view Agendamentos.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15383"/>
            <a:ext cx="146304" cy="146304"/>
          </a:xfrm>
          <a:prstGeom prst="ellipse">
            <a:avLst/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42232"/>
            <a:ext cx="7452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Fluxo de trabalho na Unidade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07992"/>
            <a:ext cx="7452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Execução das tarefas até as entregas, com Trello, estimativas e datas — base para a sprint da equipe.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64 / 69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Síntese da Semana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DIA 1 — Planejamento ágil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Problemas reais e metas das equipes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Ágil x tradicional (4 características)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Scrum como roteiro do projeto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0704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Visão, metas, marcos e roadmap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28415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11296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DIA 2 — Tarefas e delegação</a:t>
            </a:r>
          </a:p>
        </p:txBody>
      </p:sp>
      <p:sp>
        <p:nvSpPr>
          <p:cNvPr id="21" name="Oval 20"/>
          <p:cNvSpPr/>
          <p:nvPr/>
        </p:nvSpPr>
        <p:spPr>
          <a:xfrm>
            <a:off x="3511296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0752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Quebra técnica e escopo claro</a:t>
            </a:r>
          </a:p>
        </p:txBody>
      </p:sp>
      <p:sp>
        <p:nvSpPr>
          <p:cNvPr id="23" name="Oval 22"/>
          <p:cNvSpPr/>
          <p:nvPr/>
        </p:nvSpPr>
        <p:spPr>
          <a:xfrm>
            <a:off x="3511296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30752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Esforço estimado em horas</a:t>
            </a:r>
          </a:p>
        </p:txBody>
      </p:sp>
      <p:sp>
        <p:nvSpPr>
          <p:cNvPr id="25" name="Oval 24"/>
          <p:cNvSpPr/>
          <p:nvPr/>
        </p:nvSpPr>
        <p:spPr>
          <a:xfrm>
            <a:off x="3511296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30752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Kanban: pull, colunas, cartões</a:t>
            </a:r>
          </a:p>
        </p:txBody>
      </p:sp>
      <p:sp>
        <p:nvSpPr>
          <p:cNvPr id="27" name="Oval 26"/>
          <p:cNvSpPr/>
          <p:nvPr/>
        </p:nvSpPr>
        <p:spPr>
          <a:xfrm>
            <a:off x="3511296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30752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Papéis: desenvolvedor, gerente, dono</a:t>
            </a:r>
          </a:p>
        </p:txBody>
      </p:sp>
      <p:sp>
        <p:nvSpPr>
          <p:cNvPr id="29" name="Oval 28"/>
          <p:cNvSpPr/>
          <p:nvPr/>
        </p:nvSpPr>
        <p:spPr>
          <a:xfrm>
            <a:off x="3511296" y="4727448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30752" y="46360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Validação básica no formulário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98464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81344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DIA 3 — Formulários e integrações</a:t>
            </a:r>
          </a:p>
        </p:txBody>
      </p:sp>
      <p:sp>
        <p:nvSpPr>
          <p:cNvPr id="33" name="Oval 32"/>
          <p:cNvSpPr/>
          <p:nvPr/>
        </p:nvSpPr>
        <p:spPr>
          <a:xfrm>
            <a:off x="6181344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Formulários dinâmicos (Show_If)</a:t>
            </a:r>
          </a:p>
        </p:txBody>
      </p:sp>
      <p:sp>
        <p:nvSpPr>
          <p:cNvPr id="35" name="Oval 34"/>
          <p:cNvSpPr/>
          <p:nvPr/>
        </p:nvSpPr>
        <p:spPr>
          <a:xfrm>
            <a:off x="6181344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Validação: Require?, tipo, Enum, Ref</a:t>
            </a:r>
          </a:p>
        </p:txBody>
      </p:sp>
      <p:sp>
        <p:nvSpPr>
          <p:cNvPr id="37" name="Oval 36"/>
          <p:cNvSpPr/>
          <p:nvPr/>
        </p:nvSpPr>
        <p:spPr>
          <a:xfrm>
            <a:off x="6181344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Avaliação em equipe (formulário)</a:t>
            </a:r>
          </a:p>
        </p:txBody>
      </p:sp>
      <p:sp>
        <p:nvSpPr>
          <p:cNvPr id="39" name="Oval 38"/>
          <p:cNvSpPr/>
          <p:nvPr/>
        </p:nvSpPr>
        <p:spPr>
          <a:xfrm>
            <a:off x="6181344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APIs: Maps e WhatsApp • Calendários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65 /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Do material: tabela de Agendamento configurada</a:t>
            </a:r>
          </a:p>
        </p:txBody>
      </p:sp>
      <p:pic>
        <p:nvPicPr>
          <p:cNvPr id="10" name="Picture 9" descr="p10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865" y="1417320"/>
            <a:ext cx="4654269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532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E84"/>
                </a:solidFill>
                <a:latin typeface="Aptos"/>
              </a:rPr>
              <a:t>Fonte: Material Didático AppClicks, Figura 74, pág. 100.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E40"/>
                </a:solidFill>
                <a:latin typeface="Aptos"/>
              </a:rPr>
              <a:t>Estrutura com Data/Hora que alimenta o calendário — base da integração (págs. 97-107).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274320"/>
            <a:ext cx="1170432" cy="530352"/>
          </a:xfrm>
          <a:prstGeom prst="roundRect">
            <a:avLst>
              <a:gd name="adj" fmla="val 25000"/>
            </a:avLst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411480"/>
            <a:ext cx="1170432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pt-BR" sz="1200" b="1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66 / 69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Checklist do aluno — Semana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AO FINAL DO DIA 1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Problema real apresentado pela equipe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Visão do produto em uma frase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Metas e marcos registrados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0704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Avaliação verbal concluída (1-2 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28415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11296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AO FINAL DO DIA 2</a:t>
            </a:r>
          </a:p>
        </p:txBody>
      </p:sp>
      <p:sp>
        <p:nvSpPr>
          <p:cNvPr id="21" name="Oval 20"/>
          <p:cNvSpPr/>
          <p:nvPr/>
        </p:nvSpPr>
        <p:spPr>
          <a:xfrm>
            <a:off x="3511296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0752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História quebrada em tarefas</a:t>
            </a:r>
          </a:p>
        </p:txBody>
      </p:sp>
      <p:sp>
        <p:nvSpPr>
          <p:cNvPr id="23" name="Oval 22"/>
          <p:cNvSpPr/>
          <p:nvPr/>
        </p:nvSpPr>
        <p:spPr>
          <a:xfrm>
            <a:off x="3511296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30752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Cartões com estimativa em horas</a:t>
            </a:r>
          </a:p>
        </p:txBody>
      </p:sp>
      <p:sp>
        <p:nvSpPr>
          <p:cNvPr id="25" name="Oval 24"/>
          <p:cNvSpPr/>
          <p:nvPr/>
        </p:nvSpPr>
        <p:spPr>
          <a:xfrm>
            <a:off x="3511296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30752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Quadro Kanban montado e simulado</a:t>
            </a:r>
          </a:p>
        </p:txBody>
      </p:sp>
      <p:sp>
        <p:nvSpPr>
          <p:cNvPr id="27" name="Oval 26"/>
          <p:cNvSpPr/>
          <p:nvPr/>
        </p:nvSpPr>
        <p:spPr>
          <a:xfrm>
            <a:off x="3511296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30752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Campo obrigatório testado no app</a:t>
            </a:r>
          </a:p>
        </p:txBody>
      </p:sp>
      <p:sp>
        <p:nvSpPr>
          <p:cNvPr id="29" name="Oval 28"/>
          <p:cNvSpPr/>
          <p:nvPr/>
        </p:nvSpPr>
        <p:spPr>
          <a:xfrm>
            <a:off x="3511296" y="4727448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30752" y="46360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H5P de palavras concluído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98464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81344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AO FINAL DO DIA 3</a:t>
            </a:r>
          </a:p>
        </p:txBody>
      </p:sp>
      <p:sp>
        <p:nvSpPr>
          <p:cNvPr id="33" name="Oval 32"/>
          <p:cNvSpPr/>
          <p:nvPr/>
        </p:nvSpPr>
        <p:spPr>
          <a:xfrm>
            <a:off x="6181344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Formulário dinâmico criado no app</a:t>
            </a:r>
          </a:p>
        </p:txBody>
      </p:sp>
      <p:sp>
        <p:nvSpPr>
          <p:cNvPr id="35" name="Oval 34"/>
          <p:cNvSpPr/>
          <p:nvPr/>
        </p:nvSpPr>
        <p:spPr>
          <a:xfrm>
            <a:off x="6181344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Validação: Require?, tipo, Enum</a:t>
            </a:r>
          </a:p>
        </p:txBody>
      </p:sp>
      <p:sp>
        <p:nvSpPr>
          <p:cNvPr id="37" name="Oval 36"/>
          <p:cNvSpPr/>
          <p:nvPr/>
        </p:nvSpPr>
        <p:spPr>
          <a:xfrm>
            <a:off x="6181344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Apresentação realizada pela equipe</a:t>
            </a:r>
          </a:p>
        </p:txBody>
      </p:sp>
      <p:sp>
        <p:nvSpPr>
          <p:cNvPr id="39" name="Oval 38"/>
          <p:cNvSpPr/>
          <p:nvPr/>
        </p:nvSpPr>
        <p:spPr>
          <a:xfrm>
            <a:off x="6181344" y="4160520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406908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QRs dos vídeos salvos no caderno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67 / 69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Momento de dúvidas e próximos passos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Sobre o conteúdo da semana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Material didático: Módulo 3, Unidade 1 (págs. 82-107)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Vídeos de apoio com QR Code nos slides de cada dia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Ferramentas: AppSheet, quadro Kanban e H5P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11296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Compromissos da equipe</a:t>
            </a:r>
          </a:p>
        </p:txBody>
      </p:sp>
      <p:sp>
        <p:nvSpPr>
          <p:cNvPr id="19" name="Oval 18"/>
          <p:cNvSpPr/>
          <p:nvPr/>
        </p:nvSpPr>
        <p:spPr>
          <a:xfrm>
            <a:off x="3511296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0752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Quadro Kanban atualizado da sprint</a:t>
            </a:r>
          </a:p>
        </p:txBody>
      </p:sp>
      <p:sp>
        <p:nvSpPr>
          <p:cNvPr id="21" name="Oval 20"/>
          <p:cNvSpPr/>
          <p:nvPr/>
        </p:nvSpPr>
        <p:spPr>
          <a:xfrm>
            <a:off x="3511296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0752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Formulário dinâmico com validação funcionando</a:t>
            </a:r>
          </a:p>
        </p:txBody>
      </p:sp>
      <p:sp>
        <p:nvSpPr>
          <p:cNvPr id="23" name="Oval 22"/>
          <p:cNvSpPr/>
          <p:nvPr/>
        </p:nvSpPr>
        <p:spPr>
          <a:xfrm>
            <a:off x="3511296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30752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App sincronizado para as próximas semanas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98464" y="1554480"/>
            <a:ext cx="2487168" cy="448056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 w="12700">
            <a:solidFill>
              <a:srgbClr val="1E9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81344" y="1755648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2E40"/>
                </a:solidFill>
                <a:latin typeface="Aptos"/>
              </a:rPr>
              <a:t>O que vem a seguir</a:t>
            </a:r>
          </a:p>
        </p:txBody>
      </p:sp>
      <p:sp>
        <p:nvSpPr>
          <p:cNvPr id="27" name="Oval 26"/>
          <p:cNvSpPr/>
          <p:nvPr/>
        </p:nvSpPr>
        <p:spPr>
          <a:xfrm>
            <a:off x="6181344" y="2459736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36829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Implementação das APIs: Google Maps e WhatsApp</a:t>
            </a:r>
          </a:p>
        </p:txBody>
      </p:sp>
      <p:sp>
        <p:nvSpPr>
          <p:cNvPr id="29" name="Oval 28"/>
          <p:cNvSpPr/>
          <p:nvPr/>
        </p:nvSpPr>
        <p:spPr>
          <a:xfrm>
            <a:off x="6181344" y="3026664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2935224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View de calendário e integração com o Google Calendar</a:t>
            </a:r>
          </a:p>
        </p:txBody>
      </p:sp>
      <p:sp>
        <p:nvSpPr>
          <p:cNvPr id="31" name="Oval 30"/>
          <p:cNvSpPr/>
          <p:nvPr/>
        </p:nvSpPr>
        <p:spPr>
          <a:xfrm>
            <a:off x="6181344" y="3593592"/>
            <a:ext cx="100584" cy="100584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5021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06E84"/>
                </a:solidFill>
                <a:latin typeface="Aptos"/>
              </a:rPr>
              <a:t>Sprint em execução com Trello (Unidade 2)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606E84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606E84"/>
                </a:solidFill>
                <a:latin typeface="Aptos"/>
              </a:rPr>
              <a:t>68 / 69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351798"/>
            <a:ext cx="8275320" cy="411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2500" b="1">
                <a:solidFill>
                  <a:srgbClr val="FFFFFF"/>
                </a:solidFill>
                <a:latin typeface="Aptos"/>
              </a:rPr>
              <a:t>Referências da semana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22E40"/>
                </a:solidFill>
                <a:latin typeface="Aptos"/>
              </a:rPr>
              <a:t>Fontes usadas nos slides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167127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7360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MELLO, H.; OLIVEIRA, B. App Clicks — Construção rápida de Apps para mídias digitais. Módulo 3, Unidade 1: Projeto ágil e uso de APIs e calendários no AppSheet (págs. 82-107).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944368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852928"/>
            <a:ext cx="7360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Idem, seções 1.1 a 1.4 — planejamento ágil, visão, marcos e roadmap (págs. 82-90) e seção 1.5 — APIs e calendários no AppSheet (págs. 91-107).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721608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630168"/>
            <a:ext cx="7360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Vídeos de apoio: YouTube (links e QR Codes nos slides de cada dia) — Brainss, Bóson Treinamentos, Bruna Alice, Abilio Diniz, Webdesign em Foco, SkillKey e Academia Brasileira de Appsheet (todos em português).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498848"/>
            <a:ext cx="128016" cy="128016"/>
          </a:xfrm>
          <a:prstGeom prst="ellipse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407407"/>
            <a:ext cx="7360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06E84"/>
                </a:solidFill>
                <a:latin typeface="Aptos"/>
              </a:rPr>
              <a:t>Ferramentas: Google AppSheet (Data, Views, Actions, Settings), H5P e quadro Kanban (físico ou digital).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57799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222E40"/>
                </a:solidFill>
                <a:latin typeface="Aptos"/>
              </a:rPr>
              <a:t>Todo o conteúdo teórico provém do material didático citado; figuras recortadas e inseridas: 59, 61, 62, 64, 69, 72, 74, 79 e 80 (págs. 84-106).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1">
                <a:solidFill>
                  <a:srgbClr val="8FA3BF"/>
                </a:solidFill>
                <a:latin typeface="Aptos"/>
              </a:rPr>
              <a:t>APPCLICKS  •  SEMANA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864" b="0">
                <a:solidFill>
                  <a:srgbClr val="8FA3BF"/>
                </a:solidFill>
                <a:latin typeface="Aptos"/>
              </a:rPr>
              <a:t>69 / 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7772400" cy="59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pt-BR" sz="3600" b="1">
                <a:solidFill>
                  <a:srgbClr val="000000"/>
                </a:solidFill>
                <a:latin typeface="Aptos Display"/>
              </a:rPr>
              <a:t>AppClicks - Semana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154680"/>
            <a:ext cx="914400" cy="54864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22E40"/>
                </a:solidFill>
                <a:latin typeface="Aptos"/>
              </a:rPr>
              <a:t>Projeto ágil, tarefas e formulários dinâmicos no AppSheet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634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8FA3BF"/>
                </a:solidFill>
                <a:latin typeface="Aptos"/>
              </a:rPr>
              <a:t>Nos vemos na próxima sprint!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19659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67728" y="2395728"/>
            <a:ext cx="1024128" cy="1024128"/>
          </a:xfrm>
          <a:prstGeom prst="roundRect">
            <a:avLst>
              <a:gd name="adj" fmla="val 15000"/>
            </a:avLst>
          </a:prstGeom>
          <a:solidFill>
            <a:srgbClr val="695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5257800"/>
            <a:ext cx="1965960" cy="109728"/>
          </a:xfrm>
          <a:prstGeom prst="rect">
            <a:avLst/>
          </a:prstGeom>
          <a:solidFill>
            <a:srgbClr val="1E9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5532120"/>
            <a:ext cx="1325880" cy="109728"/>
          </a:xfrm>
          <a:prstGeom prst="rect">
            <a:avLst/>
          </a:prstGeom>
          <a:solidFill>
            <a:srgbClr val="26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5806440"/>
            <a:ext cx="822960" cy="109728"/>
          </a:xfrm>
          <a:prstGeom prst="rect">
            <a:avLst/>
          </a:prstGeom>
          <a:solidFill>
            <a:srgbClr val="F48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10575</Words>
  <Application>Microsoft Office PowerPoint</Application>
  <PresentationFormat>Apresentação na tela (4:3)</PresentationFormat>
  <Paragraphs>1120</Paragraphs>
  <Slides>60</Slides>
  <Notes>60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5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AppClicks - Semana 2</dc:title>
  <dc:subject>Introdução ao No-code e Banco de Dados</dc:subject>
  <dc:creator>AppClicks</dc:creator>
  <cp:keywords>AppSheet, Google Sheets, No-code, CRUD</cp:keywords>
  <dc:description>generated using python-pptx</dc:description>
  <cp:lastModifiedBy>Ivan Lucas</cp:lastModifiedBy>
  <cp:revision>3</cp:revision>
  <dcterms:created xsi:type="dcterms:W3CDTF">2013-01-27T09:14:16Z</dcterms:created>
  <dcterms:modified xsi:type="dcterms:W3CDTF">2026-09-20T19:38:41Z</dcterms:modified>
  <cp:category/>
</cp:coreProperties>
</file>