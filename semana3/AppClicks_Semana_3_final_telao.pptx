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76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Relationship Id="rId6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Lucas" userId="f488f667df7b9828" providerId="LiveId" clId="{7341C001-F0AF-4418-95D9-934B15DF2660}"/>
    <pc:docChg chg="undo custSel modSld">
      <pc:chgData name="Ivan Lucas" userId="f488f667df7b9828" providerId="LiveId" clId="{7341C001-F0AF-4418-95D9-934B15DF2660}" dt="2026-08-23T15:06:59.425" v="94" actId="255"/>
      <pc:docMkLst>
        <pc:docMk/>
      </pc:docMkLst>
      <pc:sldChg chg="delSp mod">
        <pc:chgData name="Ivan Lucas" userId="f488f667df7b9828" providerId="LiveId" clId="{7341C001-F0AF-4418-95D9-934B15DF2660}" dt="2026-08-23T14:49:19.562" v="0" actId="478"/>
        <pc:sldMkLst>
          <pc:docMk/>
          <pc:sldMk cId="0" sldId="256"/>
        </pc:sldMkLst>
        <pc:picChg chg="del">
          <ac:chgData name="Ivan Lucas" userId="f488f667df7b9828" providerId="LiveId" clId="{7341C001-F0AF-4418-95D9-934B15DF2660}" dt="2026-08-23T14:49:19.562" v="0" actId="478"/>
          <ac:picMkLst>
            <pc:docMk/>
            <pc:sldMk cId="0" sldId="256"/>
            <ac:picMk id="9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23T15:01:30.168" v="49" actId="255"/>
        <pc:sldMkLst>
          <pc:docMk/>
          <pc:sldMk cId="0" sldId="257"/>
        </pc:sldMkLst>
        <pc:spChg chg="mod">
          <ac:chgData name="Ivan Lucas" userId="f488f667df7b9828" providerId="LiveId" clId="{7341C001-F0AF-4418-95D9-934B15DF2660}" dt="2026-08-23T15:01:11.309" v="46" actId="2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1:05.565" v="45" actId="25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1:16.570" v="47" actId="25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1:30.168" v="49" actId="255"/>
          <ac:spMkLst>
            <pc:docMk/>
            <pc:sldMk cId="0" sldId="257"/>
            <ac:spMk id="20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1:30.168" v="49" actId="25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1:30.168" v="49" actId="255"/>
          <ac:spMkLst>
            <pc:docMk/>
            <pc:sldMk cId="0" sldId="257"/>
            <ac:spMk id="25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1:30.168" v="49" actId="255"/>
          <ac:spMkLst>
            <pc:docMk/>
            <pc:sldMk cId="0" sldId="257"/>
            <ac:spMk id="26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1:51.889" v="52" actId="255"/>
        <pc:sldMkLst>
          <pc:docMk/>
          <pc:sldMk cId="0" sldId="258"/>
        </pc:sldMkLst>
        <pc:spChg chg="mod">
          <ac:chgData name="Ivan Lucas" userId="f488f667df7b9828" providerId="LiveId" clId="{7341C001-F0AF-4418-95D9-934B15DF2660}" dt="2026-08-23T15:01:51.889" v="52" actId="25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1:37.501" v="50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1:51.889" v="52" actId="25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1:43.694" v="51" actId="25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1:51.889" v="52" actId="25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1:43.694" v="51" actId="255"/>
          <ac:spMkLst>
            <pc:docMk/>
            <pc:sldMk cId="0" sldId="258"/>
            <ac:spMk id="23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2:02.924" v="53" actId="255"/>
        <pc:sldMkLst>
          <pc:docMk/>
          <pc:sldMk cId="0" sldId="260"/>
        </pc:sldMkLst>
        <pc:spChg chg="mod">
          <ac:chgData name="Ivan Lucas" userId="f488f667df7b9828" providerId="LiveId" clId="{7341C001-F0AF-4418-95D9-934B15DF2660}" dt="2026-08-23T15:02:02.924" v="53" actId="255"/>
          <ac:spMkLst>
            <pc:docMk/>
            <pc:sldMk cId="0" sldId="260"/>
            <ac:spMk id="7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2:34.121" v="67" actId="255"/>
        <pc:sldMkLst>
          <pc:docMk/>
          <pc:sldMk cId="0" sldId="262"/>
        </pc:sldMkLst>
        <pc:spChg chg="mod">
          <ac:chgData name="Ivan Lucas" userId="f488f667df7b9828" providerId="LiveId" clId="{7341C001-F0AF-4418-95D9-934B15DF2660}" dt="2026-08-23T15:02:09.971" v="54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2:34.121" v="67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2:34.121" v="67" actId="255"/>
          <ac:spMkLst>
            <pc:docMk/>
            <pc:sldMk cId="0" sldId="262"/>
            <ac:spMk id="16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2:34.121" v="67" actId="255"/>
          <ac:spMkLst>
            <pc:docMk/>
            <pc:sldMk cId="0" sldId="262"/>
            <ac:spMk id="21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2:54.629" v="68" actId="255"/>
        <pc:sldMkLst>
          <pc:docMk/>
          <pc:sldMk cId="0" sldId="264"/>
        </pc:sldMkLst>
        <pc:spChg chg="mod">
          <ac:chgData name="Ivan Lucas" userId="f488f667df7b9828" providerId="LiveId" clId="{7341C001-F0AF-4418-95D9-934B15DF2660}" dt="2026-08-23T15:02:54.629" v="68" actId="255"/>
          <ac:spMkLst>
            <pc:docMk/>
            <pc:sldMk cId="0" sldId="264"/>
            <ac:spMk id="16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3:11.776" v="69" actId="255"/>
        <pc:sldMkLst>
          <pc:docMk/>
          <pc:sldMk cId="0" sldId="267"/>
        </pc:sldMkLst>
        <pc:spChg chg="mod">
          <ac:chgData name="Ivan Lucas" userId="f488f667df7b9828" providerId="LiveId" clId="{7341C001-F0AF-4418-95D9-934B15DF2660}" dt="2026-08-23T15:03:11.776" v="69" actId="255"/>
          <ac:spMkLst>
            <pc:docMk/>
            <pc:sldMk cId="0" sldId="267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3:11.776" v="69" actId="255"/>
          <ac:spMkLst>
            <pc:docMk/>
            <pc:sldMk cId="0" sldId="267"/>
            <ac:spMk id="16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3:11.776" v="69" actId="255"/>
          <ac:spMkLst>
            <pc:docMk/>
            <pc:sldMk cId="0" sldId="267"/>
            <ac:spMk id="21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3:19.646" v="70" actId="255"/>
        <pc:sldMkLst>
          <pc:docMk/>
          <pc:sldMk cId="0" sldId="268"/>
        </pc:sldMkLst>
        <pc:spChg chg="mod">
          <ac:chgData name="Ivan Lucas" userId="f488f667df7b9828" providerId="LiveId" clId="{7341C001-F0AF-4418-95D9-934B15DF2660}" dt="2026-08-23T15:03:19.646" v="70" actId="255"/>
          <ac:spMkLst>
            <pc:docMk/>
            <pc:sldMk cId="0" sldId="268"/>
            <ac:spMk id="7" creationId="{00000000-0000-0000-0000-000000000000}"/>
          </ac:spMkLst>
        </pc:spChg>
        <pc:picChg chg="mod">
          <ac:chgData name="Ivan Lucas" userId="f488f667df7b9828" providerId="LiveId" clId="{7341C001-F0AF-4418-95D9-934B15DF2660}" dt="2026-08-23T14:50:20.832" v="28" actId="1076"/>
          <ac:picMkLst>
            <pc:docMk/>
            <pc:sldMk cId="0" sldId="268"/>
            <ac:picMk id="9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23T15:03:40.056" v="73" actId="1076"/>
        <pc:sldMkLst>
          <pc:docMk/>
          <pc:sldMk cId="0" sldId="270"/>
        </pc:sldMkLst>
        <pc:spChg chg="mod">
          <ac:chgData name="Ivan Lucas" userId="f488f667df7b9828" providerId="LiveId" clId="{7341C001-F0AF-4418-95D9-934B15DF2660}" dt="2026-08-23T15:03:40.056" v="73" actId="1076"/>
          <ac:spMkLst>
            <pc:docMk/>
            <pc:sldMk cId="0" sldId="270"/>
            <ac:spMk id="16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3:49.419" v="74" actId="255"/>
        <pc:sldMkLst>
          <pc:docMk/>
          <pc:sldMk cId="0" sldId="271"/>
        </pc:sldMkLst>
        <pc:spChg chg="mod">
          <ac:chgData name="Ivan Lucas" userId="f488f667df7b9828" providerId="LiveId" clId="{7341C001-F0AF-4418-95D9-934B15DF2660}" dt="2026-08-23T15:03:49.419" v="74" actId="255"/>
          <ac:spMkLst>
            <pc:docMk/>
            <pc:sldMk cId="0" sldId="271"/>
            <ac:spMk id="7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4:50:34.240" v="30" actId="1076"/>
        <pc:sldMkLst>
          <pc:docMk/>
          <pc:sldMk cId="0" sldId="273"/>
        </pc:sldMkLst>
        <pc:picChg chg="mod">
          <ac:chgData name="Ivan Lucas" userId="f488f667df7b9828" providerId="LiveId" clId="{7341C001-F0AF-4418-95D9-934B15DF2660}" dt="2026-08-23T14:50:34.240" v="30" actId="1076"/>
          <ac:picMkLst>
            <pc:docMk/>
            <pc:sldMk cId="0" sldId="273"/>
            <ac:picMk id="9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23T15:00:44.891" v="43" actId="255"/>
        <pc:sldMkLst>
          <pc:docMk/>
          <pc:sldMk cId="0" sldId="275"/>
        </pc:sldMkLst>
        <pc:spChg chg="mod">
          <ac:chgData name="Ivan Lucas" userId="f488f667df7b9828" providerId="LiveId" clId="{7341C001-F0AF-4418-95D9-934B15DF2660}" dt="2026-08-23T15:00:44.891" v="43" actId="255"/>
          <ac:spMkLst>
            <pc:docMk/>
            <pc:sldMk cId="0" sldId="275"/>
            <ac:spMk id="7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0:37.392" v="42" actId="255"/>
        <pc:sldMkLst>
          <pc:docMk/>
          <pc:sldMk cId="0" sldId="276"/>
        </pc:sldMkLst>
        <pc:spChg chg="mod">
          <ac:chgData name="Ivan Lucas" userId="f488f667df7b9828" providerId="LiveId" clId="{7341C001-F0AF-4418-95D9-934B15DF2660}" dt="2026-08-23T15:00:31.871" v="41" actId="255"/>
          <ac:spMkLst>
            <pc:docMk/>
            <pc:sldMk cId="0" sldId="276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0:37.392" v="42" actId="255"/>
          <ac:spMkLst>
            <pc:docMk/>
            <pc:sldMk cId="0" sldId="276"/>
            <ac:spMk id="17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4:07.378" v="75" actId="255"/>
        <pc:sldMkLst>
          <pc:docMk/>
          <pc:sldMk cId="0" sldId="277"/>
        </pc:sldMkLst>
        <pc:spChg chg="mod">
          <ac:chgData name="Ivan Lucas" userId="f488f667df7b9828" providerId="LiveId" clId="{7341C001-F0AF-4418-95D9-934B15DF2660}" dt="2026-08-23T15:04:07.378" v="75" actId="255"/>
          <ac:spMkLst>
            <pc:docMk/>
            <pc:sldMk cId="0" sldId="277"/>
            <ac:spMk id="7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4:15.647" v="76" actId="255"/>
        <pc:sldMkLst>
          <pc:docMk/>
          <pc:sldMk cId="0" sldId="282"/>
        </pc:sldMkLst>
        <pc:spChg chg="mod">
          <ac:chgData name="Ivan Lucas" userId="f488f667df7b9828" providerId="LiveId" clId="{7341C001-F0AF-4418-95D9-934B15DF2660}" dt="2026-08-23T15:04:15.647" v="76" actId="255"/>
          <ac:spMkLst>
            <pc:docMk/>
            <pc:sldMk cId="0" sldId="282"/>
            <ac:spMk id="9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4:28.465" v="78" actId="255"/>
        <pc:sldMkLst>
          <pc:docMk/>
          <pc:sldMk cId="0" sldId="283"/>
        </pc:sldMkLst>
        <pc:spChg chg="mod">
          <ac:chgData name="Ivan Lucas" userId="f488f667df7b9828" providerId="LiveId" clId="{7341C001-F0AF-4418-95D9-934B15DF2660}" dt="2026-08-23T15:04:28.465" v="78" actId="255"/>
          <ac:spMkLst>
            <pc:docMk/>
            <pc:sldMk cId="0" sldId="283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4:28.465" v="78" actId="255"/>
          <ac:spMkLst>
            <pc:docMk/>
            <pc:sldMk cId="0" sldId="283"/>
            <ac:spMk id="17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4:28.465" v="78" actId="255"/>
          <ac:spMkLst>
            <pc:docMk/>
            <pc:sldMk cId="0" sldId="283"/>
            <ac:spMk id="22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4:34.451" v="79" actId="255"/>
        <pc:sldMkLst>
          <pc:docMk/>
          <pc:sldMk cId="0" sldId="284"/>
        </pc:sldMkLst>
        <pc:spChg chg="mod">
          <ac:chgData name="Ivan Lucas" userId="f488f667df7b9828" providerId="LiveId" clId="{7341C001-F0AF-4418-95D9-934B15DF2660}" dt="2026-08-23T15:04:34.451" v="79" actId="255"/>
          <ac:spMkLst>
            <pc:docMk/>
            <pc:sldMk cId="0" sldId="284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4:34.451" v="79" actId="255"/>
          <ac:spMkLst>
            <pc:docMk/>
            <pc:sldMk cId="0" sldId="284"/>
            <ac:spMk id="17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4:34.451" v="79" actId="255"/>
          <ac:spMkLst>
            <pc:docMk/>
            <pc:sldMk cId="0" sldId="284"/>
            <ac:spMk id="22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4:53.016" v="80" actId="255"/>
        <pc:sldMkLst>
          <pc:docMk/>
          <pc:sldMk cId="0" sldId="290"/>
        </pc:sldMkLst>
        <pc:spChg chg="mod">
          <ac:chgData name="Ivan Lucas" userId="f488f667df7b9828" providerId="LiveId" clId="{7341C001-F0AF-4418-95D9-934B15DF2660}" dt="2026-08-23T15:04:53.016" v="80" actId="255"/>
          <ac:spMkLst>
            <pc:docMk/>
            <pc:sldMk cId="0" sldId="290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4:53.016" v="80" actId="255"/>
          <ac:spMkLst>
            <pc:docMk/>
            <pc:sldMk cId="0" sldId="290"/>
            <ac:spMk id="16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4:53.016" v="80" actId="255"/>
          <ac:spMkLst>
            <pc:docMk/>
            <pc:sldMk cId="0" sldId="290"/>
            <ac:spMk id="21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4:53.016" v="80" actId="255"/>
          <ac:spMkLst>
            <pc:docMk/>
            <pc:sldMk cId="0" sldId="290"/>
            <ac:spMk id="26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5:19.020" v="83" actId="255"/>
        <pc:sldMkLst>
          <pc:docMk/>
          <pc:sldMk cId="0" sldId="295"/>
        </pc:sldMkLst>
        <pc:spChg chg="mod">
          <ac:chgData name="Ivan Lucas" userId="f488f667df7b9828" providerId="LiveId" clId="{7341C001-F0AF-4418-95D9-934B15DF2660}" dt="2026-08-23T15:05:19.020" v="83" actId="255"/>
          <ac:spMkLst>
            <pc:docMk/>
            <pc:sldMk cId="0" sldId="295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5:19.020" v="83" actId="255"/>
          <ac:spMkLst>
            <pc:docMk/>
            <pc:sldMk cId="0" sldId="295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5:19.020" v="83" actId="255"/>
          <ac:spMkLst>
            <pc:docMk/>
            <pc:sldMk cId="0" sldId="295"/>
            <ac:spMk id="15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5:19.020" v="83" actId="255"/>
          <ac:spMkLst>
            <pc:docMk/>
            <pc:sldMk cId="0" sldId="295"/>
            <ac:spMk id="18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5:19.020" v="83" actId="255"/>
          <ac:spMkLst>
            <pc:docMk/>
            <pc:sldMk cId="0" sldId="295"/>
            <ac:spMk id="21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5:19.020" v="83" actId="255"/>
          <ac:spMkLst>
            <pc:docMk/>
            <pc:sldMk cId="0" sldId="295"/>
            <ac:spMk id="24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5:19.020" v="83" actId="255"/>
          <ac:spMkLst>
            <pc:docMk/>
            <pc:sldMk cId="0" sldId="295"/>
            <ac:spMk id="27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5:34.606" v="85" actId="255"/>
        <pc:sldMkLst>
          <pc:docMk/>
          <pc:sldMk cId="0" sldId="298"/>
        </pc:sldMkLst>
        <pc:spChg chg="mod">
          <ac:chgData name="Ivan Lucas" userId="f488f667df7b9828" providerId="LiveId" clId="{7341C001-F0AF-4418-95D9-934B15DF2660}" dt="2026-08-23T15:05:34.606" v="85" actId="255"/>
          <ac:spMkLst>
            <pc:docMk/>
            <pc:sldMk cId="0" sldId="298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5:34.606" v="85" actId="255"/>
          <ac:spMkLst>
            <pc:docMk/>
            <pc:sldMk cId="0" sldId="298"/>
            <ac:spMk id="16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5:34.606" v="85" actId="255"/>
          <ac:spMkLst>
            <pc:docMk/>
            <pc:sldMk cId="0" sldId="298"/>
            <ac:spMk id="21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5:34.606" v="85" actId="255"/>
          <ac:spMkLst>
            <pc:docMk/>
            <pc:sldMk cId="0" sldId="298"/>
            <ac:spMk id="26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5:34.606" v="85" actId="255"/>
          <ac:spMkLst>
            <pc:docMk/>
            <pc:sldMk cId="0" sldId="298"/>
            <ac:spMk id="31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5:44.957" v="86" actId="255"/>
        <pc:sldMkLst>
          <pc:docMk/>
          <pc:sldMk cId="0" sldId="299"/>
        </pc:sldMkLst>
        <pc:spChg chg="mod">
          <ac:chgData name="Ivan Lucas" userId="f488f667df7b9828" providerId="LiveId" clId="{7341C001-F0AF-4418-95D9-934B15DF2660}" dt="2026-08-23T15:05:44.957" v="86" actId="255"/>
          <ac:spMkLst>
            <pc:docMk/>
            <pc:sldMk cId="0" sldId="299"/>
            <ac:spMk id="16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4:51:03.072" v="33" actId="1076"/>
        <pc:sldMkLst>
          <pc:docMk/>
          <pc:sldMk cId="0" sldId="303"/>
        </pc:sldMkLst>
        <pc:picChg chg="mod">
          <ac:chgData name="Ivan Lucas" userId="f488f667df7b9828" providerId="LiveId" clId="{7341C001-F0AF-4418-95D9-934B15DF2660}" dt="2026-08-23T14:51:03.072" v="33" actId="1076"/>
          <ac:picMkLst>
            <pc:docMk/>
            <pc:sldMk cId="0" sldId="303"/>
            <ac:picMk id="9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23T15:06:09.161" v="89" actId="255"/>
        <pc:sldMkLst>
          <pc:docMk/>
          <pc:sldMk cId="0" sldId="305"/>
        </pc:sldMkLst>
        <pc:spChg chg="mod">
          <ac:chgData name="Ivan Lucas" userId="f488f667df7b9828" providerId="LiveId" clId="{7341C001-F0AF-4418-95D9-934B15DF2660}" dt="2026-08-23T15:06:09.161" v="89" actId="255"/>
          <ac:spMkLst>
            <pc:docMk/>
            <pc:sldMk cId="0" sldId="305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6:09.161" v="89" actId="255"/>
          <ac:spMkLst>
            <pc:docMk/>
            <pc:sldMk cId="0" sldId="305"/>
            <ac:spMk id="16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6:09.161" v="89" actId="255"/>
          <ac:spMkLst>
            <pc:docMk/>
            <pc:sldMk cId="0" sldId="305"/>
            <ac:spMk id="21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6:09.161" v="89" actId="255"/>
          <ac:spMkLst>
            <pc:docMk/>
            <pc:sldMk cId="0" sldId="305"/>
            <ac:spMk id="26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4:51:16.568" v="36" actId="1076"/>
        <pc:sldMkLst>
          <pc:docMk/>
          <pc:sldMk cId="0" sldId="307"/>
        </pc:sldMkLst>
        <pc:picChg chg="mod">
          <ac:chgData name="Ivan Lucas" userId="f488f667df7b9828" providerId="LiveId" clId="{7341C001-F0AF-4418-95D9-934B15DF2660}" dt="2026-08-23T14:51:16.568" v="36" actId="1076"/>
          <ac:picMkLst>
            <pc:docMk/>
            <pc:sldMk cId="0" sldId="307"/>
            <ac:picMk id="9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23T14:51:26.009" v="40" actId="1076"/>
        <pc:sldMkLst>
          <pc:docMk/>
          <pc:sldMk cId="0" sldId="308"/>
        </pc:sldMkLst>
        <pc:picChg chg="mod">
          <ac:chgData name="Ivan Lucas" userId="f488f667df7b9828" providerId="LiveId" clId="{7341C001-F0AF-4418-95D9-934B15DF2660}" dt="2026-08-23T14:51:26.009" v="40" actId="1076"/>
          <ac:picMkLst>
            <pc:docMk/>
            <pc:sldMk cId="0" sldId="308"/>
            <ac:picMk id="9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23T15:06:21.475" v="90" actId="255"/>
        <pc:sldMkLst>
          <pc:docMk/>
          <pc:sldMk cId="0" sldId="309"/>
        </pc:sldMkLst>
        <pc:spChg chg="mod">
          <ac:chgData name="Ivan Lucas" userId="f488f667df7b9828" providerId="LiveId" clId="{7341C001-F0AF-4418-95D9-934B15DF2660}" dt="2026-08-23T15:06:21.475" v="90" actId="255"/>
          <ac:spMkLst>
            <pc:docMk/>
            <pc:sldMk cId="0" sldId="309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6:21.475" v="90" actId="255"/>
          <ac:spMkLst>
            <pc:docMk/>
            <pc:sldMk cId="0" sldId="309"/>
            <ac:spMk id="17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6:21.475" v="90" actId="255"/>
          <ac:spMkLst>
            <pc:docMk/>
            <pc:sldMk cId="0" sldId="309"/>
            <ac:spMk id="22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6:21.475" v="90" actId="255"/>
          <ac:spMkLst>
            <pc:docMk/>
            <pc:sldMk cId="0" sldId="309"/>
            <ac:spMk id="27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6:27.651" v="91" actId="255"/>
        <pc:sldMkLst>
          <pc:docMk/>
          <pc:sldMk cId="0" sldId="310"/>
        </pc:sldMkLst>
        <pc:spChg chg="mod">
          <ac:chgData name="Ivan Lucas" userId="f488f667df7b9828" providerId="LiveId" clId="{7341C001-F0AF-4418-95D9-934B15DF2660}" dt="2026-08-23T15:06:27.651" v="91" actId="255"/>
          <ac:spMkLst>
            <pc:docMk/>
            <pc:sldMk cId="0" sldId="310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6:27.651" v="91" actId="255"/>
          <ac:spMkLst>
            <pc:docMk/>
            <pc:sldMk cId="0" sldId="310"/>
            <ac:spMk id="16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6:27.651" v="91" actId="255"/>
          <ac:spMkLst>
            <pc:docMk/>
            <pc:sldMk cId="0" sldId="310"/>
            <ac:spMk id="21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6:39.877" v="92" actId="255"/>
        <pc:sldMkLst>
          <pc:docMk/>
          <pc:sldMk cId="0" sldId="314"/>
        </pc:sldMkLst>
        <pc:spChg chg="mod">
          <ac:chgData name="Ivan Lucas" userId="f488f667df7b9828" providerId="LiveId" clId="{7341C001-F0AF-4418-95D9-934B15DF2660}" dt="2026-08-23T15:06:39.877" v="92" actId="255"/>
          <ac:spMkLst>
            <pc:docMk/>
            <pc:sldMk cId="0" sldId="314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6:39.877" v="92" actId="255"/>
          <ac:spMkLst>
            <pc:docMk/>
            <pc:sldMk cId="0" sldId="314"/>
            <ac:spMk id="16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6:39.877" v="92" actId="255"/>
          <ac:spMkLst>
            <pc:docMk/>
            <pc:sldMk cId="0" sldId="314"/>
            <ac:spMk id="21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6:39.877" v="92" actId="255"/>
          <ac:spMkLst>
            <pc:docMk/>
            <pc:sldMk cId="0" sldId="314"/>
            <ac:spMk id="26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23T15:06:59.425" v="94" actId="255"/>
        <pc:sldMkLst>
          <pc:docMk/>
          <pc:sldMk cId="0" sldId="316"/>
        </pc:sldMkLst>
        <pc:spChg chg="mod">
          <ac:chgData name="Ivan Lucas" userId="f488f667df7b9828" providerId="LiveId" clId="{7341C001-F0AF-4418-95D9-934B15DF2660}" dt="2026-08-23T15:06:59.425" v="94" actId="255"/>
          <ac:spMkLst>
            <pc:docMk/>
            <pc:sldMk cId="0" sldId="316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6:59.425" v="94" actId="255"/>
          <ac:spMkLst>
            <pc:docMk/>
            <pc:sldMk cId="0" sldId="316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6:59.425" v="94" actId="255"/>
          <ac:spMkLst>
            <pc:docMk/>
            <pc:sldMk cId="0" sldId="316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23T15:06:59.425" v="94" actId="255"/>
          <ac:spMkLst>
            <pc:docMk/>
            <pc:sldMk cId="0" sldId="316"/>
            <ac:spMk id="14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ADFAC-C5C8-4184-B61A-886DDC32D2DE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B6C1C-2C11-4C46-9534-5BDE61D608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3888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Video recomendado: A aprendizagem colaborativa</a:t>
            </a:r>
          </a:p>
          <a:p>
            <a:r>
              <a:t>Canal: Educaline Brasil</a:t>
            </a:r>
          </a:p>
          <a:p>
            <a:r>
              <a:t>URL: https://www.youtube.com/watch?v=yprs7FwcU9A</a:t>
            </a:r>
          </a:p>
          <a:p>
            <a:r>
              <a:t>Acesso em 23 ago. 2026.</a:t>
            </a:r>
          </a:p>
          <a:p>
            <a:r>
              <a:t>Uso sugerido: Relaciona a aprendizagem colaborativa ao trabalho em grupo, oferecendo uma ponte pratica para organizar as equipes que vao aplicar o CBL em sala de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Video recomendado: A MELHOR METODOLOGIA de APRENDIZADO que já vi  - Challenge Based Learning - CBL</a:t>
            </a:r>
          </a:p>
          <a:p>
            <a:r>
              <a:t>Canal: Nadja Caldeira</a:t>
            </a:r>
          </a:p>
          <a:p>
            <a:r>
              <a:t>URL: https://www.youtube.com/watch?v=NO8TL0cRsCA</a:t>
            </a:r>
          </a:p>
          <a:p>
            <a:r>
              <a:t>Acesso em 23 ago. 2026.</a:t>
            </a:r>
          </a:p>
          <a:p>
            <a:r>
              <a:t>Uso sugerido: Apresenta, em portugues, a metodologia Challenge Based Learning e ajuda a visualizar como o CBL organiza a aprendizagem a partir de desafios reais antes de detalharmos suas tres fases.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Video recomendado: Qual a diferenca entre UI e UX design?</a:t>
            </a:r>
          </a:p>
          <a:p>
            <a:r>
              <a:t>Canal: She is a Creative | UI UX Design Freelancer</a:t>
            </a:r>
          </a:p>
          <a:p>
            <a:r>
              <a:t>URL: https://www.youtube.com/watch?v=1ZKxhQmc0gA</a:t>
            </a:r>
          </a:p>
          <a:p>
            <a:r>
              <a:t>Acesso em 23 ago. 2026.</a:t>
            </a:r>
          </a:p>
          <a:p>
            <a:r>
              <a:t>Uso sugerido: Explica em portugues a diferenca entre User Interface e User Experience e apresenta exemplos do que faz cada area, preparando a turma para aplicar os padroes de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outube.com/watch?v=yprs7FwcU9A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NO8TL0cRsCA" TargetMode="External"/><Relationship Id="rId4" Type="http://schemas.openxmlformats.org/officeDocument/2006/relationships/image" Target="../media/image5.jpg"/><Relationship Id="rId5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1ZKxhQmc0gA" TargetMode="External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C8DCFF"/>
                </a:solidFill>
                <a:latin typeface="Aptos"/>
              </a:rPr>
              <a:t>PRONATEC / IFSP  •  App Clicks — Disciplina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 u="none">
                <a:solidFill>
                  <a:srgbClr val="FFFFFF"/>
                </a:solidFill>
                <a:latin typeface="Aptos Display"/>
              </a:rPr>
              <a:t>Semana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606040"/>
            <a:ext cx="1005840" cy="6400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886968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 u="none">
                <a:solidFill>
                  <a:srgbClr val="C8DCFF"/>
                </a:solidFill>
                <a:latin typeface="Aptos"/>
              </a:rPr>
              <a:t>Challenge-Based Learning (CBL) e Aprimoramento de Design (UX)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6052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rgbClr val="FFFFFF"/>
                </a:solidFill>
                <a:latin typeface="Aptos"/>
              </a:rPr>
              <a:t>Unidade</a:t>
            </a:r>
            <a:r>
              <a:rPr sz="1800" b="0" i="0" u="none" dirty="0">
                <a:solidFill>
                  <a:srgbClr val="FFFFFF"/>
                </a:solidFill>
                <a:latin typeface="Aptos"/>
              </a:rPr>
              <a:t> 1 — Challenge-Based Learning  |  </a:t>
            </a:r>
            <a:r>
              <a:rPr sz="1800" b="0" i="0" u="none" dirty="0" err="1">
                <a:solidFill>
                  <a:srgbClr val="FFFFFF"/>
                </a:solidFill>
                <a:latin typeface="Aptos"/>
              </a:rPr>
              <a:t>Unidade</a:t>
            </a:r>
            <a:r>
              <a:rPr sz="1800" b="0" i="0" u="none" dirty="0">
                <a:solidFill>
                  <a:srgbClr val="FFFFFF"/>
                </a:solidFill>
                <a:latin typeface="Aptos"/>
              </a:rPr>
              <a:t> 2 — </a:t>
            </a:r>
            <a:r>
              <a:rPr sz="1800" b="0" i="0" u="none" dirty="0" err="1">
                <a:solidFill>
                  <a:srgbClr val="FFFFFF"/>
                </a:solidFill>
                <a:latin typeface="Aptos"/>
              </a:rPr>
              <a:t>Conceitos</a:t>
            </a:r>
            <a:r>
              <a:rPr sz="1800" b="0" i="0" u="none" dirty="0">
                <a:solidFill>
                  <a:srgbClr val="FFFFFF"/>
                </a:solidFill>
                <a:latin typeface="Aptos"/>
              </a:rPr>
              <a:t> de UX</a:t>
            </a:r>
            <a:br>
              <a:rPr dirty="0"/>
            </a:br>
            <a:r>
              <a:rPr sz="1800" b="0" i="0" u="none" dirty="0">
                <a:solidFill>
                  <a:srgbClr val="FFFFFF"/>
                </a:solidFill>
                <a:latin typeface="Aptos"/>
              </a:rPr>
              <a:t>Módulo 2 • Carga </a:t>
            </a:r>
            <a:r>
              <a:rPr sz="1800" b="0" i="0" u="none" dirty="0" err="1">
                <a:solidFill>
                  <a:srgbClr val="FFFFFF"/>
                </a:solidFill>
                <a:latin typeface="Aptos"/>
              </a:rPr>
              <a:t>horária</a:t>
            </a:r>
            <a:r>
              <a:rPr sz="1800" b="0" i="0" u="none" dirty="0">
                <a:solidFill>
                  <a:srgbClr val="FFFFFF"/>
                </a:solidFill>
                <a:latin typeface="Aptos"/>
              </a:rPr>
              <a:t>: 12h </a:t>
            </a:r>
            <a:r>
              <a:rPr sz="1800" b="0" i="0" u="none" dirty="0" err="1">
                <a:solidFill>
                  <a:srgbClr val="FFFFFF"/>
                </a:solidFill>
                <a:latin typeface="Aptos"/>
              </a:rPr>
              <a:t>presenciais</a:t>
            </a:r>
            <a:r>
              <a:rPr sz="1800" b="0" i="0" u="none" dirty="0">
                <a:solidFill>
                  <a:srgbClr val="FFFFFF"/>
                </a:solidFill>
                <a:latin typeface="Aptos"/>
              </a:rPr>
              <a:t> (3 </a:t>
            </a:r>
            <a:r>
              <a:rPr sz="1800" b="0" i="0" u="none" dirty="0" err="1">
                <a:solidFill>
                  <a:srgbClr val="FFFFFF"/>
                </a:solidFill>
                <a:latin typeface="Aptos"/>
              </a:rPr>
              <a:t>encontros</a:t>
            </a:r>
            <a:r>
              <a:rPr sz="1800" b="0" i="0" u="none" dirty="0">
                <a:solidFill>
                  <a:srgbClr val="FFFFFF"/>
                </a:solidFill>
                <a:latin typeface="Aptos"/>
              </a:rPr>
              <a:t> de 4h)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1 / 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Objetivos da Semana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699444"/>
            <a:ext cx="4440783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u="none">
                <a:solidFill>
                  <a:srgbClr val="222E40"/>
                </a:solidFill>
                <a:latin typeface="Aptos"/>
              </a:rPr>
              <a:t>Conhecer e aplicar o CBL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4897983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 dirty="0" err="1">
                <a:solidFill>
                  <a:srgbClr val="222E40"/>
                </a:solidFill>
                <a:latin typeface="Aptos"/>
              </a:rPr>
              <a:t>Compreender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as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fases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Engage, Investigate e Act do Challenge-Based Learning 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aplicá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-las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projeto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da equipe.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6431" y="1463040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61023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1023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4799" y="1699444"/>
            <a:ext cx="4440783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u="none" dirty="0" err="1">
                <a:solidFill>
                  <a:srgbClr val="222E40"/>
                </a:solidFill>
                <a:latin typeface="Aptos"/>
              </a:rPr>
              <a:t>Formar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organizar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equipes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311" y="2084832"/>
            <a:ext cx="4897983" cy="1435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 u="none">
                <a:solidFill>
                  <a:srgbClr val="222E40"/>
                </a:solidFill>
                <a:latin typeface="Aptos"/>
              </a:rPr>
              <a:t>Constituir as equipes que vão conduzir o desafio até o final do módulo.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9624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6112" y="3995928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995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086028"/>
            <a:ext cx="4440783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u="none" dirty="0" err="1">
                <a:solidFill>
                  <a:srgbClr val="222E40"/>
                </a:solidFill>
                <a:latin typeface="Aptos"/>
              </a:rPr>
              <a:t>Aplicar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padrões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de 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71416"/>
            <a:ext cx="4897983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Reconhecer boas e más práticas de experiência do usuário e aplicar cores, contraste e minimalismo.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6431" y="3849624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61023" y="3995928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1023" y="3995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4799" y="4086028"/>
            <a:ext cx="4440783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u="none">
                <a:solidFill>
                  <a:srgbClr val="222E40"/>
                </a:solidFill>
                <a:latin typeface="Aptos"/>
              </a:rPr>
              <a:t>Produzir o documento de implantação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9311" y="4471416"/>
            <a:ext cx="4897983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Registrar Big Idea, Essential Question, Challenge, Guiding Questions, Solution e Implementation da equipe.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2 / 61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Agenda da Semana 3 (12h em 3 dias)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27048"/>
            <a:ext cx="3393338" cy="502920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27048"/>
            <a:ext cx="339333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u="none">
                <a:solidFill>
                  <a:srgbClr val="FFFFFF"/>
                </a:solidFill>
                <a:latin typeface="Aptos"/>
              </a:rPr>
              <a:t>DIA 1 (4h)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29967"/>
            <a:ext cx="3393338" cy="3456432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244537"/>
            <a:ext cx="306415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E979D"/>
                </a:solidFill>
                <a:latin typeface="Aptos"/>
              </a:rPr>
              <a:t>Equipes e CBL: Engage + Investigate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670048"/>
            <a:ext cx="3064154" cy="229293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222E40"/>
                </a:solidFill>
                <a:latin typeface="Aptos"/>
              </a:rPr>
              <a:t>• 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Formação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das equipes de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trabalho</a:t>
            </a:r>
            <a:endParaRPr sz="1600" b="0" dirty="0">
              <a:solidFill>
                <a:srgbClr val="222E4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222E40"/>
                </a:solidFill>
                <a:latin typeface="Aptos"/>
              </a:rPr>
              <a:t>• 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Introdução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ao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CBL e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ao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ciclo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Engage-Investigate-Act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222E40"/>
                </a:solidFill>
                <a:latin typeface="Aptos"/>
              </a:rPr>
              <a:t>•  Fase Engage: Big Idea, Essential Question, Challenge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222E40"/>
                </a:solidFill>
                <a:latin typeface="Aptos"/>
              </a:rPr>
              <a:t>•  Fase Investigate: Guiding Questions e Guiding Activities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9178" y="1527048"/>
            <a:ext cx="3393338" cy="502920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9178" y="1527048"/>
            <a:ext cx="339333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u="none">
                <a:solidFill>
                  <a:srgbClr val="FFFFFF"/>
                </a:solidFill>
                <a:latin typeface="Aptos"/>
              </a:rPr>
              <a:t>DIA 2 (4h)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9178" y="2029967"/>
            <a:ext cx="3393338" cy="3456432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63770" y="2233904"/>
            <a:ext cx="306415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266FAD"/>
                </a:solidFill>
                <a:latin typeface="Aptos"/>
              </a:rPr>
              <a:t>CBL: Act e </a:t>
            </a:r>
            <a:r>
              <a:rPr sz="1600" b="1" i="0" u="none" dirty="0" err="1">
                <a:solidFill>
                  <a:srgbClr val="266FAD"/>
                </a:solidFill>
                <a:latin typeface="Aptos"/>
              </a:rPr>
              <a:t>Documento</a:t>
            </a:r>
            <a:r>
              <a:rPr sz="1600" b="1" i="0" u="none" dirty="0">
                <a:solidFill>
                  <a:srgbClr val="266FAD"/>
                </a:solidFill>
                <a:latin typeface="Aptos"/>
              </a:rPr>
              <a:t> de </a:t>
            </a:r>
            <a:r>
              <a:rPr sz="1600" b="1" i="0" u="none" dirty="0" err="1">
                <a:solidFill>
                  <a:srgbClr val="266FAD"/>
                </a:solidFill>
                <a:latin typeface="Aptos"/>
              </a:rPr>
              <a:t>Implantação</a:t>
            </a:r>
            <a:endParaRPr sz="1600" b="1" i="0" u="none" dirty="0">
              <a:solidFill>
                <a:srgbClr val="266FA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63770" y="2670048"/>
            <a:ext cx="3064154" cy="229293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222E40"/>
                </a:solidFill>
                <a:latin typeface="Aptos"/>
              </a:rPr>
              <a:t>•  Fase Act: Solution Concept, Solution Development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222E40"/>
                </a:solidFill>
                <a:latin typeface="Aptos"/>
              </a:rPr>
              <a:t>•  Implementation e Reflection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222E40"/>
                </a:solidFill>
                <a:latin typeface="Aptos"/>
              </a:rPr>
              <a:t>• 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Prática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preencher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o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documento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de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implantação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do CBL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222E40"/>
                </a:solidFill>
                <a:latin typeface="Aptos"/>
              </a:rPr>
              <a:t>• 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Trabalho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equipe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orientado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pelo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professor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6836" y="1527048"/>
            <a:ext cx="3393338" cy="502920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66836" y="1527048"/>
            <a:ext cx="339333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u="none">
                <a:solidFill>
                  <a:srgbClr val="FFFFFF"/>
                </a:solidFill>
                <a:latin typeface="Aptos"/>
              </a:rPr>
              <a:t>DIA 3 (4h)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6836" y="2029967"/>
            <a:ext cx="3393338" cy="3456432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31428" y="2223271"/>
            <a:ext cx="3064154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6953A5"/>
                </a:solidFill>
                <a:latin typeface="Aptos"/>
              </a:rPr>
              <a:t>UX, </a:t>
            </a:r>
            <a:r>
              <a:rPr sz="1600" b="1" i="0" u="none" dirty="0" err="1">
                <a:solidFill>
                  <a:srgbClr val="6953A5"/>
                </a:solidFill>
                <a:latin typeface="Aptos"/>
              </a:rPr>
              <a:t>Avaliação</a:t>
            </a:r>
            <a:r>
              <a:rPr sz="1600" b="1" i="0" u="none" dirty="0">
                <a:solidFill>
                  <a:srgbClr val="6953A5"/>
                </a:solidFill>
                <a:latin typeface="Aptos"/>
              </a:rPr>
              <a:t> e </a:t>
            </a:r>
            <a:r>
              <a:rPr sz="1600" b="1" i="0" u="none" dirty="0" err="1">
                <a:solidFill>
                  <a:srgbClr val="6953A5"/>
                </a:solidFill>
                <a:latin typeface="Aptos"/>
              </a:rPr>
              <a:t>Revisão</a:t>
            </a:r>
            <a:r>
              <a:rPr sz="1600" b="1" i="0" u="none" dirty="0">
                <a:solidFill>
                  <a:srgbClr val="6953A5"/>
                </a:solidFill>
                <a:latin typeface="Aptos"/>
              </a:rPr>
              <a:t> H5P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1428" y="2670048"/>
            <a:ext cx="3064154" cy="229293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 Conceitos de UX e exemplos de boa/má experiência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 Paleta de cores, acessibilidade e minimalismo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 Avaliação: fala de 1-2 min (Big Idea + solução)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 Atividade H5P de revisão da semana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96128"/>
            <a:ext cx="10728655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 u="none">
                <a:solidFill>
                  <a:srgbClr val="606E84"/>
                </a:solidFill>
                <a:latin typeface="Aptos"/>
              </a:rPr>
              <a:t>Distribuição de acordo com o PPC do curso (12h presenciais fatiadas em 3 encontros de 4h).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3 / 61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Retomando o Módulo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>
                <a:solidFill>
                  <a:srgbClr val="222E40"/>
                </a:solidFill>
                <a:latin typeface="Aptos"/>
              </a:rPr>
              <a:t>No módulo 1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organizamos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dados no Google Sheets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criamos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primeiro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aplicativo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no Google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AppSheet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conhecendo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tabelas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colunas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a interface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básica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da ferramenta.</a:t>
            </a:r>
            <a:br>
              <a:rPr dirty="0"/>
            </a:br>
            <a:br>
              <a:rPr dirty="0"/>
            </a:br>
            <a:r>
              <a:rPr sz="1650" b="1" i="0" u="none" dirty="0">
                <a:solidFill>
                  <a:srgbClr val="222E40"/>
                </a:solidFill>
                <a:latin typeface="Aptos"/>
              </a:rPr>
              <a:t>Agora, no módulo 2,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vamos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aprender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conduzir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desenvolvimento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aplicativo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com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metodologia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estruturada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— o CBL — e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melhorar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experiência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usuário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nosso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4 / 61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Apresentando o Módulo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661089"/>
            <a:ext cx="8031175" cy="2194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 u="none" dirty="0">
                <a:solidFill>
                  <a:srgbClr val="222E40"/>
                </a:solidFill>
                <a:latin typeface="Aptos"/>
              </a:rPr>
              <a:t>"No módulo 2,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veremos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técnica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aprendizagem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bem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eficiente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chamada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CBL (Challenge-Based Learning),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utiliza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problemas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reais para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proporcionar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ao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aluno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aprendizagem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mais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eficiente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. Para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aplicar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o CBL,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formaremos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equipes e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trabalharemos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cima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problemas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reais."</a:t>
            </a:r>
            <a:br>
              <a:rPr sz="1600" dirty="0"/>
            </a:br>
            <a:br>
              <a:rPr sz="1600" dirty="0"/>
            </a:b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Objetivos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do módulo: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conhecer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e usar a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metodologia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CBL;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conhecer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aplicar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padrões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UX;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editar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formulários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no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AppSheet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;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editar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tabelas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no Sheets;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criar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tarefas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dividir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entre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membros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da equipe.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5 / 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Formação das Equipes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>
                <a:solidFill>
                  <a:srgbClr val="222E40"/>
                </a:solidFill>
                <a:latin typeface="Aptos"/>
              </a:rPr>
              <a:t>O material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orienta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para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aplicar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o CBL,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formaremos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equipes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trabalharemos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cima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problemas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reais (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página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38).</a:t>
            </a:r>
            <a:br>
              <a:rPr dirty="0"/>
            </a:br>
            <a:br>
              <a:rPr dirty="0"/>
            </a:br>
            <a:r>
              <a:rPr sz="1650" b="1" i="0" u="none" dirty="0">
                <a:solidFill>
                  <a:srgbClr val="222E40"/>
                </a:solidFill>
                <a:latin typeface="Aptos"/>
              </a:rPr>
              <a:t>Cada equipe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vai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conduzir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mesmo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ciclo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do CBL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desenvolvido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neste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material — Engage, Investigate e Act —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aplicado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aplicativo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vem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sendo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construído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desde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 Semana 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6 / 61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Por que Trabalhar em Equipe no CBL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0363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442106" cy="457200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60934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 dirty="0" err="1">
                <a:solidFill>
                  <a:srgbClr val="222E40"/>
                </a:solidFill>
                <a:latin typeface="Aptos"/>
              </a:rPr>
              <a:t>Problemas</a:t>
            </a:r>
            <a:r>
              <a:rPr sz="1900" b="1" i="0" u="none" dirty="0">
                <a:solidFill>
                  <a:srgbClr val="222E40"/>
                </a:solidFill>
                <a:latin typeface="Aptos"/>
              </a:rPr>
              <a:t> reais </a:t>
            </a:r>
            <a:r>
              <a:rPr sz="1900" b="1" i="0" u="none" dirty="0" err="1">
                <a:solidFill>
                  <a:srgbClr val="222E40"/>
                </a:solidFill>
                <a:latin typeface="Aptos"/>
              </a:rPr>
              <a:t>exigem</a:t>
            </a:r>
            <a:r>
              <a:rPr sz="19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900" b="1" i="0" u="none" dirty="0" err="1">
                <a:solidFill>
                  <a:srgbClr val="222E40"/>
                </a:solidFill>
                <a:latin typeface="Aptos"/>
              </a:rPr>
              <a:t>vários</a:t>
            </a:r>
            <a:r>
              <a:rPr sz="19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900" b="1" i="0" u="none" dirty="0" err="1">
                <a:solidFill>
                  <a:srgbClr val="222E40"/>
                </a:solidFill>
                <a:latin typeface="Aptos"/>
              </a:rPr>
              <a:t>olhares</a:t>
            </a:r>
            <a:endParaRPr sz="1900" b="1" i="0" u="none" dirty="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2559198"/>
            <a:ext cx="3076346" cy="11546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 dirty="0">
                <a:solidFill>
                  <a:srgbClr val="222E40"/>
                </a:solidFill>
                <a:latin typeface="Aptos"/>
              </a:rPr>
              <a:t>O CBL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parte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desafios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autênticos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; equipes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reúnem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perspectivas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diferentes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sobre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mesmo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problema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4794" y="1463040"/>
            <a:ext cx="3442106" cy="457200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39386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9386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3162" y="160934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Divisão de papéis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843" y="2549941"/>
            <a:ext cx="3076346" cy="11546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 dirty="0">
                <a:solidFill>
                  <a:srgbClr val="222E40"/>
                </a:solidFill>
                <a:latin typeface="Aptos"/>
              </a:rPr>
              <a:t>Cada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integrante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pode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assumir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parte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investigação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, do design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ou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implementação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no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AppSheet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8068" y="1463040"/>
            <a:ext cx="3442106" cy="457200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2660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2660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6436" y="160934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Avaliação 1 do material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2660" y="2537082"/>
            <a:ext cx="3076346" cy="1445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 dirty="0">
                <a:solidFill>
                  <a:srgbClr val="222E40"/>
                </a:solidFill>
                <a:latin typeface="Aptos"/>
              </a:rPr>
              <a:t>O próprio material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propõe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grupos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para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apresentar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oportunidades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do mercado de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aplicativos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seminário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(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Avaliação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1, p. 37).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7 / 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Atividade: Formar as Equipes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37215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0" i="1" u="none" dirty="0">
                <a:solidFill>
                  <a:srgbClr val="222E40"/>
                </a:solidFill>
                <a:latin typeface="Aptos"/>
              </a:rPr>
              <a:t>Organize a </a:t>
            </a:r>
            <a:r>
              <a:rPr sz="1750" b="0" i="1" u="none" dirty="0" err="1">
                <a:solidFill>
                  <a:srgbClr val="222E40"/>
                </a:solidFill>
                <a:latin typeface="Aptos"/>
              </a:rPr>
              <a:t>turma</a:t>
            </a:r>
            <a:r>
              <a:rPr sz="1750" b="0" i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50" b="0" i="1" u="none" dirty="0" err="1">
                <a:solidFill>
                  <a:srgbClr val="222E40"/>
                </a:solidFill>
                <a:latin typeface="Aptos"/>
              </a:rPr>
              <a:t>seguindo</a:t>
            </a:r>
            <a:r>
              <a:rPr sz="1750" b="0" i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50" b="0" i="1" u="none" dirty="0" err="1">
                <a:solidFill>
                  <a:srgbClr val="222E40"/>
                </a:solidFill>
                <a:latin typeface="Aptos"/>
              </a:rPr>
              <a:t>estes</a:t>
            </a:r>
            <a:r>
              <a:rPr sz="1750" b="0" i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50" b="0" i="1" u="none" dirty="0" err="1">
                <a:solidFill>
                  <a:srgbClr val="222E40"/>
                </a:solidFill>
                <a:latin typeface="Aptos"/>
              </a:rPr>
              <a:t>passos</a:t>
            </a:r>
            <a:r>
              <a:rPr sz="1750" b="0" i="1" u="none" dirty="0">
                <a:solidFill>
                  <a:srgbClr val="222E40"/>
                </a:solidFill>
                <a:latin typeface="Aptos"/>
              </a:rPr>
              <a:t>: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89429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28942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29968"/>
            <a:ext cx="10070287" cy="9029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50" b="0" i="0" u="none">
                <a:solidFill>
                  <a:srgbClr val="222E40"/>
                </a:solidFill>
                <a:latin typeface="Aptos"/>
              </a:rPr>
              <a:t>Formar equipes (o professor pode sugerir o número de integrantes conforme o tamanho da turma).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38703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338703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079242"/>
            <a:ext cx="10070287" cy="9029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50" b="0" i="0" u="none">
                <a:solidFill>
                  <a:srgbClr val="222E40"/>
                </a:solidFill>
                <a:latin typeface="Aptos"/>
              </a:rPr>
              <a:t>Escolher um nome e um(a) representante para a equipe.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387977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387977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4128516"/>
            <a:ext cx="10070287" cy="9029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50" b="0" i="0" u="none">
                <a:solidFill>
                  <a:srgbClr val="222E40"/>
                </a:solidFill>
                <a:latin typeface="Aptos"/>
              </a:rPr>
              <a:t>Relembrar o aplicativo de agendamento de serviços construído desde a Semana 2.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437250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43725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5177790"/>
            <a:ext cx="10070287" cy="9029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50" b="0" i="0" u="none" dirty="0">
                <a:solidFill>
                  <a:srgbClr val="222E40"/>
                </a:solidFill>
                <a:latin typeface="Aptos"/>
              </a:rPr>
              <a:t>Cada equipe </a:t>
            </a:r>
            <a:r>
              <a:rPr sz="1750" b="0" i="0" u="none" dirty="0" err="1">
                <a:solidFill>
                  <a:srgbClr val="222E40"/>
                </a:solidFill>
                <a:latin typeface="Aptos"/>
              </a:rPr>
              <a:t>receberá</a:t>
            </a:r>
            <a:r>
              <a:rPr sz="1750"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50" b="0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750"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50" b="0" i="0" u="none" dirty="0" err="1">
                <a:solidFill>
                  <a:srgbClr val="222E40"/>
                </a:solidFill>
                <a:latin typeface="Aptos"/>
              </a:rPr>
              <a:t>cópia</a:t>
            </a:r>
            <a:r>
              <a:rPr sz="1750" b="0" i="0" u="none" dirty="0">
                <a:solidFill>
                  <a:srgbClr val="222E40"/>
                </a:solidFill>
                <a:latin typeface="Aptos"/>
              </a:rPr>
              <a:t> do </a:t>
            </a:r>
            <a:r>
              <a:rPr sz="1750" b="0" i="0" u="none" dirty="0" err="1">
                <a:solidFill>
                  <a:srgbClr val="222E40"/>
                </a:solidFill>
                <a:latin typeface="Aptos"/>
              </a:rPr>
              <a:t>documento</a:t>
            </a:r>
            <a:r>
              <a:rPr sz="1750" b="0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750" b="0" i="0" u="none" dirty="0" err="1">
                <a:solidFill>
                  <a:srgbClr val="222E40"/>
                </a:solidFill>
                <a:latin typeface="Aptos"/>
              </a:rPr>
              <a:t>implantação</a:t>
            </a:r>
            <a:r>
              <a:rPr sz="1750" b="0" i="0" u="none" dirty="0">
                <a:solidFill>
                  <a:srgbClr val="222E40"/>
                </a:solidFill>
                <a:latin typeface="Aptos"/>
              </a:rPr>
              <a:t> do CBL para </a:t>
            </a:r>
            <a:r>
              <a:rPr sz="1750" b="0" i="0" u="none" dirty="0" err="1">
                <a:solidFill>
                  <a:srgbClr val="222E40"/>
                </a:solidFill>
                <a:latin typeface="Aptos"/>
              </a:rPr>
              <a:t>preencher</a:t>
            </a:r>
            <a:r>
              <a:rPr sz="1750"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50" b="0" i="0" u="none" dirty="0" err="1">
                <a:solidFill>
                  <a:srgbClr val="222E40"/>
                </a:solidFill>
                <a:latin typeface="Aptos"/>
              </a:rPr>
              <a:t>ao</a:t>
            </a:r>
            <a:r>
              <a:rPr sz="1750"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50" b="0" i="0" u="none" dirty="0" err="1">
                <a:solidFill>
                  <a:srgbClr val="222E40"/>
                </a:solidFill>
                <a:latin typeface="Aptos"/>
              </a:rPr>
              <a:t>longo</a:t>
            </a:r>
            <a:r>
              <a:rPr sz="1750" b="0" i="0" u="none" dirty="0">
                <a:solidFill>
                  <a:srgbClr val="222E40"/>
                </a:solidFill>
                <a:latin typeface="Aptos"/>
              </a:rPr>
              <a:t> da </a:t>
            </a:r>
            <a:r>
              <a:rPr sz="1750" b="0" i="0" u="none" dirty="0" err="1">
                <a:solidFill>
                  <a:srgbClr val="222E40"/>
                </a:solidFill>
                <a:latin typeface="Aptos"/>
              </a:rPr>
              <a:t>semana</a:t>
            </a:r>
            <a:r>
              <a:rPr sz="1750" b="0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8 / 61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Vídeo de Apoio: Trabalho em Equipe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1417320" cy="384048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🎥 Vídeo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1929384"/>
            <a:ext cx="4270248" cy="3227832"/>
          </a:xfrm>
          <a:prstGeom prst="rect">
            <a:avLst/>
          </a:prstGeom>
          <a:solidFill>
            <a:srgbClr val="22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humb_video2.jp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84248"/>
            <a:ext cx="4160520" cy="3118104"/>
          </a:xfrm>
          <a:prstGeom prst="rect">
            <a:avLst/>
          </a:prstGeom>
        </p:spPr>
      </p:pic>
      <p:sp>
        <p:nvSpPr>
          <p:cNvPr id="11" name="Oval 10">
            <a:hlinkClick r:id="rId3"/>
          </p:cNvPr>
          <p:cNvSpPr/>
          <p:nvPr/>
        </p:nvSpPr>
        <p:spPr>
          <a:xfrm>
            <a:off x="2491740" y="31775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1740" y="3250692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 u="none">
                <a:solidFill>
                  <a:srgbClr val="1E979D"/>
                </a:solidFill>
                <a:latin typeface="Apto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59" y="1481328"/>
            <a:ext cx="601949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22E40"/>
                </a:solidFill>
                <a:latin typeface="Aptos"/>
              </a:rPr>
              <a:t>A aprendizagem colaborativa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2258568"/>
            <a:ext cx="60194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979D"/>
                </a:solidFill>
                <a:latin typeface="Aptos"/>
              </a:rPr>
              <a:t>Canal: Educaline Brasil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2578608"/>
            <a:ext cx="60194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 u="none">
                <a:solidFill>
                  <a:srgbClr val="606E84"/>
                </a:solidFill>
                <a:latin typeface="Aptos"/>
              </a:rPr>
              <a:t>Duração aproximada: 9min19 (0:00-9:19)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944368"/>
            <a:ext cx="6019495" cy="901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i="0" u="none" dirty="0" err="1">
                <a:solidFill>
                  <a:srgbClr val="222E40"/>
                </a:solidFill>
                <a:latin typeface="Aptos"/>
              </a:rPr>
              <a:t>Relaciona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aprendizagem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colaborativa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trabalho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grupo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oferecendo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ponte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prática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para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organizar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as equipes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vão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aplicar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o CBL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sala de aula.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5394959" y="4041648"/>
            <a:ext cx="4785055" cy="502920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hlinkClick r:id="rId3"/>
          </p:cNvPr>
          <p:cNvSpPr txBox="1"/>
          <p:nvPr/>
        </p:nvSpPr>
        <p:spPr>
          <a:xfrm>
            <a:off x="5394959" y="4041648"/>
            <a:ext cx="4785055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Aptos"/>
              </a:rPr>
              <a:t>▶ ASSISTIR NO YOUTUBE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99471" y="3913632"/>
            <a:ext cx="1069848" cy="1069848"/>
          </a:xfrm>
          <a:prstGeom prst="rect">
            <a:avLst/>
          </a:prstGeom>
          <a:solidFill>
            <a:srgbClr val="FFFFFF"/>
          </a:solidFill>
          <a:ln w="1524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qr_video2_equipes.png">
            <a:hlinkClick r:id="rId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4335" y="3968496"/>
            <a:ext cx="960120" cy="960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94959" y="4700016"/>
            <a:ext cx="601949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sng">
                <a:solidFill>
                  <a:srgbClr val="0066CC"/>
                </a:solidFill>
                <a:latin typeface="Aptos"/>
                <a:hlinkClick r:id="rId3"/>
              </a:rPr>
              <a:t>https://www.youtube.com/watch?v=yprs7FwcU9A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5093208"/>
            <a:ext cx="601949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606E84"/>
                </a:solidFill>
                <a:latin typeface="Aptos"/>
              </a:rPr>
              <a:t>Fonte: YouTube — Educaline Brasil. Acesso em 23 ago. 2026.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9 / 61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Unidade 1 — Challenge-Based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ura_banner_unida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7048"/>
            <a:ext cx="10362895" cy="2161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825508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u="none">
                <a:solidFill>
                  <a:srgbClr val="606E84"/>
                </a:solidFill>
                <a:latin typeface="Aptos"/>
              </a:rPr>
              <a:t>Fonte: Material Didático AppClicks - Disciplina 1 - PRONATEC/IFSP.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91268"/>
            <a:ext cx="10180015" cy="19352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 u="none" dirty="0">
                <a:solidFill>
                  <a:srgbClr val="222E40"/>
                </a:solidFill>
                <a:latin typeface="Aptos"/>
              </a:rPr>
              <a:t>"Na </a:t>
            </a:r>
            <a:r>
              <a:rPr sz="1900" b="1" i="0" u="none" dirty="0" err="1">
                <a:solidFill>
                  <a:srgbClr val="222E40"/>
                </a:solidFill>
                <a:latin typeface="Aptos"/>
              </a:rPr>
              <a:t>unidade</a:t>
            </a:r>
            <a:r>
              <a:rPr sz="1900" b="1" i="0" u="none" dirty="0">
                <a:solidFill>
                  <a:srgbClr val="222E40"/>
                </a:solidFill>
                <a:latin typeface="Aptos"/>
              </a:rPr>
              <a:t> 1, </a:t>
            </a:r>
            <a:r>
              <a:rPr sz="1900" b="1" i="0" u="none" dirty="0" err="1">
                <a:solidFill>
                  <a:srgbClr val="222E40"/>
                </a:solidFill>
                <a:latin typeface="Aptos"/>
              </a:rPr>
              <a:t>veremos</a:t>
            </a:r>
            <a:r>
              <a:rPr sz="19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900" b="1" i="0" u="none" dirty="0" err="1">
                <a:solidFill>
                  <a:srgbClr val="222E40"/>
                </a:solidFill>
                <a:latin typeface="Aptos"/>
              </a:rPr>
              <a:t>como</a:t>
            </a:r>
            <a:r>
              <a:rPr sz="1900" b="1" i="0" u="none" dirty="0">
                <a:solidFill>
                  <a:srgbClr val="222E40"/>
                </a:solidFill>
                <a:latin typeface="Aptos"/>
              </a:rPr>
              <a:t> usar a </a:t>
            </a:r>
            <a:r>
              <a:rPr sz="1900" b="1" i="0" u="none" dirty="0" err="1">
                <a:solidFill>
                  <a:srgbClr val="222E40"/>
                </a:solidFill>
                <a:latin typeface="Aptos"/>
              </a:rPr>
              <a:t>metodologia</a:t>
            </a:r>
            <a:r>
              <a:rPr sz="1900" b="1" i="0" u="none" dirty="0">
                <a:solidFill>
                  <a:srgbClr val="222E40"/>
                </a:solidFill>
                <a:latin typeface="Aptos"/>
              </a:rPr>
              <a:t> CBL para ter um </a:t>
            </a:r>
            <a:r>
              <a:rPr sz="1900" b="1" i="0" u="none" dirty="0" err="1">
                <a:solidFill>
                  <a:srgbClr val="222E40"/>
                </a:solidFill>
                <a:latin typeface="Aptos"/>
              </a:rPr>
              <a:t>caminho</a:t>
            </a:r>
            <a:r>
              <a:rPr sz="1900" b="1" i="0" u="none" dirty="0">
                <a:solidFill>
                  <a:srgbClr val="222E40"/>
                </a:solidFill>
                <a:latin typeface="Aptos"/>
              </a:rPr>
              <a:t> claro de </a:t>
            </a:r>
            <a:r>
              <a:rPr sz="1900" b="1" i="0" u="none" dirty="0" err="1">
                <a:solidFill>
                  <a:srgbClr val="222E40"/>
                </a:solidFill>
                <a:latin typeface="Aptos"/>
              </a:rPr>
              <a:t>como</a:t>
            </a:r>
            <a:r>
              <a:rPr sz="1900" b="1" i="0" u="none" dirty="0">
                <a:solidFill>
                  <a:srgbClr val="222E40"/>
                </a:solidFill>
                <a:latin typeface="Aptos"/>
              </a:rPr>
              <a:t> resolver </a:t>
            </a:r>
            <a:r>
              <a:rPr sz="190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9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900" b="1" i="0" u="none" dirty="0" err="1">
                <a:solidFill>
                  <a:srgbClr val="222E40"/>
                </a:solidFill>
                <a:latin typeface="Aptos"/>
              </a:rPr>
              <a:t>problemas</a:t>
            </a:r>
            <a:r>
              <a:rPr sz="1900" b="1" i="0" u="none" dirty="0">
                <a:solidFill>
                  <a:srgbClr val="222E40"/>
                </a:solidFill>
                <a:latin typeface="Aptos"/>
              </a:rPr>
              <a:t>." (Material </a:t>
            </a:r>
            <a:r>
              <a:rPr sz="1900" b="1" i="0" u="none" dirty="0" err="1">
                <a:solidFill>
                  <a:srgbClr val="222E40"/>
                </a:solidFill>
                <a:latin typeface="Aptos"/>
              </a:rPr>
              <a:t>Didático</a:t>
            </a:r>
            <a:r>
              <a:rPr sz="1900" b="1" i="0" u="none" dirty="0">
                <a:solidFill>
                  <a:srgbClr val="222E40"/>
                </a:solidFill>
                <a:latin typeface="Aptos"/>
              </a:rPr>
              <a:t>, p. 39)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10 / 61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O que é o CBL?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>
                <a:solidFill>
                  <a:srgbClr val="222E40"/>
                </a:solidFill>
                <a:latin typeface="Aptos"/>
              </a:rPr>
              <a:t>Challenge-Based Learning (CBL) é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abordagem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educacional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centrada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resolver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desafios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mundo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real. Ela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convida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alunos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 se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envolverem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ativamente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com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problemas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autênticos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colaborarem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proporem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soluções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práticas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significativas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11 / 61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As Três Fases do CBL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442106" cy="457200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60934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Engage (Engajar)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3076346" cy="11546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 dirty="0">
                <a:solidFill>
                  <a:srgbClr val="222E40"/>
                </a:solidFill>
                <a:latin typeface="Aptos"/>
              </a:rPr>
              <a:t>Da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ideia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ampla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(big idea) a um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desafio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concreto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realizável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por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meio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do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questionamento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essencial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4794" y="1463040"/>
            <a:ext cx="3442106" cy="457200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39386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9386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3162" y="160934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Investigate (Investigar)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7674" y="2084832"/>
            <a:ext cx="3076346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Pesquisa aprofundada guiada por perguntas, atividades e recursos orientadores.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8068" y="1463040"/>
            <a:ext cx="3442106" cy="457200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2660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2660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6436" y="160934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Act (Agir)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0948" y="2084832"/>
            <a:ext cx="3076346" cy="11546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Desenvolvimento e implementação de soluções baseadas em evidências, para um público real.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12 / 61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Figura 29 - Ciclo do CBL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 err="1">
                <a:solidFill>
                  <a:srgbClr val="266FAD"/>
                </a:solidFill>
                <a:latin typeface="Aptos"/>
              </a:rPr>
              <a:t>Processo</a:t>
            </a:r>
            <a:r>
              <a:rPr b="1" i="0" u="none" dirty="0">
                <a:solidFill>
                  <a:srgbClr val="266FAD"/>
                </a:solidFill>
                <a:latin typeface="Aptos"/>
              </a:rPr>
              <a:t> contínuo: Document, Reflect, Share </a:t>
            </a:r>
            <a:r>
              <a:rPr b="1" i="0" u="none" dirty="0" err="1">
                <a:solidFill>
                  <a:srgbClr val="266FAD"/>
                </a:solidFill>
                <a:latin typeface="Aptos"/>
              </a:rPr>
              <a:t>ao</a:t>
            </a:r>
            <a:r>
              <a:rPr b="1" i="0" u="none" dirty="0">
                <a:solidFill>
                  <a:srgbClr val="266FAD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66FAD"/>
                </a:solidFill>
                <a:latin typeface="Aptos"/>
              </a:rPr>
              <a:t>redor</a:t>
            </a:r>
            <a:r>
              <a:rPr b="1" i="0" u="none" dirty="0">
                <a:solidFill>
                  <a:srgbClr val="266FAD"/>
                </a:solidFill>
                <a:latin typeface="Aptos"/>
              </a:rPr>
              <a:t> das </a:t>
            </a:r>
            <a:r>
              <a:rPr b="1" i="0" u="none" dirty="0" err="1">
                <a:solidFill>
                  <a:srgbClr val="266FAD"/>
                </a:solidFill>
                <a:latin typeface="Aptos"/>
              </a:rPr>
              <a:t>três</a:t>
            </a:r>
            <a:r>
              <a:rPr b="1" i="0" u="none" dirty="0">
                <a:solidFill>
                  <a:srgbClr val="266FAD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66FAD"/>
                </a:solidFill>
                <a:latin typeface="Aptos"/>
              </a:rPr>
              <a:t>fases</a:t>
            </a:r>
            <a:r>
              <a:rPr b="1" i="0" u="none" dirty="0">
                <a:solidFill>
                  <a:srgbClr val="266FAD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66FAD"/>
                </a:solidFill>
                <a:latin typeface="Aptos"/>
              </a:rPr>
              <a:t>interligadas</a:t>
            </a:r>
            <a:r>
              <a:rPr b="1" i="0" u="none" dirty="0">
                <a:solidFill>
                  <a:srgbClr val="266FAD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8313" y="1691640"/>
            <a:ext cx="5175068" cy="433425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ura29_ciclo_cb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393" y="1956816"/>
            <a:ext cx="4603213" cy="38221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099048"/>
            <a:ext cx="1072865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 u="none">
                <a:solidFill>
                  <a:srgbClr val="606E84"/>
                </a:solidFill>
                <a:latin typeface="Aptos"/>
              </a:rPr>
              <a:t>Fonte: THE CHALLENGE INSTITUTE, 2018 apud Material Didático AppClicks - Disciplina 1 - PRONATEC/IFSP, p. 40.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13 / 61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Um Processo Contínuo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>
                <a:solidFill>
                  <a:srgbClr val="222E40"/>
                </a:solidFill>
                <a:latin typeface="Aptos"/>
              </a:rPr>
              <a:t>Ao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longo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processo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é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possível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realizar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ciclos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exploração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menores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dentro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cada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fase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além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retornar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etapas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anteriores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sempre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necessário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  <a:br>
              <a:rPr dirty="0"/>
            </a:br>
            <a:br>
              <a:rPr dirty="0"/>
            </a:br>
            <a:r>
              <a:rPr sz="1650" b="1" i="0" u="none" dirty="0">
                <a:solidFill>
                  <a:srgbClr val="222E40"/>
                </a:solidFill>
                <a:latin typeface="Aptos"/>
              </a:rPr>
              <a:t>Todo esse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percurso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é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sustentado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por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um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processo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contínuo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documentação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reflexão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compartilhamento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acompanha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enriquece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aprendizagem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14 / 61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Vídeo de Apoio: O que é o CBL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1417320" cy="384048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🎥 Vídeo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1929384"/>
            <a:ext cx="4270248" cy="3227832"/>
          </a:xfrm>
          <a:prstGeom prst="rect">
            <a:avLst/>
          </a:prstGeom>
          <a:solidFill>
            <a:srgbClr val="22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humb_video1.jp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84248"/>
            <a:ext cx="4160520" cy="3118104"/>
          </a:xfrm>
          <a:prstGeom prst="rect">
            <a:avLst/>
          </a:prstGeom>
        </p:spPr>
      </p:pic>
      <p:sp>
        <p:nvSpPr>
          <p:cNvPr id="11" name="Oval 10">
            <a:hlinkClick r:id="rId3"/>
          </p:cNvPr>
          <p:cNvSpPr/>
          <p:nvPr/>
        </p:nvSpPr>
        <p:spPr>
          <a:xfrm>
            <a:off x="2491740" y="31775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1740" y="3250692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 u="none">
                <a:solidFill>
                  <a:srgbClr val="266FAD"/>
                </a:solidFill>
                <a:latin typeface="Apto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59" y="1481328"/>
            <a:ext cx="601949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22E40"/>
                </a:solidFill>
                <a:latin typeface="Aptos"/>
              </a:rPr>
              <a:t>A MELHOR Metodologia de APRENDIZADO que já vi  - Challenge-Based Learning - CBL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2258568"/>
            <a:ext cx="60194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66FAD"/>
                </a:solidFill>
                <a:latin typeface="Aptos"/>
              </a:rPr>
              <a:t>Canal: Nadja Caldeira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2578608"/>
            <a:ext cx="60194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 u="none">
                <a:solidFill>
                  <a:srgbClr val="606E84"/>
                </a:solidFill>
                <a:latin typeface="Aptos"/>
              </a:rPr>
              <a:t>Duração aproximada: 15min22 (0:00-15:22)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796308"/>
            <a:ext cx="6263641" cy="12065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i="0" u="none" dirty="0" err="1">
                <a:solidFill>
                  <a:srgbClr val="222E40"/>
                </a:solidFill>
                <a:latin typeface="Aptos"/>
              </a:rPr>
              <a:t>Apresenta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português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, 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metodologia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Challenge-Based Learning 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ajuda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visualizar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como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o CBL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organiza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aprendizagem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partir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desafios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reais antes de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detalharmos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suas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três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fases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5394959" y="4041648"/>
            <a:ext cx="4785055" cy="502920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hlinkClick r:id="rId3"/>
          </p:cNvPr>
          <p:cNvSpPr txBox="1"/>
          <p:nvPr/>
        </p:nvSpPr>
        <p:spPr>
          <a:xfrm>
            <a:off x="5394959" y="4041648"/>
            <a:ext cx="4785055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Aptos"/>
              </a:rPr>
              <a:t>▶ ASSISTIR NO YOUTUBE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99471" y="3913632"/>
            <a:ext cx="1069848" cy="1069848"/>
          </a:xfrm>
          <a:prstGeom prst="rect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qr_video1_cbl.png">
            <a:hlinkClick r:id="rId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4335" y="3968496"/>
            <a:ext cx="960120" cy="960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94959" y="4700016"/>
            <a:ext cx="601949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sng">
                <a:solidFill>
                  <a:srgbClr val="0066CC"/>
                </a:solidFill>
                <a:latin typeface="Aptos"/>
                <a:hlinkClick r:id="rId3"/>
              </a:rPr>
              <a:t>https://www.youtube.com/watch?v=NO8TL0cRsCA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5093208"/>
            <a:ext cx="601949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606E84"/>
                </a:solidFill>
                <a:latin typeface="Aptos"/>
              </a:rPr>
              <a:t>Fonte: YouTube — Nadja Caldeira. Acesso em 23 ago. 2026.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15 / 61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Fase Engage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936869"/>
            <a:ext cx="8031175" cy="1642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 u="none" dirty="0">
                <a:solidFill>
                  <a:srgbClr val="222E40"/>
                </a:solidFill>
                <a:latin typeface="Aptos"/>
              </a:rPr>
              <a:t>Na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fase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Engage,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alunos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fazem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transição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ideia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ampla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abstrata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(a big idea) para um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desafio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concreto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realizável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.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Isso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acontece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por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meio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do Essential Questioning (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Questionamento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Essencial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).</a:t>
            </a:r>
            <a:br>
              <a:rPr sz="1600" dirty="0"/>
            </a:br>
            <a:br>
              <a:rPr sz="1600" dirty="0"/>
            </a:br>
            <a:r>
              <a:rPr sz="1600" b="1" i="0" u="none" dirty="0">
                <a:solidFill>
                  <a:srgbClr val="222E40"/>
                </a:solidFill>
                <a:latin typeface="Aptos"/>
              </a:rPr>
              <a:t>O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objetivo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é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promover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conexão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pessoal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com o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conteúdo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acadêmico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incentivando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alunos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assumir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um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desafio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envolvente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00" b="1" i="0" u="none" dirty="0" err="1">
                <a:solidFill>
                  <a:srgbClr val="222E40"/>
                </a:solidFill>
                <a:latin typeface="Aptos"/>
              </a:rPr>
              <a:t>significativo</a:t>
            </a:r>
            <a:r>
              <a:rPr sz="1600" b="1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16 / 61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Big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>
                <a:solidFill>
                  <a:srgbClr val="222E40"/>
                </a:solidFill>
                <a:latin typeface="Aptos"/>
              </a:rPr>
              <a:t>A Big Idea é um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tema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amplo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significativo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 equipe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deseja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explorar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com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potencial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para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gerar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impacto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social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comunitário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  <a:br>
              <a:rPr dirty="0"/>
            </a:br>
            <a:br>
              <a:rPr dirty="0"/>
            </a:br>
            <a:r>
              <a:rPr sz="1650" b="1" i="0" u="none" dirty="0">
                <a:solidFill>
                  <a:srgbClr val="222E40"/>
                </a:solidFill>
                <a:latin typeface="Aptos"/>
              </a:rPr>
              <a:t>Não é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apenas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"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ideia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genial": é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área de interesse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relevante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conectada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propósitos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sociais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necessidades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reais.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Exemplos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: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Vendas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Financeiro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Agendamento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17 / 61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Glossário: Big +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 u="none">
                <a:solidFill>
                  <a:srgbClr val="266FAD"/>
                </a:solidFill>
                <a:latin typeface="Aptos"/>
              </a:rPr>
              <a:t>Sinônimos usados no material para traduzir os termos em inglês.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4199" y="1691640"/>
            <a:ext cx="8083296" cy="3224745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ura_big_idea_gloss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716" y="1892808"/>
            <a:ext cx="7284567" cy="2783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989537"/>
            <a:ext cx="1072865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 u="none">
                <a:solidFill>
                  <a:srgbClr val="606E84"/>
                </a:solidFill>
                <a:latin typeface="Aptos"/>
              </a:rPr>
              <a:t>Fonte: Material Didático AppClicks - Disciplina 1 - PRONATEC/IFSP, p. 41.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18 / 61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Big Idea do Nosso Exemplo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266FAD"/>
                </a:solidFill>
                <a:latin typeface="Aptos"/>
              </a:rPr>
              <a:t>EXEMPLO USADO NO MATERIAL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75688"/>
            <a:ext cx="10362895" cy="3730752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19656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0" b="1" i="0" u="none">
                <a:solidFill>
                  <a:srgbClr val="266FAD"/>
                </a:solidFill>
                <a:latin typeface="Aptos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58568"/>
            <a:ext cx="9448495" cy="3364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1" u="none">
                <a:solidFill>
                  <a:srgbClr val="222E40"/>
                </a:solidFill>
                <a:latin typeface="Aptos"/>
              </a:rPr>
              <a:t>Prestação de Serviços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16168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1" u="none">
                <a:solidFill>
                  <a:srgbClr val="606E84"/>
                </a:solidFill>
                <a:latin typeface="Aptos"/>
              </a:rPr>
              <a:t>Fonte: Material Didático AppClicks - Disciplina 1 - PRONATEC/IFSP, p. 41.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19 / 61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Essential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834341"/>
            <a:ext cx="8031175" cy="1847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b="1" i="0" u="none" dirty="0">
                <a:solidFill>
                  <a:srgbClr val="222E40"/>
                </a:solidFill>
                <a:latin typeface="Aptos"/>
              </a:rPr>
              <a:t>A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partir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da Big Idea,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surgem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as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perguntas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essenciais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(Essential Questions),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expressam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tanto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interesses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pessoais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dos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alunos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quanto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as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necessidades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da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comunidade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.</a:t>
            </a:r>
            <a:br>
              <a:rPr dirty="0"/>
            </a:br>
            <a:br>
              <a:rPr dirty="0"/>
            </a:br>
            <a:r>
              <a:rPr b="1" i="0" u="none" dirty="0">
                <a:solidFill>
                  <a:srgbClr val="222E40"/>
                </a:solidFill>
                <a:latin typeface="Aptos"/>
              </a:rPr>
              <a:t>Elas não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são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apenas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inspiração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: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devem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ser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efetivamente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respondidas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durante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fase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Investigate do CBL.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20 / 61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Essential Questions do Nosso Exemplo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50" b="1" i="0" u="none">
                <a:solidFill>
                  <a:srgbClr val="266FAD"/>
                </a:solidFill>
                <a:latin typeface="Aptos"/>
              </a:rPr>
              <a:t>Big Idea: Prestação de Serviços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5263743" cy="40690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211226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12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112264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Pergunta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87752"/>
            <a:ext cx="4897983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 dirty="0">
                <a:solidFill>
                  <a:srgbClr val="222E40"/>
                </a:solidFill>
                <a:latin typeface="Aptos"/>
              </a:rPr>
              <a:t>Quais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são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principais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desafios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enfrentados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pelos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prestadores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serviços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no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seu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dia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dia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431" y="1965960"/>
            <a:ext cx="5263743" cy="40690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61023" y="211226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1023" y="2112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4799" y="2112264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Pergunta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2587752"/>
            <a:ext cx="4897983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 dirty="0">
                <a:solidFill>
                  <a:srgbClr val="222E40"/>
                </a:solidFill>
                <a:latin typeface="Aptos"/>
              </a:rPr>
              <a:t>Como um app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pode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facilitar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gestão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clientes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orçamentos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pagamentos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e agenda dos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prestadores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serviços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21 / 61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679235"/>
            <a:ext cx="8031175" cy="2157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b="1" i="0" u="none" dirty="0">
                <a:solidFill>
                  <a:srgbClr val="222E40"/>
                </a:solidFill>
                <a:latin typeface="Aptos"/>
              </a:rPr>
              <a:t>O challenge (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desafio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) é o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momento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a essential question principal se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transforma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um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chamado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à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ação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incentivando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investigação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mais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profunda e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significativa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.</a:t>
            </a:r>
            <a:br>
              <a:rPr dirty="0"/>
            </a:br>
            <a:br>
              <a:rPr dirty="0"/>
            </a:br>
            <a:r>
              <a:rPr b="1" i="0" u="none" dirty="0">
                <a:solidFill>
                  <a:srgbClr val="222E40"/>
                </a:solidFill>
                <a:latin typeface="Aptos"/>
              </a:rPr>
              <a:t>Esse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desafio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precisa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ser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prático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motivador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relevante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. A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fase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Engage se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encerra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com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declaração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desafio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clara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instigante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possível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de ser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realizada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pela equipe.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22 / 61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Challenge do Nosso Exemplo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266FAD"/>
                </a:solidFill>
                <a:latin typeface="Aptos"/>
              </a:rPr>
              <a:t>Declaração DE DESAFIO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75688"/>
            <a:ext cx="10362895" cy="3730752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19656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0" b="1" i="0" u="none">
                <a:solidFill>
                  <a:srgbClr val="266FAD"/>
                </a:solidFill>
                <a:latin typeface="Aptos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58568"/>
            <a:ext cx="9448495" cy="3364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 i="1" u="none">
                <a:solidFill>
                  <a:srgbClr val="222E40"/>
                </a:solidFill>
                <a:latin typeface="Aptos"/>
              </a:rPr>
              <a:t>Como podemos criar um aplicativo acessível, funcional e confiável que atenda as necessidades reais de diferentes prestadores de serviços, facilitando a gestão do trabalho?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16168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1" u="none">
                <a:solidFill>
                  <a:srgbClr val="606E84"/>
                </a:solidFill>
                <a:latin typeface="Aptos"/>
              </a:rPr>
              <a:t>Fonte: Material Didático AppClicks - Disciplina 1 - PRONATEC/IFSP, p. 42.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23 / 61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Fechamento da Fase Engage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442106" cy="457200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60934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1. Big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3076346" cy="38221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 u="none">
                <a:solidFill>
                  <a:srgbClr val="222E40"/>
                </a:solidFill>
                <a:latin typeface="Aptos"/>
              </a:rPr>
              <a:t>Prestação de Serviços — tema amplo com potencial de impacto real.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4794" y="1463040"/>
            <a:ext cx="3442106" cy="457200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39386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9386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3162" y="160934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2. Essential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7674" y="2084832"/>
            <a:ext cx="3076346" cy="38221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 u="none">
                <a:solidFill>
                  <a:srgbClr val="222E40"/>
                </a:solidFill>
                <a:latin typeface="Aptos"/>
              </a:rPr>
              <a:t>Perguntas que conectam interesse pessoal e necessidade da comunidade.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8068" y="1463040"/>
            <a:ext cx="3442106" cy="457200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2660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2660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6436" y="160934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3. 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0948" y="2084832"/>
            <a:ext cx="3076346" cy="38221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 u="none">
                <a:solidFill>
                  <a:srgbClr val="222E40"/>
                </a:solidFill>
                <a:latin typeface="Aptos"/>
              </a:rPr>
              <a:t>Declaração de desafio clara, motivadora e realizável pela equipe.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24 / 61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Abertura do Dia 2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u="none" dirty="0">
                <a:solidFill>
                  <a:srgbClr val="222E40"/>
                </a:solidFill>
                <a:latin typeface="Aptos"/>
              </a:rPr>
              <a:t>No Dia 1,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cada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equipe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definiu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sua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Big Idea,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sua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Essential Question e o Challenge do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projeto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.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Hoje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avançamos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pela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fase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Investigate e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chegamos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à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fase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Act,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produzindo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documento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implantação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do CBL.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🗓️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25 / 61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Fase Investigate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>
                <a:solidFill>
                  <a:srgbClr val="222E40"/>
                </a:solidFill>
                <a:latin typeface="Aptos"/>
              </a:rPr>
              <a:t>A partir do challenge, os alunos constroem experiências de aprendizagem contextualizadas e realizam pesquisas aprofundadas, baseadas em conteúdos e conceitos relevantes.</a:t>
            </a:r>
            <a:br/>
            <a:br/>
            <a:r>
              <a:rPr sz="1650" b="1" i="0" u="none">
                <a:solidFill>
                  <a:srgbClr val="222E40"/>
                </a:solidFill>
                <a:latin typeface="Aptos"/>
              </a:rPr>
              <a:t>O objetivo é criar uma base sólida para o desenvolvimento de soluções práticas e sustentáveis.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26 / 61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Guiding Questions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679235"/>
            <a:ext cx="8031175" cy="21578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b="1" i="0" u="none" dirty="0">
                <a:solidFill>
                  <a:srgbClr val="222E40"/>
                </a:solidFill>
                <a:latin typeface="Aptos"/>
              </a:rPr>
              <a:t>A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fase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Investigate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tem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início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com a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formulação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perguntas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relacionadas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ao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Challenge — as Guiding Questions. Elas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guiam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percurso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aprendizagem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necessário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para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construir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solução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bem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fundamentada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.</a:t>
            </a:r>
            <a:br>
              <a:rPr dirty="0"/>
            </a:br>
            <a:br>
              <a:rPr dirty="0"/>
            </a:br>
            <a:r>
              <a:rPr b="1" i="0" u="none" dirty="0" err="1">
                <a:solidFill>
                  <a:srgbClr val="222E40"/>
                </a:solidFill>
                <a:latin typeface="Aptos"/>
              </a:rPr>
              <a:t>Exemplos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do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curso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: "Como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prestadores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serviços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atualmente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organizam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seus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atendimentos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finanças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?" e "Quais ferramentas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digitais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eles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 já </a:t>
            </a:r>
            <a:r>
              <a:rPr b="1" i="0" u="none" dirty="0" err="1">
                <a:solidFill>
                  <a:srgbClr val="222E40"/>
                </a:solidFill>
                <a:latin typeface="Aptos"/>
              </a:rPr>
              <a:t>utilizam</a:t>
            </a:r>
            <a:r>
              <a:rPr b="1" i="0" u="none" dirty="0">
                <a:solidFill>
                  <a:srgbClr val="222E40"/>
                </a:solidFill>
                <a:latin typeface="Aptos"/>
              </a:rPr>
              <a:t>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27 / 61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Exemplos de Guiding 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50" b="1" i="0" u="none">
                <a:solidFill>
                  <a:srgbClr val="266FAD"/>
                </a:solidFill>
                <a:latin typeface="Aptos"/>
              </a:rPr>
              <a:t>Recursos usados para responder as Guiding Questions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3442106" cy="40690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211226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12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11226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Artigos 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87752"/>
            <a:ext cx="3076346" cy="11546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 dirty="0" err="1">
                <a:solidFill>
                  <a:srgbClr val="222E40"/>
                </a:solidFill>
                <a:latin typeface="Aptos"/>
              </a:rPr>
              <a:t>Reportagens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sobre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o mercado informal e dados do IBGE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ou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Sebrae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sobre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trabalho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autônomo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4794" y="1965960"/>
            <a:ext cx="3442106" cy="40690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39386" y="211226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9386" y="2112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3162" y="211226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Tutoriais e estudos de caso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962" y="2587752"/>
            <a:ext cx="3076346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Tutoriais de UX/UI e estudos de apps existentes (GetNinjas, Habitissimo, Triider).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8068" y="1965960"/>
            <a:ext cx="3442106" cy="40690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182660" y="211226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2660" y="2112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6436" y="211226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Modelos e conteúdos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9236" y="2587752"/>
            <a:ext cx="3076346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Modelos de jornada do usuário, personas e conteúdos sobre inclusão digital.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28 / 61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Exemplos de Guiding Activities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50" b="1" i="0" u="none">
                <a:solidFill>
                  <a:srgbClr val="266FAD"/>
                </a:solidFill>
                <a:latin typeface="Aptos"/>
              </a:rPr>
              <a:t>Atividades investigativas realizadas pela equipe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3442106" cy="40690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211226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12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11226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Entrevistas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87752"/>
            <a:ext cx="3076346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 dirty="0" err="1">
                <a:solidFill>
                  <a:srgbClr val="222E40"/>
                </a:solidFill>
                <a:latin typeface="Aptos"/>
              </a:rPr>
              <a:t>Entrevistar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prestadores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serviço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comunidade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local.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4794" y="1965960"/>
            <a:ext cx="3442106" cy="40690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39386" y="211226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9386" y="2112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3162" y="211226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Questionários e análises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7674" y="2587752"/>
            <a:ext cx="3076346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Aplicar questionários online e comparar funcionalidades de apps concorrentes.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8068" y="1965960"/>
            <a:ext cx="3442106" cy="40690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182660" y="211226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2660" y="2112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6436" y="211226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Protótipos e testes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0948" y="2587752"/>
            <a:ext cx="3076346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Criar protótipos em Figma, Canva ou papel e realizar testes de usabilidade.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29 / 61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Synthesis: Fechamento do Investigate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>
                <a:solidFill>
                  <a:srgbClr val="222E40"/>
                </a:solidFill>
                <a:latin typeface="Aptos"/>
              </a:rPr>
              <a:t>Após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explorar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as Guiding Questions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reunir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principais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insights,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alunos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analisam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dados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coletados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reconhecem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padrões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temas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emergentes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  <a:br>
              <a:rPr dirty="0"/>
            </a:br>
            <a:br>
              <a:rPr dirty="0"/>
            </a:br>
            <a:r>
              <a:rPr sz="1650" b="1" i="0" u="none" dirty="0">
                <a:solidFill>
                  <a:srgbClr val="222E40"/>
                </a:solidFill>
                <a:latin typeface="Aptos"/>
              </a:rPr>
              <a:t>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etapa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se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encerra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com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relatórios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apresentações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comprovam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compreensão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problema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estabelecendo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base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sólida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para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construção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solução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30 / 61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Fase Act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>
                <a:solidFill>
                  <a:srgbClr val="222E40"/>
                </a:solidFill>
                <a:latin typeface="Aptos"/>
              </a:rPr>
              <a:t>Na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fase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Act,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alunos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desenvolvem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colocam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prática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soluções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fundamentadas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evidências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direcionadas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 um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público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real. Essa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fase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representa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momento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transformar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aprendizado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ação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  <a:br>
              <a:rPr dirty="0"/>
            </a:br>
            <a:br>
              <a:rPr dirty="0"/>
            </a:b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resultados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implementação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avaliados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permitindo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ajustes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reflexões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sobre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efetividade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proposta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31 / 61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Solution Concepts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>
                <a:solidFill>
                  <a:srgbClr val="222E40"/>
                </a:solidFill>
                <a:latin typeface="Aptos"/>
              </a:rPr>
              <a:t>Após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finalizar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o Investigate,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alunos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já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possuem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base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consistente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conhecimentos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insights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capacita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criar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propostas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solução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  <a:br>
              <a:rPr dirty="0"/>
            </a:br>
            <a:br>
              <a:rPr dirty="0"/>
            </a:b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Essas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propostas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podem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se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concretizar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como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campanhas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ações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melhoria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ou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desenvolvimento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produtos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serviços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respondam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diretamente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desafio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identificado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32 / 61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Solution Concept do Nosso Exemplo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6953A5"/>
                </a:solidFill>
                <a:latin typeface="Aptos"/>
              </a:rPr>
              <a:t>PROPOSTA DE Solução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75688"/>
            <a:ext cx="10362895" cy="3730752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19656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0" b="1" i="0" u="none">
                <a:solidFill>
                  <a:srgbClr val="6953A5"/>
                </a:solidFill>
                <a:latin typeface="Aptos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58568"/>
            <a:ext cx="9448495" cy="3364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 i="1" u="none">
                <a:solidFill>
                  <a:srgbClr val="222E40"/>
                </a:solidFill>
                <a:latin typeface="Aptos"/>
              </a:rPr>
              <a:t>Criar um aplicativo multiplataforma que centralize as principais necessidades de prestadores de serviços: agendamento, controle de orçamentos, recebimento de pagamentos e comunicação com clientes.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16168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1" u="none">
                <a:solidFill>
                  <a:srgbClr val="606E84"/>
                </a:solidFill>
                <a:latin typeface="Aptos"/>
              </a:rPr>
              <a:t>Fonte: Material Didático AppClicks - Disciplina 1 - PRONATEC/IFSP, p. 44.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33 / 61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Solution Development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Depois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o Solution Concept é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aprovado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alunos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iniciam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desenvolvimento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protótipos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colocando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ideias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prática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por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meio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testes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experimentações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  <a:br>
              <a:rPr dirty="0"/>
            </a:br>
            <a:br>
              <a:rPr dirty="0"/>
            </a:br>
            <a:r>
              <a:rPr sz="1650" b="1" i="0" u="none" dirty="0">
                <a:solidFill>
                  <a:srgbClr val="222E40"/>
                </a:solidFill>
                <a:latin typeface="Aptos"/>
              </a:rPr>
              <a:t>Esse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processo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iterativo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design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geralmente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desperta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novas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perguntas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exigindo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um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retorno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à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fase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Investigate para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ajustes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aprimoramentos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34 / 61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Atividades do Solution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609344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Wireframes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4897983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 dirty="0" err="1">
                <a:solidFill>
                  <a:srgbClr val="222E40"/>
                </a:solidFill>
                <a:latin typeface="Aptos"/>
              </a:rPr>
              <a:t>Criação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de wireframes 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fluxos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navegação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do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aplicativo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6431" y="1463040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61023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1023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4799" y="1609344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Prototipagem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311" y="2084832"/>
            <a:ext cx="4897983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Prototipagem de telas usando ferramentas como Figma, Adobe XD ou Canva.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9624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6112" y="3995928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995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995928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Testes com usuários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71416"/>
            <a:ext cx="4897983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Entrevistas, testes de usabilidade e coleta de feedback com prestadores reais.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6431" y="3849624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61023" y="3995928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1023" y="3995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4799" y="3995928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Ajustes e pitch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9311" y="4471416"/>
            <a:ext cx="4897983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Ajustes no design a partir do feedback e criação de um pitch de apresentação do app.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35 / 61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Implementation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>
                <a:solidFill>
                  <a:srgbClr val="222E40"/>
                </a:solidFill>
                <a:latin typeface="Aptos"/>
              </a:rPr>
              <a:t>Após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desenvolverem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suas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soluções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alunos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avançam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para a Implementation: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colocam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suas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ideias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prática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diante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um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público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real.</a:t>
            </a:r>
            <a:br>
              <a:rPr dirty="0"/>
            </a:br>
            <a:br>
              <a:rPr dirty="0"/>
            </a:br>
            <a:r>
              <a:rPr sz="1650" b="1" i="0" u="none" dirty="0">
                <a:solidFill>
                  <a:srgbClr val="222E40"/>
                </a:solidFill>
                <a:latin typeface="Aptos"/>
              </a:rPr>
              <a:t>Durante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essa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fase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avaliam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resultados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obtidos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identificam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funcionou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bem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pode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ser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aprimorado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refletindo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sobre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impacto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real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suas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ações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🏗️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36 / 61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Reflection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>
                <a:solidFill>
                  <a:srgbClr val="222E40"/>
                </a:solidFill>
                <a:latin typeface="Aptos"/>
              </a:rPr>
              <a:t>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processo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análise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crítica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é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conhecido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como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Reflection.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reflexão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não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deve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se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restringir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à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etapa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final do CBL: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ela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pode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deve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ser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realizada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longo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todas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as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fases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aprendizagem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  <a:br>
              <a:rPr dirty="0"/>
            </a:br>
            <a:br>
              <a:rPr dirty="0"/>
            </a:b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Frequência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recomendada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: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pelo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menos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vez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por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semana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promovendo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um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ciclo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contínuo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autoavaliação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aprimoramento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37 / 61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Implementação do Nosso Exemplo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6953A5"/>
                </a:solidFill>
                <a:latin typeface="Aptos"/>
              </a:rPr>
              <a:t>NO NOSSO CURSO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75688"/>
            <a:ext cx="10362895" cy="3730752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19656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0" b="1" i="0" u="none">
                <a:solidFill>
                  <a:srgbClr val="6953A5"/>
                </a:solidFill>
                <a:latin typeface="Aptos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58568"/>
            <a:ext cx="9448495" cy="3364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 i="1" u="none">
                <a:solidFill>
                  <a:srgbClr val="222E40"/>
                </a:solidFill>
                <a:latin typeface="Aptos"/>
              </a:rPr>
              <a:t>A implementação será realizada com o desenvolvimento do aplicativo que estivemos utilizando como exemplo desde o momento em que tivemos a big idea “Prestação de serviços”.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16168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1" u="none">
                <a:solidFill>
                  <a:srgbClr val="606E84"/>
                </a:solidFill>
                <a:latin typeface="Aptos"/>
              </a:rPr>
              <a:t>Fonte: Material Didático AppClicks - Disciplina 1 - PRONATEC/IFSP, p. 45.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38 / 61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Prática: Documento de Implantação do CBL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u="none" dirty="0">
                <a:solidFill>
                  <a:srgbClr val="222E40"/>
                </a:solidFill>
                <a:latin typeface="Aptos"/>
              </a:rPr>
              <a:t>Cada equipe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vai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preencher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por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escrito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, o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documento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implantação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do CBL do próprio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projeto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—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aplicando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ao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aplicativo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agendamento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serviços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conceitos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estudados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nas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1" i="0" u="none" dirty="0" err="1">
                <a:solidFill>
                  <a:srgbClr val="222E40"/>
                </a:solidFill>
                <a:latin typeface="Aptos"/>
              </a:rPr>
              <a:t>fases</a:t>
            </a:r>
            <a:r>
              <a:rPr sz="1800" b="1" i="0" u="none" dirty="0">
                <a:solidFill>
                  <a:srgbClr val="222E40"/>
                </a:solidFill>
                <a:latin typeface="Aptos"/>
              </a:rPr>
              <a:t> Engage, Investigate e 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39 / 61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Estrutura do Documento de Implantação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1793367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93367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0521" y="1852181"/>
            <a:ext cx="4568799" cy="266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 u="none">
                <a:solidFill>
                  <a:srgbClr val="222E40"/>
                </a:solidFill>
                <a:latin typeface="Aptos"/>
              </a:rPr>
              <a:t>Big Idea: tema amplo escolhido pela equipe.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984373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984373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0521" y="2905842"/>
            <a:ext cx="4568799" cy="541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 u="none">
                <a:solidFill>
                  <a:srgbClr val="222E40"/>
                </a:solidFill>
                <a:latin typeface="Aptos"/>
              </a:rPr>
              <a:t>Essential Question: pergunta que conecta interesse pessoal e necessidade real.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5379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17537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0521" y="4096848"/>
            <a:ext cx="4568799" cy="541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 u="none">
                <a:solidFill>
                  <a:srgbClr val="222E40"/>
                </a:solidFill>
                <a:latin typeface="Aptos"/>
              </a:rPr>
              <a:t>Challenge: declaração de desafio clara e realizável.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366385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36638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0521" y="5287854"/>
            <a:ext cx="4568799" cy="541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 u="none">
                <a:solidFill>
                  <a:srgbClr val="222E40"/>
                </a:solidFill>
                <a:latin typeface="Aptos"/>
              </a:rPr>
              <a:t>Guiding Questions: perguntas que orientam a investigação.</a:t>
            </a:r>
          </a:p>
        </p:txBody>
      </p:sp>
      <p:sp>
        <p:nvSpPr>
          <p:cNvPr id="19" name="Oval 18"/>
          <p:cNvSpPr/>
          <p:nvPr/>
        </p:nvSpPr>
        <p:spPr>
          <a:xfrm>
            <a:off x="6278727" y="1793367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78727" y="1793367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5655" y="1714836"/>
            <a:ext cx="4568799" cy="541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 u="none">
                <a:solidFill>
                  <a:srgbClr val="222E40"/>
                </a:solidFill>
                <a:latin typeface="Aptos"/>
              </a:rPr>
              <a:t>Guiding Activities/Resources: pesquisas, entrevistas e materiais usados.</a:t>
            </a:r>
          </a:p>
        </p:txBody>
      </p:sp>
      <p:sp>
        <p:nvSpPr>
          <p:cNvPr id="22" name="Oval 21"/>
          <p:cNvSpPr/>
          <p:nvPr/>
        </p:nvSpPr>
        <p:spPr>
          <a:xfrm>
            <a:off x="6278727" y="2984373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78727" y="2984373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5655" y="2905842"/>
            <a:ext cx="4568799" cy="541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 u="none">
                <a:solidFill>
                  <a:srgbClr val="222E40"/>
                </a:solidFill>
                <a:latin typeface="Aptos"/>
              </a:rPr>
              <a:t>Solution Concept e Solution Development: proposta e protótipos da equipe.</a:t>
            </a:r>
          </a:p>
        </p:txBody>
      </p:sp>
      <p:sp>
        <p:nvSpPr>
          <p:cNvPr id="25" name="Oval 24"/>
          <p:cNvSpPr/>
          <p:nvPr/>
        </p:nvSpPr>
        <p:spPr>
          <a:xfrm>
            <a:off x="6278727" y="4175379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78727" y="417537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5655" y="4096848"/>
            <a:ext cx="4568799" cy="541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 u="none">
                <a:solidFill>
                  <a:srgbClr val="222E40"/>
                </a:solidFill>
                <a:latin typeface="Aptos"/>
              </a:rPr>
              <a:t>Implementation e Reflection: como e quando a solução será testada e revisada.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40 / 61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Atividade em Equipe: Preencher o Documento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37215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0" i="1" u="none">
                <a:solidFill>
                  <a:srgbClr val="222E40"/>
                </a:solidFill>
                <a:latin typeface="Aptos"/>
              </a:rPr>
              <a:t>Passo a passo para a prática de hoje: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64308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643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29968"/>
            <a:ext cx="4568799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50" b="0" i="0" u="none">
                <a:solidFill>
                  <a:srgbClr val="222E40"/>
                </a:solidFill>
                <a:latin typeface="Aptos"/>
              </a:rPr>
              <a:t>Reunir-se em equipe e revisar o Challenge definido no Dia 1.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863339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86333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429000"/>
            <a:ext cx="4568799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50" b="0" i="0" u="none">
                <a:solidFill>
                  <a:srgbClr val="222E40"/>
                </a:solidFill>
                <a:latin typeface="Aptos"/>
              </a:rPr>
              <a:t>Preencher as Guiding Questions e registrar as Guiding Activities/Resources já realizadas.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262371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262371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4828031"/>
            <a:ext cx="4568799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50" b="0" i="0" u="none">
                <a:solidFill>
                  <a:srgbClr val="222E40"/>
                </a:solidFill>
                <a:latin typeface="Aptos"/>
              </a:rPr>
              <a:t>Descrever o Solution Concept e o Solution Development do aplicativo da equipe.</a:t>
            </a:r>
          </a:p>
        </p:txBody>
      </p:sp>
      <p:sp>
        <p:nvSpPr>
          <p:cNvPr id="17" name="Oval 16"/>
          <p:cNvSpPr/>
          <p:nvPr/>
        </p:nvSpPr>
        <p:spPr>
          <a:xfrm>
            <a:off x="6278727" y="2464308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8727" y="24643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5655" y="2029968"/>
            <a:ext cx="4568799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50" b="0" i="0" u="none">
                <a:solidFill>
                  <a:srgbClr val="222E40"/>
                </a:solidFill>
                <a:latin typeface="Aptos"/>
              </a:rPr>
              <a:t>Registrar como será a Implementation e quando a equipe fará a Reflection.</a:t>
            </a:r>
          </a:p>
        </p:txBody>
      </p:sp>
      <p:sp>
        <p:nvSpPr>
          <p:cNvPr id="20" name="Oval 19"/>
          <p:cNvSpPr/>
          <p:nvPr/>
        </p:nvSpPr>
        <p:spPr>
          <a:xfrm>
            <a:off x="6278727" y="3863339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78727" y="386333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5655" y="3429000"/>
            <a:ext cx="4568799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50" b="0" i="0" u="none">
                <a:solidFill>
                  <a:srgbClr val="222E40"/>
                </a:solidFill>
                <a:latin typeface="Aptos"/>
              </a:rPr>
              <a:t>Guardar o documento preenchido para apresentar no Dia 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41 / 61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Unidade 2 — Conceitos de UX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ura_banner_unida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7048"/>
            <a:ext cx="10362895" cy="2161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825508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u="none">
                <a:solidFill>
                  <a:srgbClr val="606E84"/>
                </a:solidFill>
                <a:latin typeface="Aptos"/>
              </a:rPr>
              <a:t>Fonte: Material Didático AppClicks - Disciplina 1 - PRONATEC/IFSP.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91268"/>
            <a:ext cx="10180015" cy="19352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 u="none">
                <a:solidFill>
                  <a:srgbClr val="222E40"/>
                </a:solidFill>
                <a:latin typeface="Aptos"/>
              </a:rPr>
              <a:t>UX significa User Experience, ou Experiência do Usuário: envolve todas as sensações, percepções e reações que uma pessoa tem ao interagir com um produto ou sistema digital. (Material Didático, p. 46)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42 / 61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Aspectos da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442106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60934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Facilidade de 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3076346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 dirty="0" err="1">
                <a:solidFill>
                  <a:srgbClr val="222E40"/>
                </a:solidFill>
                <a:latin typeface="Aptos"/>
              </a:rPr>
              <a:t>Usabilidade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: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quão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simples 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intuitivo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é usar o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aplicativo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4794" y="1463040"/>
            <a:ext cx="3442106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39386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9386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3162" y="160934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Clareza das informações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7674" y="2084832"/>
            <a:ext cx="3076346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As informações são apresentadas de forma compreensível.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8068" y="1463040"/>
            <a:ext cx="3442106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2660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2660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6436" y="160934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Eficiência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0948" y="2084832"/>
            <a:ext cx="3076346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Quanto tempo o usuário leva para completar uma tarefa.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849624"/>
            <a:ext cx="3442106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96112" y="3995928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995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3995928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Aparência e estética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71416"/>
            <a:ext cx="3076346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Como o app se apresenta visualmente ao usuário.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4794" y="3849624"/>
            <a:ext cx="3442106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39386" y="3995928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39386" y="3995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3162" y="3995928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Emoções geradas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7674" y="4471416"/>
            <a:ext cx="3076346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Frustração, prazer, satisfação — o sentimento geral ao usar o app.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43 / 61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Vídeo de Apoio: UX vs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1417320" cy="384048"/>
          </a:xfrm>
          <a:prstGeom prst="round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🎥 Vídeo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1929384"/>
            <a:ext cx="4270248" cy="3227832"/>
          </a:xfrm>
          <a:prstGeom prst="rect">
            <a:avLst/>
          </a:prstGeom>
          <a:solidFill>
            <a:srgbClr val="22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humb_video3.jp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84248"/>
            <a:ext cx="4160520" cy="3118104"/>
          </a:xfrm>
          <a:prstGeom prst="rect">
            <a:avLst/>
          </a:prstGeom>
        </p:spPr>
      </p:pic>
      <p:sp>
        <p:nvSpPr>
          <p:cNvPr id="11" name="Oval 10">
            <a:hlinkClick r:id="rId3"/>
          </p:cNvPr>
          <p:cNvSpPr/>
          <p:nvPr/>
        </p:nvSpPr>
        <p:spPr>
          <a:xfrm>
            <a:off x="2491740" y="31775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1740" y="3250692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 u="none">
                <a:solidFill>
                  <a:srgbClr val="F48B23"/>
                </a:solidFill>
                <a:latin typeface="Apto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59" y="1481328"/>
            <a:ext cx="601949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22E40"/>
                </a:solidFill>
                <a:latin typeface="Aptos"/>
              </a:rPr>
              <a:t>Qual a diferença entre UI e UX design?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2258568"/>
            <a:ext cx="60194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48B23"/>
                </a:solidFill>
                <a:latin typeface="Aptos"/>
              </a:rPr>
              <a:t>Canal: She is a Creative | UI UX Design Freelancer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2578608"/>
            <a:ext cx="60194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 u="none">
                <a:solidFill>
                  <a:srgbClr val="606E84"/>
                </a:solidFill>
                <a:latin typeface="Aptos"/>
              </a:rPr>
              <a:t>Duração aproximada: 10min53 (0:00-10:53)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944368"/>
            <a:ext cx="6019495" cy="901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i="0" u="none" dirty="0" err="1">
                <a:solidFill>
                  <a:srgbClr val="222E40"/>
                </a:solidFill>
                <a:latin typeface="Aptos"/>
              </a:rPr>
              <a:t>Explica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português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diferença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entre User Interface e User Experience 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apresenta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exemplos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do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faz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cada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área,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preparando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turma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para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aplicar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padrões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de design.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5394959" y="4041648"/>
            <a:ext cx="4785055" cy="502920"/>
          </a:xfrm>
          <a:prstGeom prst="round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hlinkClick r:id="rId3"/>
          </p:cNvPr>
          <p:cNvSpPr txBox="1"/>
          <p:nvPr/>
        </p:nvSpPr>
        <p:spPr>
          <a:xfrm>
            <a:off x="5394959" y="4041648"/>
            <a:ext cx="4785055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Aptos"/>
              </a:rPr>
              <a:t>▶ ASSISTIR NO YOUTUBE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99471" y="3913632"/>
            <a:ext cx="1069848" cy="1069848"/>
          </a:xfrm>
          <a:prstGeom prst="rect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qr_video3_uxui.png">
            <a:hlinkClick r:id="rId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4335" y="3968496"/>
            <a:ext cx="960120" cy="960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94959" y="4700016"/>
            <a:ext cx="601949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sng">
                <a:solidFill>
                  <a:srgbClr val="0066CC"/>
                </a:solidFill>
                <a:latin typeface="Aptos"/>
                <a:hlinkClick r:id="rId3"/>
              </a:rPr>
              <a:t>https://www.youtube.com/watch?v=1ZKxhQmc0gA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5093208"/>
            <a:ext cx="601949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606E84"/>
                </a:solidFill>
                <a:latin typeface="Aptos"/>
              </a:rPr>
              <a:t>Fonte: YouTube — She is a Creative | UI UX Design Freelancer. Acesso em 23 ago. 2026.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44 / 61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UX vs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81328"/>
            <a:ext cx="5227167" cy="4553712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4769967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48B23"/>
                </a:solidFill>
                <a:latin typeface="Aptos"/>
              </a:rPr>
              <a:t>UI (User Interface)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21408"/>
            <a:ext cx="4769967" cy="3730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 u="none" dirty="0">
                <a:solidFill>
                  <a:srgbClr val="222E40"/>
                </a:solidFill>
                <a:latin typeface="Aptos"/>
              </a:rPr>
              <a:t>É o visual e a </a:t>
            </a:r>
            <a:r>
              <a:rPr sz="1800" b="0" i="0" u="none" dirty="0" err="1">
                <a:solidFill>
                  <a:srgbClr val="222E40"/>
                </a:solidFill>
                <a:latin typeface="Aptos"/>
              </a:rPr>
              <a:t>parte</a:t>
            </a:r>
            <a:r>
              <a:rPr sz="1800"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0" i="0" u="none" dirty="0" err="1">
                <a:solidFill>
                  <a:srgbClr val="222E40"/>
                </a:solidFill>
                <a:latin typeface="Aptos"/>
              </a:rPr>
              <a:t>interativa</a:t>
            </a:r>
            <a:r>
              <a:rPr sz="1800" b="0" i="0" u="none" dirty="0">
                <a:solidFill>
                  <a:srgbClr val="222E40"/>
                </a:solidFill>
                <a:latin typeface="Aptos"/>
              </a:rPr>
              <a:t> do </a:t>
            </a:r>
            <a:r>
              <a:rPr sz="1800" b="0" i="0" u="none" dirty="0" err="1">
                <a:solidFill>
                  <a:srgbClr val="222E40"/>
                </a:solidFill>
                <a:latin typeface="Aptos"/>
              </a:rPr>
              <a:t>aplicativo</a:t>
            </a:r>
            <a:r>
              <a:rPr sz="1800" b="0" i="0" u="none" dirty="0">
                <a:solidFill>
                  <a:srgbClr val="222E40"/>
                </a:solidFill>
                <a:latin typeface="Aptos"/>
              </a:rPr>
              <a:t>: </a:t>
            </a:r>
            <a:r>
              <a:rPr sz="1800" b="0" i="0" u="none" dirty="0" err="1">
                <a:solidFill>
                  <a:srgbClr val="222E40"/>
                </a:solidFill>
                <a:latin typeface="Aptos"/>
              </a:rPr>
              <a:t>botões</a:t>
            </a:r>
            <a:r>
              <a:rPr sz="1800" b="0" i="0" u="none" dirty="0">
                <a:solidFill>
                  <a:srgbClr val="222E40"/>
                </a:solidFill>
                <a:latin typeface="Aptos"/>
              </a:rPr>
              <a:t>, cores, layout e </a:t>
            </a:r>
            <a:r>
              <a:rPr sz="1800" b="0" i="0" u="none" dirty="0" err="1">
                <a:solidFill>
                  <a:srgbClr val="222E40"/>
                </a:solidFill>
                <a:latin typeface="Aptos"/>
              </a:rPr>
              <a:t>demais</a:t>
            </a:r>
            <a:r>
              <a:rPr sz="1800"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0" i="0" u="none" dirty="0" err="1">
                <a:solidFill>
                  <a:srgbClr val="222E40"/>
                </a:solidFill>
                <a:latin typeface="Aptos"/>
              </a:rPr>
              <a:t>elementos</a:t>
            </a:r>
            <a:r>
              <a:rPr sz="1800"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0" i="0" u="none" dirty="0" err="1">
                <a:solidFill>
                  <a:srgbClr val="222E40"/>
                </a:solidFill>
                <a:latin typeface="Aptos"/>
              </a:rPr>
              <a:t>gráficos</a:t>
            </a:r>
            <a:r>
              <a:rPr sz="1800" b="0" i="0" u="none" dirty="0">
                <a:solidFill>
                  <a:srgbClr val="222E40"/>
                </a:solidFill>
                <a:latin typeface="Aptos"/>
              </a:rPr>
              <a:t> com </a:t>
            </a:r>
            <a:r>
              <a:rPr sz="1800" b="0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800" b="0" i="0" u="none" dirty="0">
                <a:solidFill>
                  <a:srgbClr val="222E40"/>
                </a:solidFill>
                <a:latin typeface="Aptos"/>
              </a:rPr>
              <a:t> quais o </a:t>
            </a:r>
            <a:r>
              <a:rPr sz="1800" b="0" i="0" u="none" dirty="0" err="1">
                <a:solidFill>
                  <a:srgbClr val="222E40"/>
                </a:solidFill>
                <a:latin typeface="Aptos"/>
              </a:rPr>
              <a:t>usuário</a:t>
            </a:r>
            <a:r>
              <a:rPr sz="1800"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0" i="0" u="none" dirty="0" err="1">
                <a:solidFill>
                  <a:srgbClr val="222E40"/>
                </a:solidFill>
                <a:latin typeface="Aptos"/>
              </a:rPr>
              <a:t>interage</a:t>
            </a:r>
            <a:r>
              <a:rPr sz="1800"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800" b="0" i="0" u="none" dirty="0" err="1">
                <a:solidFill>
                  <a:srgbClr val="222E40"/>
                </a:solidFill>
                <a:latin typeface="Aptos"/>
              </a:rPr>
              <a:t>diretamente</a:t>
            </a:r>
            <a:r>
              <a:rPr sz="1800" b="0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481328"/>
            <a:ext cx="5227167" cy="4553712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1664208"/>
            <a:ext cx="4769967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48B23"/>
                </a:solidFill>
                <a:latin typeface="Aptos"/>
              </a:rPr>
              <a:t>UX (User Experience)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2121408"/>
            <a:ext cx="4769967" cy="3730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 u="none">
                <a:solidFill>
                  <a:srgbClr val="222E40"/>
                </a:solidFill>
                <a:latin typeface="Aptos"/>
              </a:rPr>
              <a:t>É o sentimento geral do usuário, que inclui a UI, mas também a lógica, a fluidez, a acessibilidade e outros fatores da experiência completa.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45 / 61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Exemplo de Boa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48B23"/>
                </a:solidFill>
                <a:latin typeface="Aptos"/>
              </a:rPr>
              <a:t>APLICATIVO DE DELIVERY DE COMIDA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75688"/>
            <a:ext cx="10362895" cy="3730752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19656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0" b="1" i="0" u="none">
                <a:solidFill>
                  <a:srgbClr val="F48B23"/>
                </a:solidFill>
                <a:latin typeface="Aptos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58568"/>
            <a:ext cx="9448495" cy="3364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 i="1" u="none">
                <a:solidFill>
                  <a:srgbClr val="222E40"/>
                </a:solidFill>
                <a:latin typeface="Aptos"/>
              </a:rPr>
              <a:t>O app abre rápido, o botão de busca é fácil de achar, os restaurantes estão organizados por categorias e o tempo de entrega é claro. Resultado: você se sente satisfeito e pensa “vou usar de novo”.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16168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1" u="none">
                <a:solidFill>
                  <a:srgbClr val="606E84"/>
                </a:solidFill>
                <a:latin typeface="Aptos"/>
              </a:rPr>
              <a:t>Fonte: Material Didático AppClicks - Disciplina 1 - PRONATEC/IFSP, p. 46-47.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46 / 61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Exemplo de Má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48B23"/>
                </a:solidFill>
                <a:latin typeface="Aptos"/>
              </a:rPr>
              <a:t>SITE DE AGENDAMENTO DE CONSULTA MÉDICA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75688"/>
            <a:ext cx="10362895" cy="3730752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19656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0" b="1" i="0" u="none">
                <a:solidFill>
                  <a:srgbClr val="F48B23"/>
                </a:solidFill>
                <a:latin typeface="Aptos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58568"/>
            <a:ext cx="9448495" cy="3364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 i="1" u="none">
                <a:solidFill>
                  <a:srgbClr val="222E40"/>
                </a:solidFill>
                <a:latin typeface="Aptos"/>
              </a:rPr>
              <a:t>O site demora para carregar, você não encontra onde marcar a consulta e, ao clicar em “Enviar”, dá erro sem explicação. Resultado: frustração, raiva e sensação de tempo perdido.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16168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1" u="none">
                <a:solidFill>
                  <a:srgbClr val="606E84"/>
                </a:solidFill>
                <a:latin typeface="Aptos"/>
              </a:rPr>
              <a:t>Fonte: Material Didático AppClicks - Disciplina 1 - PRONATEC/IFSP, p. 47.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47 / 61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Figura 30 - Exemplo de Boa e Má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 u="none">
                <a:solidFill>
                  <a:srgbClr val="F48B23"/>
                </a:solidFill>
                <a:latin typeface="Aptos"/>
              </a:rPr>
              <a:t>Comparação entre uma tela clara e consistente e uma tela confusa e incompleta.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97299" y="1691640"/>
            <a:ext cx="4197096" cy="419709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ura30_boa_ma_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760" y="1872512"/>
            <a:ext cx="3778480" cy="3778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961888"/>
            <a:ext cx="1072865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 u="none">
                <a:solidFill>
                  <a:srgbClr val="606E84"/>
                </a:solidFill>
                <a:latin typeface="Aptos"/>
              </a:rPr>
              <a:t>Fonte: ChatGPT (GPT-4o), 2024, apud Material Didático AppClicks - Disciplina 1 - PRONATEC/IFSP, p. 47.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48 / 61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Paleta de Cores Consistente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Melhorar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as cores de um app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envolve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estética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usabilidade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Escolha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primária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1-2 cores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secundárias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usando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ferramentas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como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Coolors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Material Palette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ou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Adobe Color.</a:t>
            </a:r>
            <a:br>
              <a:rPr dirty="0"/>
            </a:br>
            <a:br>
              <a:rPr dirty="0"/>
            </a:br>
            <a:r>
              <a:rPr sz="1650" b="1" i="0" u="none" dirty="0">
                <a:solidFill>
                  <a:srgbClr val="222E40"/>
                </a:solidFill>
                <a:latin typeface="Aptos"/>
              </a:rPr>
              <a:t>Para um app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agendamento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serviços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o ideal é usar cores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que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transmitam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profissionalismo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clareza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confiança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49 / 61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u="none">
                <a:solidFill>
                  <a:srgbClr val="FFFFFF"/>
                </a:solidFill>
                <a:latin typeface="Aptos"/>
              </a:rPr>
              <a:t>Acessibilidade, Temas e Psicologia das Cores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609344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Acessibilidade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4897983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 dirty="0" err="1">
                <a:solidFill>
                  <a:srgbClr val="222E40"/>
                </a:solidFill>
                <a:latin typeface="Aptos"/>
              </a:rPr>
              <a:t>Garanta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bom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contraste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entre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texto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fundo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(ex.: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WebAIM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Contrast Checker) e não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dependa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só da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cor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para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passar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informação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6431" y="1463040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61023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1023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4799" y="1609344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Temas claro/escuro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311" y="2084832"/>
            <a:ext cx="4897983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Oferecer os dois temas melhora a experiência; use tons neutros como base e alterne os acentos.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9624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6112" y="3995928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995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995928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Psicologia das 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71416"/>
            <a:ext cx="4897983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Azul = confiança; verde = segurança; vermelho = urgência/erro; roxo = criatividade; laranja/amarelo = energia.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6431" y="3849624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61023" y="3995928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1023" y="3995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4799" y="3995928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Testes em dispositivos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9311" y="4471416"/>
            <a:ext cx="4897983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As cores mudam de aparência entre telas: verifique em Android, iOS, tablets e monitores.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50 / 61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Diretrizes de Plataforma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>
                <a:solidFill>
                  <a:srgbClr val="222E40"/>
                </a:solidFill>
                <a:latin typeface="Aptos"/>
              </a:rPr>
              <a:t>Siga as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diretrizes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design da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plataforma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: Material Design (Google/Android) e Human Interface Guidelines (Apple).</a:t>
            </a:r>
            <a:br>
              <a:rPr dirty="0"/>
            </a:br>
            <a:br>
              <a:rPr dirty="0"/>
            </a:b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Seguir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esses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guias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ajuda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aplicativo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parecer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familiar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confiável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para quem já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usa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outros apps no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mesmo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sistema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operacional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51 / 61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u="none">
                <a:solidFill>
                  <a:srgbClr val="FFFFFF"/>
                </a:solidFill>
                <a:latin typeface="Aptos"/>
              </a:rPr>
              <a:t>Sugestão de Paleta para o App de Agendamento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 u="none">
                <a:solidFill>
                  <a:srgbClr val="F48B23"/>
                </a:solidFill>
                <a:latin typeface="Aptos"/>
              </a:rPr>
              <a:t>Função de cada cor na interface (primária, secundária, fundo, textos e erro).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0273" y="1691640"/>
            <a:ext cx="5011147" cy="424281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ura_paleta_funcao_cor_h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518" y="1956816"/>
            <a:ext cx="4504483" cy="37822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007608"/>
            <a:ext cx="1072865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 u="none">
                <a:solidFill>
                  <a:srgbClr val="606E84"/>
                </a:solidFill>
                <a:latin typeface="Aptos"/>
              </a:rPr>
              <a:t>Fonte: Material Didático AppClicks - Disciplina 1 - PRONATEC/IFSP, p. 49.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52 / 61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u="none">
                <a:solidFill>
                  <a:srgbClr val="FFFFFF"/>
                </a:solidFill>
                <a:latin typeface="Aptos"/>
              </a:rPr>
              <a:t>Figura 31 - Paleta de Cores Aplicada no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 u="none">
                <a:solidFill>
                  <a:srgbClr val="F48B23"/>
                </a:solidFill>
                <a:latin typeface="Aptos"/>
              </a:rPr>
              <a:t>A mesma paleta aplicada em uma tela real do aplicativo.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839" y="1691640"/>
            <a:ext cx="5462015" cy="415137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ura31_paleta_cores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106" y="1892808"/>
            <a:ext cx="4849787" cy="36373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916168"/>
            <a:ext cx="1072865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 u="none">
                <a:solidFill>
                  <a:srgbClr val="606E84"/>
                </a:solidFill>
                <a:latin typeface="Aptos"/>
              </a:rPr>
              <a:t>Fonte: Material Didático AppClicks - Disciplina 1 - PRONATEC/IFSP, p. 50.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53 / 61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Minimalismo no Design de Apps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50" b="1" i="0" u="none">
                <a:solidFill>
                  <a:srgbClr val="F48B23"/>
                </a:solidFill>
                <a:latin typeface="Aptos"/>
              </a:rPr>
              <a:t>Menos é mais: use apenas os elementos essenciais.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5263743" cy="193395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211226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12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112264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Foco no conteúdo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87752"/>
            <a:ext cx="4897983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 dirty="0" err="1">
                <a:solidFill>
                  <a:srgbClr val="222E40"/>
                </a:solidFill>
                <a:latin typeface="Aptos"/>
              </a:rPr>
              <a:t>Exiba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só o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necessário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cada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tela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;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distrações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visuais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atrapalham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uso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431" y="1965960"/>
            <a:ext cx="5263743" cy="193395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61023" y="211226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1023" y="2112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4799" y="2112264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Espaços em branco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2587752"/>
            <a:ext cx="4897983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Use espaços vazios para respirar e guiar o olhar do usuário.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101084"/>
            <a:ext cx="5263743" cy="193395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96112" y="4247388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2473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247388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Tipografia simples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22876"/>
            <a:ext cx="4897983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Prefira fontes legíveis e neutras, como Roboto, Inter ou SF Pro.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6431" y="4101084"/>
            <a:ext cx="5263743" cy="193395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61023" y="4247388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1023" y="42473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4799" y="4247388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Base neutra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9311" y="4722876"/>
            <a:ext cx="4897983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Fundo em branco, cinza ou preto, com ícones e elementos simples.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54 / 61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Ferramentas Úteis de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442106" cy="457200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60934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Paletas de 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3076346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 dirty="0" err="1">
                <a:solidFill>
                  <a:srgbClr val="222E40"/>
                </a:solidFill>
                <a:latin typeface="Aptos"/>
              </a:rPr>
              <a:t>Coolors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, Material Palette e Adobe Color para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montar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combinações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b="0" i="0" u="none" dirty="0" err="1">
                <a:solidFill>
                  <a:srgbClr val="222E40"/>
                </a:solidFill>
                <a:latin typeface="Aptos"/>
              </a:rPr>
              <a:t>consistentes</a:t>
            </a:r>
            <a:r>
              <a:rPr b="0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4794" y="1463040"/>
            <a:ext cx="3442106" cy="457200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39386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9386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3162" y="160934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Ícones e imagens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7674" y="2084832"/>
            <a:ext cx="3076346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Flaticon, Icons8 e Boxicons para encontrar ícones gratuitos ou pagos.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8068" y="1463040"/>
            <a:ext cx="3442106" cy="457200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2660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2660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6436" y="1609344"/>
            <a:ext cx="261914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u="none">
                <a:solidFill>
                  <a:srgbClr val="222E40"/>
                </a:solidFill>
                <a:latin typeface="Aptos"/>
              </a:rPr>
              <a:t>Prototipagem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0948" y="2084832"/>
            <a:ext cx="3076346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Figma, Adobe XD e Canva para criar wireframes e telas navegáveis.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55 / 61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Avaliação 1: Fala de 1 a 2 Minutos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>
                <a:solidFill>
                  <a:srgbClr val="222E40"/>
                </a:solidFill>
                <a:latin typeface="Aptos"/>
              </a:rPr>
              <a:t>Cada equipe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apresenta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até 2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minutos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a Big Idea do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seu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projeto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solução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proposta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(Solution Concept), com base no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documento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implantação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do CBL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preenchido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no Dia 2.</a:t>
            </a:r>
            <a:br>
              <a:rPr dirty="0"/>
            </a:br>
            <a:br>
              <a:rPr dirty="0"/>
            </a:br>
            <a:r>
              <a:rPr sz="1650" b="1" i="0" u="none" dirty="0">
                <a:solidFill>
                  <a:srgbClr val="222E40"/>
                </a:solidFill>
                <a:latin typeface="Aptos"/>
              </a:rPr>
              <a:t>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fala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deve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citar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: 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desafio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(Challenge),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proposta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solução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 um próximo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passo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para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implementação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🗣️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56 / 61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Critérios da Fala de Avaliação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609344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Clareza do desafio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4897983" cy="1435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 u="none">
                <a:solidFill>
                  <a:srgbClr val="222E40"/>
                </a:solidFill>
                <a:latin typeface="Aptos"/>
              </a:rPr>
              <a:t>A equipe explica o Challenge de forma compreensível para a turma.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6431" y="1463040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61023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1023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4799" y="1609344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Coerência da solução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311" y="2084832"/>
            <a:ext cx="4897983" cy="1435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 u="none">
                <a:solidFill>
                  <a:srgbClr val="222E40"/>
                </a:solidFill>
                <a:latin typeface="Aptos"/>
              </a:rPr>
              <a:t>O Solution Concept apresentado responde diretamente ao desafio.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9624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6112" y="3995928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995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995928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Tempo respeitado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71416"/>
            <a:ext cx="4897983" cy="1435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 u="none">
                <a:solidFill>
                  <a:srgbClr val="222E40"/>
                </a:solidFill>
                <a:latin typeface="Aptos"/>
              </a:rPr>
              <a:t>A fala dura entre 1 e 2 minutos, sem se estender demais.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6431" y="3849624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61023" y="3995928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1023" y="3995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4799" y="3995928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Participação da equipe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9311" y="4471416"/>
            <a:ext cx="4897983" cy="1435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 u="none">
                <a:solidFill>
                  <a:srgbClr val="222E40"/>
                </a:solidFill>
                <a:latin typeface="Aptos"/>
              </a:rPr>
              <a:t>Mais de um integrante participa da apresentação.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57 / 61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Atividade H5P: Revisão da Semana 3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>
                <a:solidFill>
                  <a:srgbClr val="222E40"/>
                </a:solidFill>
                <a:latin typeface="Aptos"/>
              </a:rPr>
              <a:t>Ao final do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encontro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estudantes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realizam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atividade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H5P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revisão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com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questões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sobre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as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fases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do CBL (Engage, Investigate, Act)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conceitos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UX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estudados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nesta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semana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.</a:t>
            </a:r>
            <a:br>
              <a:rPr dirty="0"/>
            </a:br>
            <a:br>
              <a:rPr dirty="0"/>
            </a:br>
            <a:r>
              <a:rPr sz="1650" b="1" i="0" u="none" dirty="0">
                <a:solidFill>
                  <a:srgbClr val="222E40"/>
                </a:solidFill>
                <a:latin typeface="Aptos"/>
              </a:rPr>
              <a:t>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atividade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complementa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— mas não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substitui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—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fala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avaliação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equipe.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58 / 61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Recapitulando a Semana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609344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CBL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4897983" cy="8637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 dirty="0">
                <a:solidFill>
                  <a:srgbClr val="222E40"/>
                </a:solidFill>
                <a:latin typeface="Aptos"/>
              </a:rPr>
              <a:t>Engage (Big Idea, Essential Question, Challenge), Investigate (Guiding Questions/Activities) e Act (Solution, Implementation, Reflection).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6431" y="1463040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61023" y="160934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1023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4799" y="1609344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Equipes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311" y="2084832"/>
            <a:ext cx="4897983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Formadas no Dia 1 para conduzir o ciclo do CBL até o documento de implantação.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9624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6112" y="3995928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995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995928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71416"/>
            <a:ext cx="4897983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Boa e má experiência, UX vs UI, paleta de cores, acessibilidade e minimalismo.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6431" y="3849624"/>
            <a:ext cx="5263743" cy="2185416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61023" y="3995928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1023" y="3995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222E40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4799" y="3995928"/>
            <a:ext cx="444078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u="none">
                <a:solidFill>
                  <a:srgbClr val="222E40"/>
                </a:solidFill>
                <a:latin typeface="Aptos"/>
              </a:rPr>
              <a:t>Produto da semana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9311" y="4471416"/>
            <a:ext cx="4897983" cy="572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u="none">
                <a:solidFill>
                  <a:srgbClr val="222E40"/>
                </a:solidFill>
                <a:latin typeface="Aptos"/>
              </a:rPr>
              <a:t>Documento de implantação do CBL preenchido e fala de avaliação apresentada.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59 / 61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Encerramento e Próximos Passos</a:t>
            </a:r>
          </a:p>
        </p:txBody>
      </p:sp>
      <p:sp>
        <p:nvSpPr>
          <p:cNvPr id="6" name="AppClicks Day Marker Background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ppClicks Day Marker Label"/>
          <p:cNvSpPr txBox="1"/>
          <p:nvPr/>
        </p:nvSpPr>
        <p:spPr>
          <a:xfrm>
            <a:off x="10378440" y="40233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8031175" cy="437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Guarde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documento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implantação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do CBL: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ele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será a base para as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próximas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semanas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quando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vamos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editar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formulários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no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AppSheet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editar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tabelas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no Sheets 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criar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tarefas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dividindo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trabalho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entre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membros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da equipe.</a:t>
            </a:r>
            <a:br>
              <a:rPr dirty="0"/>
            </a:br>
            <a:br>
              <a:rPr dirty="0"/>
            </a:br>
            <a:r>
              <a:rPr sz="1650" b="1" i="0" u="none" dirty="0">
                <a:solidFill>
                  <a:srgbClr val="222E40"/>
                </a:solidFill>
                <a:latin typeface="Aptos"/>
              </a:rPr>
              <a:t>Até a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próxima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650" b="1" i="0" u="none" dirty="0" err="1">
                <a:solidFill>
                  <a:srgbClr val="222E40"/>
                </a:solidFill>
                <a:latin typeface="Aptos"/>
              </a:rPr>
              <a:t>semana</a:t>
            </a:r>
            <a:r>
              <a:rPr sz="1650" b="1" i="0" u="none" dirty="0">
                <a:solidFill>
                  <a:srgbClr val="222E40"/>
                </a:solidFill>
                <a:latin typeface="Aptos"/>
              </a:rPr>
              <a:t>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2735" y="1499616"/>
            <a:ext cx="2377439" cy="4517136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02775" y="2706624"/>
            <a:ext cx="1737360" cy="1737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2775" y="3195476"/>
            <a:ext cx="1737360" cy="104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0" i="0" u="none">
                <a:solidFill>
                  <a:srgbClr val="222E40"/>
                </a:solidFill>
                <a:latin typeface="Aptos"/>
              </a:rPr>
              <a:t>🛤️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60 / 61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ptos"/>
              </a:rPr>
              <a:t>Referências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77295" cy="5102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504428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8F5F"/>
                </a:solidFill>
                <a:latin typeface="Aptos"/>
              </a:rPr>
              <a:t>Material didático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5044287" cy="1005403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222E40"/>
                </a:solidFill>
                <a:latin typeface="Aptos"/>
              </a:rPr>
              <a:t>•  Material </a:t>
            </a:r>
            <a:r>
              <a:rPr sz="1400" b="0" dirty="0" err="1">
                <a:solidFill>
                  <a:srgbClr val="222E40"/>
                </a:solidFill>
                <a:latin typeface="Aptos"/>
              </a:rPr>
              <a:t>Didático</a:t>
            </a:r>
            <a:r>
              <a:rPr sz="1400" b="0" dirty="0">
                <a:solidFill>
                  <a:srgbClr val="222E40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22E40"/>
                </a:solidFill>
                <a:latin typeface="Aptos"/>
              </a:rPr>
              <a:t>AppClicks</a:t>
            </a:r>
            <a:r>
              <a:rPr sz="1400" b="0" dirty="0">
                <a:solidFill>
                  <a:srgbClr val="222E40"/>
                </a:solidFill>
                <a:latin typeface="Aptos"/>
              </a:rPr>
              <a:t> - </a:t>
            </a:r>
            <a:r>
              <a:rPr sz="1400" b="0" dirty="0" err="1">
                <a:solidFill>
                  <a:srgbClr val="222E40"/>
                </a:solidFill>
                <a:latin typeface="Aptos"/>
              </a:rPr>
              <a:t>Disciplina</a:t>
            </a:r>
            <a:r>
              <a:rPr sz="1400" b="0" dirty="0">
                <a:solidFill>
                  <a:srgbClr val="222E40"/>
                </a:solidFill>
                <a:latin typeface="Aptos"/>
              </a:rPr>
              <a:t> 1 - PRONATEC/IFSP, p. 37-51 (Módulo 2 - </a:t>
            </a:r>
            <a:r>
              <a:rPr sz="1400" b="0" dirty="0" err="1">
                <a:solidFill>
                  <a:srgbClr val="222E40"/>
                </a:solidFill>
                <a:latin typeface="Aptos"/>
              </a:rPr>
              <a:t>Unidades</a:t>
            </a:r>
            <a:r>
              <a:rPr sz="1400" b="0" dirty="0">
                <a:solidFill>
                  <a:srgbClr val="222E40"/>
                </a:solidFill>
                <a:latin typeface="Aptos"/>
              </a:rPr>
              <a:t> 1 e 2).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222E40"/>
                </a:solidFill>
                <a:latin typeface="Aptos"/>
              </a:rPr>
              <a:t>•  </a:t>
            </a:r>
            <a:r>
              <a:rPr sz="1400" b="0" dirty="0" err="1">
                <a:solidFill>
                  <a:srgbClr val="222E40"/>
                </a:solidFill>
                <a:latin typeface="Aptos"/>
              </a:rPr>
              <a:t>Figuras</a:t>
            </a:r>
            <a:r>
              <a:rPr sz="1400" b="0" dirty="0">
                <a:solidFill>
                  <a:srgbClr val="222E40"/>
                </a:solidFill>
                <a:latin typeface="Aptos"/>
              </a:rPr>
              <a:t> 29, 30 e 31 e </a:t>
            </a:r>
            <a:r>
              <a:rPr sz="1400" b="0" dirty="0" err="1">
                <a:solidFill>
                  <a:srgbClr val="222E40"/>
                </a:solidFill>
                <a:latin typeface="Aptos"/>
              </a:rPr>
              <a:t>tabela</a:t>
            </a:r>
            <a:r>
              <a:rPr sz="1400" b="0" dirty="0">
                <a:solidFill>
                  <a:srgbClr val="222E40"/>
                </a:solidFill>
                <a:latin typeface="Aptos"/>
              </a:rPr>
              <a:t> de paleta de cores </a:t>
            </a:r>
            <a:r>
              <a:rPr sz="1400" b="0" dirty="0" err="1">
                <a:solidFill>
                  <a:srgbClr val="222E40"/>
                </a:solidFill>
                <a:latin typeface="Aptos"/>
              </a:rPr>
              <a:t>extraídas</a:t>
            </a:r>
            <a:r>
              <a:rPr sz="1400" b="0" dirty="0">
                <a:solidFill>
                  <a:srgbClr val="222E40"/>
                </a:solidFill>
                <a:latin typeface="Aptos"/>
              </a:rPr>
              <a:t> do material.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58184"/>
            <a:ext cx="504428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8F5F"/>
                </a:solidFill>
                <a:latin typeface="Aptos"/>
              </a:rPr>
              <a:t>Fonte da Figura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87368"/>
            <a:ext cx="5044287" cy="954107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 THE CHALLENGE INSTITUTE. Framework. Challenge-Based Learning, 2018. Disponível em challengebasedlearning.org/framework. Acesso em 22 abr. 2025 (citado no material, p. 40).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7287" y="1481328"/>
            <a:ext cx="504428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8F5F"/>
                </a:solidFill>
                <a:latin typeface="Aptos"/>
              </a:rPr>
              <a:t>Fonte da Figura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7287" y="1810512"/>
            <a:ext cx="5044287" cy="73866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 ChatGPT, versão GPT-4o, 2024. Inteligência Artificial. Disponível em chatgpt.com. Acesso em 28 abr. 2025 (citado no material, p. 47).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7287" y="3758184"/>
            <a:ext cx="504428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8F5F"/>
                </a:solidFill>
                <a:latin typeface="Aptos"/>
              </a:rPr>
              <a:t>Vídeos (YouTube)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7287" y="4087368"/>
            <a:ext cx="5044287" cy="191847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 A MELHOR Metodologia de APRENDIZADO que já vi  - Challenge-Based Learning - CBL - Nadja Caldeira. https://www.youtube.com/watch?v=NO8TL0cRsCA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 A aprendizagem colaborativa - Educaline Brasil. https://www.youtube.com/watch?v=yprs7FwcU9A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 Qual a diferença entre UI e UX design? - She is a Creative | UI UX Design Freelancer. https://www.youtube.com/watch?v=1ZKxhQmc0gA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606E84"/>
                </a:solidFill>
                <a:latin typeface="Aptos"/>
              </a:rPr>
              <a:t>APPCLICKS  •  SEMANA 3  •  CHALLENGE-BASED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17352" y="652881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u="none">
                <a:solidFill>
                  <a:srgbClr val="606E84"/>
                </a:solidFill>
                <a:latin typeface="Aptos"/>
              </a:rPr>
              <a:t>61 / 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4903</Words>
  <Application>Microsoft Office PowerPoint</Application>
  <PresentationFormat>Widescreen</PresentationFormat>
  <Paragraphs>550</Paragraphs>
  <Slides>61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61</vt:i4>
      </vt:variant>
    </vt:vector>
  </HeadingPairs>
  <TitlesOfParts>
    <vt:vector size="66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Ivan Lucas</cp:lastModifiedBy>
  <cp:revision>1</cp:revision>
  <dcterms:created xsi:type="dcterms:W3CDTF">2013-01-27T09:14:16Z</dcterms:created>
  <dcterms:modified xsi:type="dcterms:W3CDTF">2026-08-23T15:07:00Z</dcterms:modified>
  <cp:category/>
</cp:coreProperties>
</file>