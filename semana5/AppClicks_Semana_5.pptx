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notesMaster" Target="notesMasters/notesMaster1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Recurso complementar — Tipos e propriedades de colunas</a:t>
            </a:r>
          </a:p>
          <a:p>
            <a:r>
              <a:t>Título: Tipos de colunas e suas propriedades</a:t>
            </a:r>
          </a:p>
          <a:p>
            <a:r>
              <a:t>Canal: AppSheet Brasil</a:t>
            </a:r>
          </a:p>
          <a:p>
            <a:r>
              <a:t>Duração verificada: 21:31</a:t>
            </a:r>
          </a:p>
          <a:p>
            <a:r>
              <a:t>URL: https://www.youtube.com/watch?v=dnus3kreQE8</a:t>
            </a:r>
          </a:p>
          <a:p>
            <a:r>
              <a:t>Consulta: 06/09/2026.</a:t>
            </a:r>
          </a:p>
          <a:p>
            <a:r>
              <a:t>Uso: Complementa a leitura das propriedades de coluna apresentadas no Material (Name, Type, Show?, Require? e outras).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Recurso complementar — Views e organização de telas</a:t>
            </a:r>
          </a:p>
          <a:p>
            <a:r>
              <a:t>Título: Slice no AppSheet: aprenda a filtrar dados e organizar seu app (iniciante)</a:t>
            </a:r>
          </a:p>
          <a:p>
            <a:r>
              <a:t>Canal: Academia Brasileira de Appsheet</a:t>
            </a:r>
          </a:p>
          <a:p>
            <a:r>
              <a:t>Duração verificada: 13:50</a:t>
            </a:r>
          </a:p>
          <a:p>
            <a:r>
              <a:t>URL: https://www.youtube.com/watch?v=gpE6NMCPZS4</a:t>
            </a:r>
          </a:p>
          <a:p>
            <a:r>
              <a:t>Consulta: 06/09/2026.</a:t>
            </a:r>
          </a:p>
          <a:p>
            <a:r>
              <a:t>Uso: Apresenta em português como criar um Slice para filtrar dados e organizar uma visualização; use como complemento da prática de 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Recurso complementar — Colunas virtuais e CONCATENATE</a:t>
            </a:r>
          </a:p>
          <a:p>
            <a:r>
              <a:t>Título: Usar Coluna Virtual p/ Descrição Personalizada com CONCATENATE( ) | Appsheet (No Code)</a:t>
            </a:r>
          </a:p>
          <a:p>
            <a:r>
              <a:t>Canal: Kosmos Code</a:t>
            </a:r>
          </a:p>
          <a:p>
            <a:r>
              <a:t>Duração verificada: 17:49</a:t>
            </a:r>
          </a:p>
          <a:p>
            <a:r>
              <a:t>URL: https://www.youtube.com/watch?v=z_yV2gvlhso</a:t>
            </a:r>
          </a:p>
          <a:p>
            <a:r>
              <a:t>Consulta: 06/09/2026.</a:t>
            </a:r>
          </a:p>
          <a:p>
            <a:r>
              <a:t>Uso: Demonstra o uso de coluna virtual com CONCATENATE, diretamente relacionado ao Nome_Completo do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hyperlink" Target="https://www.youtube.com/watch?v=dnus3kreQE8" TargetMode="External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Relationship Id="rId4" Type="http://schemas.openxmlformats.org/officeDocument/2006/relationships/hyperlink" Target="https://www.youtube.com/watch?v=gpE6NMCPZS4" TargetMode="External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Relationship Id="rId4" Type="http://schemas.openxmlformats.org/officeDocument/2006/relationships/hyperlink" Target="https://www.youtube.com/watch?v=z_yV2gvlhso" TargetMode="External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914400" y="2788920"/>
            <a:ext cx="10332720" cy="82296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VER_TITLE"/>
          <p:cNvSpPr txBox="1"/>
          <p:nvPr/>
        </p:nvSpPr>
        <p:spPr>
          <a:xfrm>
            <a:off x="914400" y="141732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ptos"/>
              </a:rPr>
              <a:t>AppClicks</a:t>
            </a:r>
          </a:p>
        </p:txBody>
      </p:sp>
      <p:sp>
        <p:nvSpPr>
          <p:cNvPr id="5" name="COVER_SUBTITLE"/>
          <p:cNvSpPr txBox="1"/>
          <p:nvPr/>
        </p:nvSpPr>
        <p:spPr>
          <a:xfrm>
            <a:off x="914400" y="3127248"/>
            <a:ext cx="1005840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Semana 5 — Planejando, implementando e testando novas funcionalidades</a:t>
            </a:r>
          </a:p>
        </p:txBody>
      </p:sp>
      <p:sp>
        <p:nvSpPr>
          <p:cNvPr id="6" name="COVER_META"/>
          <p:cNvSpPr txBox="1"/>
          <p:nvPr/>
        </p:nvSpPr>
        <p:spPr>
          <a:xfrm>
            <a:off x="914400" y="446227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C9D6E4"/>
                </a:solidFill>
                <a:latin typeface="Aptos"/>
              </a:rPr>
              <a:t>Disciplina 1 – AppSheet  |  PRONATEC/IFSP  |  12h • 3 dias</a:t>
            </a:r>
          </a:p>
        </p:txBody>
      </p:sp>
      <p:sp>
        <p:nvSpPr>
          <p:cNvPr id="7" name="COVER_SOURCE"/>
          <p:cNvSpPr txBox="1"/>
          <p:nvPr/>
        </p:nvSpPr>
        <p:spPr>
          <a:xfrm>
            <a:off x="914400" y="60807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06E84"/>
                </a:solidFill>
                <a:latin typeface="Aptos"/>
              </a:rPr>
              <a:t>Unidade 3 • Material Didático AppClicks, pp. 52–80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Nossa semana em 3 dias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6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Planejamento da Semana 5 + Material Didático AppClicks, pp. 52–80.</a:t>
            </a:r>
          </a:p>
        </p:txBody>
      </p:sp>
      <p:sp>
        <p:nvSpPr>
          <p:cNvPr id="8" name="BG_DAY_CARD"/>
          <p:cNvSpPr/>
          <p:nvPr/>
        </p:nvSpPr>
        <p:spPr>
          <a:xfrm>
            <a:off x="502920" y="1417320"/>
            <a:ext cx="358444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G_DAY_LABEL"/>
          <p:cNvSpPr/>
          <p:nvPr/>
        </p:nvSpPr>
        <p:spPr>
          <a:xfrm>
            <a:off x="502920" y="1417320"/>
            <a:ext cx="3584448" cy="566928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AY_LABEL"/>
          <p:cNvSpPr txBox="1"/>
          <p:nvPr/>
        </p:nvSpPr>
        <p:spPr>
          <a:xfrm>
            <a:off x="704088" y="1554480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11" name="DAY_TITLE"/>
          <p:cNvSpPr txBox="1"/>
          <p:nvPr/>
        </p:nvSpPr>
        <p:spPr>
          <a:xfrm>
            <a:off x="731520" y="2267712"/>
            <a:ext cx="3017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979D"/>
                </a:solidFill>
                <a:latin typeface="Aptos"/>
              </a:rPr>
              <a:t>Planejar, implementar, testar e apresentar</a:t>
            </a:r>
          </a:p>
        </p:txBody>
      </p:sp>
      <p:sp>
        <p:nvSpPr>
          <p:cNvPr id="12" name="TEXT_BULLETS"/>
          <p:cNvSpPr txBox="1"/>
          <p:nvPr/>
        </p:nvSpPr>
        <p:spPr>
          <a:xfrm>
            <a:off x="731520" y="3182112"/>
            <a:ext cx="306324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• Desafio e história de usuário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• Wireframe de nova tela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• Teste e apresentação ao cliente</a:t>
            </a:r>
          </a:p>
        </p:txBody>
      </p:sp>
      <p:sp>
        <p:nvSpPr>
          <p:cNvPr id="13" name="BG_DAY_CARD"/>
          <p:cNvSpPr/>
          <p:nvPr/>
        </p:nvSpPr>
        <p:spPr>
          <a:xfrm>
            <a:off x="4288536" y="1417320"/>
            <a:ext cx="358444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G_DAY_LABEL"/>
          <p:cNvSpPr/>
          <p:nvPr/>
        </p:nvSpPr>
        <p:spPr>
          <a:xfrm>
            <a:off x="4288536" y="1417320"/>
            <a:ext cx="3584448" cy="566928"/>
          </a:xfrm>
          <a:prstGeom prst="round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AY_LABEL"/>
          <p:cNvSpPr txBox="1"/>
          <p:nvPr/>
        </p:nvSpPr>
        <p:spPr>
          <a:xfrm>
            <a:off x="4489703" y="1554480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16" name="DAY_TITLE"/>
          <p:cNvSpPr txBox="1"/>
          <p:nvPr/>
        </p:nvSpPr>
        <p:spPr>
          <a:xfrm>
            <a:off x="4517136" y="2267712"/>
            <a:ext cx="3017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66FAD"/>
                </a:solidFill>
                <a:latin typeface="Aptos"/>
              </a:rPr>
              <a:t>Investigar dados e organizar o trabalho</a:t>
            </a:r>
          </a:p>
        </p:txBody>
      </p:sp>
      <p:sp>
        <p:nvSpPr>
          <p:cNvPr id="17" name="TEXT_BULLETS"/>
          <p:cNvSpPr txBox="1"/>
          <p:nvPr/>
        </p:nvSpPr>
        <p:spPr>
          <a:xfrm>
            <a:off x="4517136" y="3182112"/>
            <a:ext cx="306324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• Tabelas do Atende+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• Configuração de colunas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• Tarefas, equipe e board</a:t>
            </a:r>
          </a:p>
        </p:txBody>
      </p:sp>
      <p:sp>
        <p:nvSpPr>
          <p:cNvPr id="18" name="BG_DAY_CARD"/>
          <p:cNvSpPr/>
          <p:nvPr/>
        </p:nvSpPr>
        <p:spPr>
          <a:xfrm>
            <a:off x="8074151" y="1417320"/>
            <a:ext cx="358444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G_DAY_LABEL"/>
          <p:cNvSpPr/>
          <p:nvPr/>
        </p:nvSpPr>
        <p:spPr>
          <a:xfrm>
            <a:off x="8074151" y="1417320"/>
            <a:ext cx="3584448" cy="566928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AY_LABEL"/>
          <p:cNvSpPr txBox="1"/>
          <p:nvPr/>
        </p:nvSpPr>
        <p:spPr>
          <a:xfrm>
            <a:off x="8275319" y="1554480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21" name="DAY_TITLE"/>
          <p:cNvSpPr txBox="1"/>
          <p:nvPr/>
        </p:nvSpPr>
        <p:spPr>
          <a:xfrm>
            <a:off x="8302751" y="2267712"/>
            <a:ext cx="30175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953A5"/>
                </a:solidFill>
                <a:latin typeface="Aptos"/>
              </a:rPr>
              <a:t>Construir telas e validar</a:t>
            </a:r>
          </a:p>
        </p:txBody>
      </p:sp>
      <p:sp>
        <p:nvSpPr>
          <p:cNvPr id="22" name="TEXT_BULLETS"/>
          <p:cNvSpPr txBox="1"/>
          <p:nvPr/>
        </p:nvSpPr>
        <p:spPr>
          <a:xfrm>
            <a:off x="8302751" y="3182112"/>
            <a:ext cx="306324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• Views, cards e formulários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• Colunas virtuais e ações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• Prática, seminário e H5P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Objetivos de aprendizagem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6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Planejamento da Semana 5 + Material Didático AppClicks, pp. 52–80.</a:t>
            </a:r>
          </a:p>
        </p:txBody>
      </p:sp>
      <p:sp>
        <p:nvSpPr>
          <p:cNvPr id="8" name="BG_OBJECTIVE"/>
          <p:cNvSpPr/>
          <p:nvPr/>
        </p:nvSpPr>
        <p:spPr>
          <a:xfrm>
            <a:off x="502920" y="1325880"/>
            <a:ext cx="5440680" cy="1225296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BJECTIVE_TITLE"/>
          <p:cNvSpPr txBox="1"/>
          <p:nvPr/>
        </p:nvSpPr>
        <p:spPr>
          <a:xfrm>
            <a:off x="713232" y="1472184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979D"/>
                </a:solidFill>
                <a:latin typeface="Aptos"/>
              </a:rPr>
              <a:t>Planejar</a:t>
            </a:r>
          </a:p>
        </p:txBody>
      </p:sp>
      <p:sp>
        <p:nvSpPr>
          <p:cNvPr id="10" name="OBJECTIVE_DETAIL"/>
          <p:cNvSpPr txBox="1"/>
          <p:nvPr/>
        </p:nvSpPr>
        <p:spPr>
          <a:xfrm>
            <a:off x="2377439" y="1472184"/>
            <a:ext cx="322783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22E40"/>
                </a:solidFill>
                <a:latin typeface="Aptos"/>
              </a:rPr>
              <a:t>Organizar nova funcionalidade com história de usuário e wireframe.</a:t>
            </a:r>
          </a:p>
        </p:txBody>
      </p:sp>
      <p:sp>
        <p:nvSpPr>
          <p:cNvPr id="11" name="BG_OBJECTIVE"/>
          <p:cNvSpPr/>
          <p:nvPr/>
        </p:nvSpPr>
        <p:spPr>
          <a:xfrm>
            <a:off x="6236207" y="1325880"/>
            <a:ext cx="5440680" cy="1225296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BJECTIVE_TITLE"/>
          <p:cNvSpPr txBox="1"/>
          <p:nvPr/>
        </p:nvSpPr>
        <p:spPr>
          <a:xfrm>
            <a:off x="6446520" y="1472184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66FAD"/>
                </a:solidFill>
                <a:latin typeface="Aptos"/>
              </a:rPr>
              <a:t>Implementar</a:t>
            </a:r>
          </a:p>
        </p:txBody>
      </p:sp>
      <p:sp>
        <p:nvSpPr>
          <p:cNvPr id="13" name="OBJECTIVE_DETAIL"/>
          <p:cNvSpPr txBox="1"/>
          <p:nvPr/>
        </p:nvSpPr>
        <p:spPr>
          <a:xfrm>
            <a:off x="8110727" y="1472184"/>
            <a:ext cx="322783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22E40"/>
                </a:solidFill>
                <a:latin typeface="Aptos"/>
              </a:rPr>
              <a:t>Construir telas e ajustes no AppSheet em equipes.</a:t>
            </a:r>
          </a:p>
        </p:txBody>
      </p:sp>
      <p:sp>
        <p:nvSpPr>
          <p:cNvPr id="14" name="BG_OBJECTIVE"/>
          <p:cNvSpPr/>
          <p:nvPr/>
        </p:nvSpPr>
        <p:spPr>
          <a:xfrm>
            <a:off x="502920" y="2816352"/>
            <a:ext cx="5440680" cy="1225296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BJECTIVE_TITLE"/>
          <p:cNvSpPr txBox="1"/>
          <p:nvPr/>
        </p:nvSpPr>
        <p:spPr>
          <a:xfrm>
            <a:off x="713232" y="2962656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979D"/>
                </a:solidFill>
                <a:latin typeface="Aptos"/>
              </a:rPr>
              <a:t>Testar</a:t>
            </a:r>
          </a:p>
        </p:txBody>
      </p:sp>
      <p:sp>
        <p:nvSpPr>
          <p:cNvPr id="16" name="OBJECTIVE_DETAIL"/>
          <p:cNvSpPr txBox="1"/>
          <p:nvPr/>
        </p:nvSpPr>
        <p:spPr>
          <a:xfrm>
            <a:off x="2377439" y="2962656"/>
            <a:ext cx="322783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22E40"/>
                </a:solidFill>
                <a:latin typeface="Aptos"/>
              </a:rPr>
              <a:t>Executar tarefas do usuário e procurar erros no app.</a:t>
            </a:r>
          </a:p>
        </p:txBody>
      </p:sp>
      <p:sp>
        <p:nvSpPr>
          <p:cNvPr id="17" name="BG_OBJECTIVE"/>
          <p:cNvSpPr/>
          <p:nvPr/>
        </p:nvSpPr>
        <p:spPr>
          <a:xfrm>
            <a:off x="6236207" y="2816352"/>
            <a:ext cx="5440680" cy="1225296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BJECTIVE_TITLE"/>
          <p:cNvSpPr txBox="1"/>
          <p:nvPr/>
        </p:nvSpPr>
        <p:spPr>
          <a:xfrm>
            <a:off x="6446520" y="2962656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66FAD"/>
                </a:solidFill>
                <a:latin typeface="Aptos"/>
              </a:rPr>
              <a:t>Apresentar</a:t>
            </a:r>
          </a:p>
        </p:txBody>
      </p:sp>
      <p:sp>
        <p:nvSpPr>
          <p:cNvPr id="19" name="OBJECTIVE_DETAIL"/>
          <p:cNvSpPr txBox="1"/>
          <p:nvPr/>
        </p:nvSpPr>
        <p:spPr>
          <a:xfrm>
            <a:off x="8110727" y="2962656"/>
            <a:ext cx="322783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22E40"/>
                </a:solidFill>
                <a:latin typeface="Aptos"/>
              </a:rPr>
              <a:t>Demonstrar a funcionalidade ao cliente e registrar feedbacks.</a:t>
            </a:r>
          </a:p>
        </p:txBody>
      </p:sp>
      <p:sp>
        <p:nvSpPr>
          <p:cNvPr id="20" name="BG_OBJECTIVE"/>
          <p:cNvSpPr/>
          <p:nvPr/>
        </p:nvSpPr>
        <p:spPr>
          <a:xfrm>
            <a:off x="502920" y="4306824"/>
            <a:ext cx="5440680" cy="1225296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BJECTIVE_TITLE"/>
          <p:cNvSpPr txBox="1"/>
          <p:nvPr/>
        </p:nvSpPr>
        <p:spPr>
          <a:xfrm>
            <a:off x="713232" y="4453128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979D"/>
                </a:solidFill>
                <a:latin typeface="Aptos"/>
              </a:rPr>
              <a:t>Organizar dados</a:t>
            </a:r>
          </a:p>
        </p:txBody>
      </p:sp>
      <p:sp>
        <p:nvSpPr>
          <p:cNvPr id="22" name="OBJECTIVE_DETAIL"/>
          <p:cNvSpPr txBox="1"/>
          <p:nvPr/>
        </p:nvSpPr>
        <p:spPr>
          <a:xfrm>
            <a:off x="2377439" y="4453128"/>
            <a:ext cx="322783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22E40"/>
                </a:solidFill>
                <a:latin typeface="Aptos"/>
              </a:rPr>
              <a:t>Configurar tabelas, colunas e visualizações do Atende+.</a:t>
            </a:r>
          </a:p>
        </p:txBody>
      </p:sp>
      <p:sp>
        <p:nvSpPr>
          <p:cNvPr id="23" name="BG_OBJECTIVE"/>
          <p:cNvSpPr/>
          <p:nvPr/>
        </p:nvSpPr>
        <p:spPr>
          <a:xfrm>
            <a:off x="6236207" y="4306824"/>
            <a:ext cx="5440680" cy="1225296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BJECTIVE_TITLE"/>
          <p:cNvSpPr txBox="1"/>
          <p:nvPr/>
        </p:nvSpPr>
        <p:spPr>
          <a:xfrm>
            <a:off x="6446520" y="4453128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66FAD"/>
                </a:solidFill>
                <a:latin typeface="Aptos"/>
              </a:rPr>
              <a:t>Aprimorar UX</a:t>
            </a:r>
          </a:p>
        </p:txBody>
      </p:sp>
      <p:sp>
        <p:nvSpPr>
          <p:cNvPr id="25" name="OBJECTIVE_DETAIL"/>
          <p:cNvSpPr txBox="1"/>
          <p:nvPr/>
        </p:nvSpPr>
        <p:spPr>
          <a:xfrm>
            <a:off x="8110727" y="4453128"/>
            <a:ext cx="322783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22E40"/>
                </a:solidFill>
                <a:latin typeface="Aptos"/>
              </a:rPr>
              <a:t>Ajustar views, cards, formulários, ações e informações exibidas.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Unidade 3: um ciclo antes de colocar a função em uso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6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52.</a:t>
            </a:r>
          </a:p>
        </p:txBody>
      </p:sp>
      <p:sp>
        <p:nvSpPr>
          <p:cNvPr id="8" name="BG_STEP_0"/>
          <p:cNvSpPr/>
          <p:nvPr/>
        </p:nvSpPr>
        <p:spPr>
          <a:xfrm>
            <a:off x="502920" y="1828800"/>
            <a:ext cx="3587496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G_STEP_NUM_0"/>
          <p:cNvSpPr/>
          <p:nvPr/>
        </p:nvSpPr>
        <p:spPr>
          <a:xfrm>
            <a:off x="704088" y="2039112"/>
            <a:ext cx="502920" cy="502920"/>
          </a:xfrm>
          <a:prstGeom prst="ellipse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STEP_TITLE_0"/>
          <p:cNvSpPr txBox="1"/>
          <p:nvPr/>
        </p:nvSpPr>
        <p:spPr>
          <a:xfrm>
            <a:off x="758952" y="2788920"/>
            <a:ext cx="3075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979D"/>
                </a:solidFill>
                <a:latin typeface="Aptos"/>
              </a:rPr>
              <a:t>Planejar</a:t>
            </a:r>
          </a:p>
        </p:txBody>
      </p:sp>
      <p:sp>
        <p:nvSpPr>
          <p:cNvPr id="11" name="STEP_DETAIL_0"/>
          <p:cNvSpPr txBox="1"/>
          <p:nvPr/>
        </p:nvSpPr>
        <p:spPr>
          <a:xfrm>
            <a:off x="758952" y="3474720"/>
            <a:ext cx="307543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Evite ir direto ao desenvolvimento: um planejamento mínimo reduz a chance de erros.</a:t>
            </a:r>
          </a:p>
        </p:txBody>
      </p:sp>
      <p:sp>
        <p:nvSpPr>
          <p:cNvPr id="12" name="ARROW_0"/>
          <p:cNvSpPr txBox="1"/>
          <p:nvPr/>
        </p:nvSpPr>
        <p:spPr>
          <a:xfrm>
            <a:off x="4090416" y="3054096"/>
            <a:ext cx="210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606E84"/>
                </a:solidFill>
                <a:latin typeface="Aptos"/>
              </a:rPr>
              <a:t>›</a:t>
            </a:r>
          </a:p>
        </p:txBody>
      </p:sp>
      <p:sp>
        <p:nvSpPr>
          <p:cNvPr id="13" name="BG_STEP_1"/>
          <p:cNvSpPr/>
          <p:nvPr/>
        </p:nvSpPr>
        <p:spPr>
          <a:xfrm>
            <a:off x="4300728" y="1828800"/>
            <a:ext cx="3587496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G_STEP_NUM_1"/>
          <p:cNvSpPr/>
          <p:nvPr/>
        </p:nvSpPr>
        <p:spPr>
          <a:xfrm>
            <a:off x="4501896" y="2039112"/>
            <a:ext cx="502920" cy="502920"/>
          </a:xfrm>
          <a:prstGeom prst="ellipse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STEP_TITLE_1"/>
          <p:cNvSpPr txBox="1"/>
          <p:nvPr/>
        </p:nvSpPr>
        <p:spPr>
          <a:xfrm>
            <a:off x="4556760" y="2788920"/>
            <a:ext cx="3075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66FAD"/>
                </a:solidFill>
                <a:latin typeface="Aptos"/>
              </a:rPr>
              <a:t>Desenvolver</a:t>
            </a:r>
          </a:p>
        </p:txBody>
      </p:sp>
      <p:sp>
        <p:nvSpPr>
          <p:cNvPr id="16" name="STEP_DETAIL_1"/>
          <p:cNvSpPr txBox="1"/>
          <p:nvPr/>
        </p:nvSpPr>
        <p:spPr>
          <a:xfrm>
            <a:off x="4556760" y="3474720"/>
            <a:ext cx="307543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Construa no AppSheet somente o que foi definido e compreendido pela equipe.</a:t>
            </a:r>
          </a:p>
        </p:txBody>
      </p:sp>
      <p:sp>
        <p:nvSpPr>
          <p:cNvPr id="17" name="ARROW_1"/>
          <p:cNvSpPr txBox="1"/>
          <p:nvPr/>
        </p:nvSpPr>
        <p:spPr>
          <a:xfrm>
            <a:off x="7888224" y="3054096"/>
            <a:ext cx="210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606E84"/>
                </a:solidFill>
                <a:latin typeface="Aptos"/>
              </a:rPr>
              <a:t>›</a:t>
            </a:r>
          </a:p>
        </p:txBody>
      </p:sp>
      <p:sp>
        <p:nvSpPr>
          <p:cNvPr id="18" name="BG_STEP_2"/>
          <p:cNvSpPr/>
          <p:nvPr/>
        </p:nvSpPr>
        <p:spPr>
          <a:xfrm>
            <a:off x="8098535" y="1828800"/>
            <a:ext cx="3587496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G_STEP_NUM_2"/>
          <p:cNvSpPr/>
          <p:nvPr/>
        </p:nvSpPr>
        <p:spPr>
          <a:xfrm>
            <a:off x="8299704" y="2039112"/>
            <a:ext cx="502920" cy="502920"/>
          </a:xfrm>
          <a:prstGeom prst="ellipse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EP_TITLE_2"/>
          <p:cNvSpPr txBox="1"/>
          <p:nvPr/>
        </p:nvSpPr>
        <p:spPr>
          <a:xfrm>
            <a:off x="8354567" y="2788920"/>
            <a:ext cx="3075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953A5"/>
                </a:solidFill>
                <a:latin typeface="Aptos"/>
              </a:rPr>
              <a:t>Testar</a:t>
            </a:r>
          </a:p>
        </p:txBody>
      </p:sp>
      <p:sp>
        <p:nvSpPr>
          <p:cNvPr id="21" name="STEP_DETAIL_2"/>
          <p:cNvSpPr txBox="1"/>
          <p:nvPr/>
        </p:nvSpPr>
        <p:spPr>
          <a:xfrm>
            <a:off x="8354567" y="3474720"/>
            <a:ext cx="307543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Verifique a nova função e o app como um todo antes de entregar ao usuário.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A sequência para uma nova funcionalidade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6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52.</a:t>
            </a:r>
          </a:p>
        </p:txBody>
      </p:sp>
      <p:sp>
        <p:nvSpPr>
          <p:cNvPr id="8" name="BG_STEP_0"/>
          <p:cNvSpPr/>
          <p:nvPr/>
        </p:nvSpPr>
        <p:spPr>
          <a:xfrm>
            <a:off x="502920" y="1828800"/>
            <a:ext cx="2638044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G_STEP_NUM_0"/>
          <p:cNvSpPr/>
          <p:nvPr/>
        </p:nvSpPr>
        <p:spPr>
          <a:xfrm>
            <a:off x="704088" y="2039112"/>
            <a:ext cx="502920" cy="502920"/>
          </a:xfrm>
          <a:prstGeom prst="ellipse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STEP_TITLE_0"/>
          <p:cNvSpPr txBox="1"/>
          <p:nvPr/>
        </p:nvSpPr>
        <p:spPr>
          <a:xfrm>
            <a:off x="758952" y="2788920"/>
            <a:ext cx="2125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979D"/>
                </a:solidFill>
                <a:latin typeface="Aptos"/>
              </a:rPr>
              <a:t>1. Entender</a:t>
            </a:r>
          </a:p>
        </p:txBody>
      </p:sp>
      <p:sp>
        <p:nvSpPr>
          <p:cNvPr id="11" name="STEP_DETAIL_0"/>
          <p:cNvSpPr txBox="1"/>
          <p:nvPr/>
        </p:nvSpPr>
        <p:spPr>
          <a:xfrm>
            <a:off x="758952" y="3474720"/>
            <a:ext cx="21259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Criar histórias de usuário ou diagramas de casos de uso.</a:t>
            </a:r>
          </a:p>
        </p:txBody>
      </p:sp>
      <p:sp>
        <p:nvSpPr>
          <p:cNvPr id="12" name="ARROW_0"/>
          <p:cNvSpPr txBox="1"/>
          <p:nvPr/>
        </p:nvSpPr>
        <p:spPr>
          <a:xfrm>
            <a:off x="3140964" y="3054096"/>
            <a:ext cx="210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606E84"/>
                </a:solidFill>
                <a:latin typeface="Aptos"/>
              </a:rPr>
              <a:t>›</a:t>
            </a:r>
          </a:p>
        </p:txBody>
      </p:sp>
      <p:sp>
        <p:nvSpPr>
          <p:cNvPr id="13" name="BG_STEP_1"/>
          <p:cNvSpPr/>
          <p:nvPr/>
        </p:nvSpPr>
        <p:spPr>
          <a:xfrm>
            <a:off x="3351276" y="1828800"/>
            <a:ext cx="2638044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G_STEP_NUM_1"/>
          <p:cNvSpPr/>
          <p:nvPr/>
        </p:nvSpPr>
        <p:spPr>
          <a:xfrm>
            <a:off x="3552444" y="2039112"/>
            <a:ext cx="502920" cy="502920"/>
          </a:xfrm>
          <a:prstGeom prst="ellipse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STEP_TITLE_1"/>
          <p:cNvSpPr txBox="1"/>
          <p:nvPr/>
        </p:nvSpPr>
        <p:spPr>
          <a:xfrm>
            <a:off x="3607308" y="2788920"/>
            <a:ext cx="2125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66FAD"/>
                </a:solidFill>
                <a:latin typeface="Aptos"/>
              </a:rPr>
              <a:t>2. Rascunhar</a:t>
            </a:r>
          </a:p>
        </p:txBody>
      </p:sp>
      <p:sp>
        <p:nvSpPr>
          <p:cNvPr id="16" name="STEP_DETAIL_1"/>
          <p:cNvSpPr txBox="1"/>
          <p:nvPr/>
        </p:nvSpPr>
        <p:spPr>
          <a:xfrm>
            <a:off x="3607308" y="3474720"/>
            <a:ext cx="21259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Produzir wireframes que exemplifiquem a novidade.</a:t>
            </a:r>
          </a:p>
        </p:txBody>
      </p:sp>
      <p:sp>
        <p:nvSpPr>
          <p:cNvPr id="17" name="ARROW_1"/>
          <p:cNvSpPr txBox="1"/>
          <p:nvPr/>
        </p:nvSpPr>
        <p:spPr>
          <a:xfrm>
            <a:off x="5989320" y="3054096"/>
            <a:ext cx="210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606E84"/>
                </a:solidFill>
                <a:latin typeface="Aptos"/>
              </a:rPr>
              <a:t>›</a:t>
            </a:r>
          </a:p>
        </p:txBody>
      </p:sp>
      <p:sp>
        <p:nvSpPr>
          <p:cNvPr id="18" name="BG_STEP_2"/>
          <p:cNvSpPr/>
          <p:nvPr/>
        </p:nvSpPr>
        <p:spPr>
          <a:xfrm>
            <a:off x="6199632" y="1828800"/>
            <a:ext cx="2638044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G_STEP_NUM_2"/>
          <p:cNvSpPr/>
          <p:nvPr/>
        </p:nvSpPr>
        <p:spPr>
          <a:xfrm>
            <a:off x="6400800" y="2039112"/>
            <a:ext cx="502920" cy="502920"/>
          </a:xfrm>
          <a:prstGeom prst="ellipse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EP_TITLE_2"/>
          <p:cNvSpPr txBox="1"/>
          <p:nvPr/>
        </p:nvSpPr>
        <p:spPr>
          <a:xfrm>
            <a:off x="6455664" y="2788920"/>
            <a:ext cx="2125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953A5"/>
                </a:solidFill>
                <a:latin typeface="Aptos"/>
              </a:rPr>
              <a:t>3. Construir</a:t>
            </a:r>
          </a:p>
        </p:txBody>
      </p:sp>
      <p:sp>
        <p:nvSpPr>
          <p:cNvPr id="21" name="STEP_DETAIL_2"/>
          <p:cNvSpPr txBox="1"/>
          <p:nvPr/>
        </p:nvSpPr>
        <p:spPr>
          <a:xfrm>
            <a:off x="6455664" y="3474720"/>
            <a:ext cx="21259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Implementar com o Google AppSheet.</a:t>
            </a:r>
          </a:p>
        </p:txBody>
      </p:sp>
      <p:sp>
        <p:nvSpPr>
          <p:cNvPr id="22" name="ARROW_2"/>
          <p:cNvSpPr txBox="1"/>
          <p:nvPr/>
        </p:nvSpPr>
        <p:spPr>
          <a:xfrm>
            <a:off x="8837676" y="3054096"/>
            <a:ext cx="210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606E84"/>
                </a:solidFill>
                <a:latin typeface="Aptos"/>
              </a:rPr>
              <a:t>›</a:t>
            </a:r>
          </a:p>
        </p:txBody>
      </p:sp>
      <p:sp>
        <p:nvSpPr>
          <p:cNvPr id="23" name="BG_STEP_3"/>
          <p:cNvSpPr/>
          <p:nvPr/>
        </p:nvSpPr>
        <p:spPr>
          <a:xfrm>
            <a:off x="9047988" y="1828800"/>
            <a:ext cx="2638044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G_STEP_NUM_3"/>
          <p:cNvSpPr/>
          <p:nvPr/>
        </p:nvSpPr>
        <p:spPr>
          <a:xfrm>
            <a:off x="9249156" y="2039112"/>
            <a:ext cx="502920" cy="502920"/>
          </a:xfrm>
          <a:prstGeom prst="ellipse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STEP_TITLE_3"/>
          <p:cNvSpPr txBox="1"/>
          <p:nvPr/>
        </p:nvSpPr>
        <p:spPr>
          <a:xfrm>
            <a:off x="9304019" y="2788920"/>
            <a:ext cx="2125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48B23"/>
                </a:solidFill>
                <a:latin typeface="Aptos"/>
              </a:rPr>
              <a:t>4. Validar</a:t>
            </a:r>
          </a:p>
        </p:txBody>
      </p:sp>
      <p:sp>
        <p:nvSpPr>
          <p:cNvPr id="26" name="STEP_DETAIL_3"/>
          <p:cNvSpPr txBox="1"/>
          <p:nvPr/>
        </p:nvSpPr>
        <p:spPr>
          <a:xfrm>
            <a:off x="9304019" y="3474720"/>
            <a:ext cx="21259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Testar, mostrar ao usuário e registrar feedbacks.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História de usuário: necessidade em uma frase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6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6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52.</a:t>
            </a:r>
          </a:p>
        </p:txBody>
      </p:sp>
      <p:sp>
        <p:nvSpPr>
          <p:cNvPr id="8" name="BG_STORY_FORMAT"/>
          <p:cNvSpPr/>
          <p:nvPr/>
        </p:nvSpPr>
        <p:spPr>
          <a:xfrm>
            <a:off x="502920" y="1353312"/>
            <a:ext cx="11183112" cy="1371600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ORY_LABEL"/>
          <p:cNvSpPr txBox="1"/>
          <p:nvPr/>
        </p:nvSpPr>
        <p:spPr>
          <a:xfrm>
            <a:off x="777240" y="157276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979D"/>
                </a:solidFill>
                <a:latin typeface="Aptos"/>
              </a:rPr>
              <a:t>Formato proposto no material</a:t>
            </a:r>
          </a:p>
        </p:txBody>
      </p:sp>
      <p:sp>
        <p:nvSpPr>
          <p:cNvPr id="10" name="STORY_FORMAT"/>
          <p:cNvSpPr txBox="1"/>
          <p:nvPr/>
        </p:nvSpPr>
        <p:spPr>
          <a:xfrm>
            <a:off x="777240" y="201168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42341"/>
                </a:solidFill>
                <a:latin typeface="Aptos"/>
              </a:rPr>
              <a:t>Como [tipo de usuário], eu quero [objetivo] para [benefício].</a:t>
            </a:r>
          </a:p>
        </p:txBody>
      </p:sp>
      <p:sp>
        <p:nvSpPr>
          <p:cNvPr id="11" name="BG_STORY_EXAMPLE"/>
          <p:cNvSpPr/>
          <p:nvPr/>
        </p:nvSpPr>
        <p:spPr>
          <a:xfrm>
            <a:off x="502920" y="3182112"/>
            <a:ext cx="11183112" cy="2267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ORY_EXAMPLE_LABEL"/>
          <p:cNvSpPr txBox="1"/>
          <p:nvPr/>
        </p:nvSpPr>
        <p:spPr>
          <a:xfrm>
            <a:off x="777240" y="3401568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66FAD"/>
                </a:solidFill>
                <a:latin typeface="Aptos"/>
              </a:rPr>
              <a:t>Exemplo do material</a:t>
            </a:r>
          </a:p>
        </p:txBody>
      </p:sp>
      <p:sp>
        <p:nvSpPr>
          <p:cNvPr id="13" name="STORY_EXAMPLE"/>
          <p:cNvSpPr txBox="1"/>
          <p:nvPr/>
        </p:nvSpPr>
        <p:spPr>
          <a:xfrm>
            <a:off x="777240" y="3931920"/>
            <a:ext cx="10332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222E40"/>
                </a:solidFill>
                <a:latin typeface="Aptos"/>
              </a:rPr>
              <a:t>“Como administrador, eu quero cadastrar novos usuários para controlar o acesso ao sistema.”</a:t>
            </a:r>
          </a:p>
        </p:txBody>
      </p:sp>
      <p:sp>
        <p:nvSpPr>
          <p:cNvPr id="14" name="STORY_NOTE"/>
          <p:cNvSpPr txBox="1"/>
          <p:nvPr/>
        </p:nvSpPr>
        <p:spPr>
          <a:xfrm>
            <a:off x="777240" y="4773168"/>
            <a:ext cx="10332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E84"/>
                </a:solidFill>
                <a:latin typeface="Aptos"/>
              </a:rPr>
              <a:t>Use esta frase como ponto de partida para definir o que será desenhado, construído e testado.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Wireframe: tornar a funcionalidade visível antes de construir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6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7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52–53.</a:t>
            </a:r>
          </a:p>
        </p:txBody>
      </p:sp>
      <p:sp>
        <p:nvSpPr>
          <p:cNvPr id="8" name="BG_WIRE_DESC"/>
          <p:cNvSpPr/>
          <p:nvPr/>
        </p:nvSpPr>
        <p:spPr>
          <a:xfrm>
            <a:off x="502920" y="1371600"/>
            <a:ext cx="5212080" cy="4498848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RE_HEADING"/>
          <p:cNvSpPr txBox="1"/>
          <p:nvPr/>
        </p:nvSpPr>
        <p:spPr>
          <a:xfrm>
            <a:off x="777240" y="1645920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979D"/>
                </a:solidFill>
                <a:latin typeface="Aptos"/>
              </a:rPr>
              <a:t>O que desenhar</a:t>
            </a:r>
          </a:p>
        </p:txBody>
      </p:sp>
      <p:sp>
        <p:nvSpPr>
          <p:cNvPr id="10" name="TEXT_BULLETS"/>
          <p:cNvSpPr txBox="1"/>
          <p:nvPr/>
        </p:nvSpPr>
        <p:spPr>
          <a:xfrm>
            <a:off x="777240" y="2267712"/>
            <a:ext cx="45720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Telas da nova funcionalidade.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Botões e mensagens que o usuário recebe.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Setas que representem o fluxo de informações.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Detalhes suficientes para cliente e equipe entenderem o que será feito.</a:t>
            </a:r>
          </a:p>
        </p:txBody>
      </p:sp>
      <p:sp>
        <p:nvSpPr>
          <p:cNvPr id="11" name="BG_WIRE_PURPOSE"/>
          <p:cNvSpPr/>
          <p:nvPr/>
        </p:nvSpPr>
        <p:spPr>
          <a:xfrm>
            <a:off x="6035040" y="1371600"/>
            <a:ext cx="5650992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IRE_PURPOSE_HEADING"/>
          <p:cNvSpPr txBox="1"/>
          <p:nvPr/>
        </p:nvSpPr>
        <p:spPr>
          <a:xfrm>
            <a:off x="6309360" y="164592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66FAD"/>
                </a:solidFill>
                <a:latin typeface="Aptos"/>
              </a:rPr>
              <a:t>Por que fazer</a:t>
            </a:r>
          </a:p>
        </p:txBody>
      </p:sp>
      <p:sp>
        <p:nvSpPr>
          <p:cNvPr id="13" name="TEXT_BULLETS"/>
          <p:cNvSpPr txBox="1"/>
          <p:nvPr/>
        </p:nvSpPr>
        <p:spPr>
          <a:xfrm>
            <a:off x="6309360" y="2267712"/>
            <a:ext cx="49834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Ajuda cliente e equipe a compreender a novidade.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Pode ser feito em ferramenta digital ou com papel e caneta.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Representa um caminho possível do usuário entre as telas.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Exemplo: protótipo criado com ferramenta digital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BASE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8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53.</a:t>
            </a:r>
          </a:p>
        </p:txBody>
      </p:sp>
      <p:sp>
        <p:nvSpPr>
          <p:cNvPr id="9" name="BG_LEFT"/>
          <p:cNvSpPr/>
          <p:nvPr/>
        </p:nvSpPr>
        <p:spPr>
          <a:xfrm>
            <a:off x="502920" y="1325880"/>
            <a:ext cx="4709160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_HEADING"/>
          <p:cNvSpPr txBox="1"/>
          <p:nvPr/>
        </p:nvSpPr>
        <p:spPr>
          <a:xfrm>
            <a:off x="777240" y="16002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979D"/>
                </a:solidFill>
                <a:latin typeface="Aptos"/>
              </a:rPr>
              <a:t>O que observar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37744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O wireframe projeta três telas de um aplicativo.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Os traços são simples, mas mostram muitos detalhes.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As telas podem representar o caminho: buscar tópicos, entrar e ver detalhes.</a:t>
            </a:r>
          </a:p>
        </p:txBody>
      </p:sp>
      <p:sp>
        <p:nvSpPr>
          <p:cNvPr id="12" name="BG_FIGURE"/>
          <p:cNvSpPr/>
          <p:nvPr/>
        </p:nvSpPr>
        <p:spPr>
          <a:xfrm>
            <a:off x="5440680" y="1325880"/>
            <a:ext cx="6245352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MATERIAL_FIGURE" descr="fig32_wireframe_dig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394" y="1536192"/>
            <a:ext cx="5821923" cy="4005072"/>
          </a:xfrm>
          <a:prstGeom prst="rect">
            <a:avLst/>
          </a:prstGeom>
        </p:spPr>
      </p:pic>
      <p:sp>
        <p:nvSpPr>
          <p:cNvPr id="14" name="FIGURE_SOURCE"/>
          <p:cNvSpPr txBox="1"/>
          <p:nvPr/>
        </p:nvSpPr>
        <p:spPr>
          <a:xfrm>
            <a:off x="5623560" y="5650992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53.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Exemplo: wireframe feito em papel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BASE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9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54.</a:t>
            </a:r>
          </a:p>
        </p:txBody>
      </p:sp>
      <p:sp>
        <p:nvSpPr>
          <p:cNvPr id="9" name="BG_LEFT"/>
          <p:cNvSpPr/>
          <p:nvPr/>
        </p:nvSpPr>
        <p:spPr>
          <a:xfrm>
            <a:off x="502920" y="1325880"/>
            <a:ext cx="4709160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_HEADING"/>
          <p:cNvSpPr txBox="1"/>
          <p:nvPr/>
        </p:nvSpPr>
        <p:spPr>
          <a:xfrm>
            <a:off x="777240" y="16002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979D"/>
                </a:solidFill>
                <a:latin typeface="Aptos"/>
              </a:rPr>
              <a:t>O que observar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37744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Papel e caneta também permitem prototipar.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As setas ajudam a definir o fluxo de informações.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O objetivo é comunicar a tela antes da implementação.</a:t>
            </a:r>
          </a:p>
        </p:txBody>
      </p:sp>
      <p:sp>
        <p:nvSpPr>
          <p:cNvPr id="12" name="BG_FIGURE"/>
          <p:cNvSpPr/>
          <p:nvPr/>
        </p:nvSpPr>
        <p:spPr>
          <a:xfrm>
            <a:off x="5440680" y="1325880"/>
            <a:ext cx="6245352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MATERIAL_FIGURE" descr="fig33_wireframe_pap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520" y="1536192"/>
            <a:ext cx="5039671" cy="4005072"/>
          </a:xfrm>
          <a:prstGeom prst="rect">
            <a:avLst/>
          </a:prstGeom>
        </p:spPr>
      </p:pic>
      <p:sp>
        <p:nvSpPr>
          <p:cNvPr id="14" name="FIGURE_SOURCE"/>
          <p:cNvSpPr txBox="1"/>
          <p:nvPr/>
        </p:nvSpPr>
        <p:spPr>
          <a:xfrm>
            <a:off x="5623560" y="5650992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54.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914400" y="1280160"/>
            <a:ext cx="1097280" cy="109728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_KICKER"/>
          <p:cNvSpPr txBox="1"/>
          <p:nvPr/>
        </p:nvSpPr>
        <p:spPr>
          <a:xfrm>
            <a:off x="914400" y="1600200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979D"/>
                </a:solidFill>
                <a:latin typeface="Aptos"/>
              </a:rPr>
              <a:t>DIA 1 — ENGAJAMENTO E PLANEJAMENTO</a:t>
            </a:r>
          </a:p>
        </p:txBody>
      </p:sp>
      <p:sp>
        <p:nvSpPr>
          <p:cNvPr id="5" name="DIVIDER_TITLE"/>
          <p:cNvSpPr txBox="1"/>
          <p:nvPr/>
        </p:nvSpPr>
        <p:spPr>
          <a:xfrm>
            <a:off x="914400" y="2148840"/>
            <a:ext cx="103327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Da ideia à funcionalidade que o usuário entende</a:t>
            </a:r>
          </a:p>
        </p:txBody>
      </p:sp>
      <p:sp>
        <p:nvSpPr>
          <p:cNvPr id="6" name="DIVIDER_QUOTE"/>
          <p:cNvSpPr txBox="1"/>
          <p:nvPr/>
        </p:nvSpPr>
        <p:spPr>
          <a:xfrm>
            <a:off x="914400" y="4069080"/>
            <a:ext cx="9966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1">
                <a:solidFill>
                  <a:srgbClr val="C9D6E4"/>
                </a:solidFill>
                <a:latin typeface="Aptos"/>
              </a:rPr>
              <a:t>Planeje, desenhe, implemente, teste e mostre: o ciclo começa pela compreensão da necessidade.</a:t>
            </a:r>
          </a:p>
        </p:txBody>
      </p:sp>
      <p:sp>
        <p:nvSpPr>
          <p:cNvPr id="7" name="DIVIDER_FOOTER"/>
          <p:cNvSpPr txBox="1"/>
          <p:nvPr/>
        </p:nvSpPr>
        <p:spPr>
          <a:xfrm>
            <a:off x="914400" y="6080760"/>
            <a:ext cx="9966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E84"/>
                </a:solidFill>
                <a:latin typeface="Aptos"/>
              </a:rPr>
              <a:t>AppClicks – Semana 5 – PRONATEC/IFSP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CBL da Semana 5: desafio, investigação e ação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11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Planejamento da Semana 5 + Material Didático AppClicks, pp. 52–80.</a:t>
            </a:r>
          </a:p>
        </p:txBody>
      </p:sp>
      <p:sp>
        <p:nvSpPr>
          <p:cNvPr id="9" name="BG_STEP_0"/>
          <p:cNvSpPr/>
          <p:nvPr/>
        </p:nvSpPr>
        <p:spPr>
          <a:xfrm>
            <a:off x="502920" y="1828800"/>
            <a:ext cx="3587496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G_STEP_NUM_0"/>
          <p:cNvSpPr/>
          <p:nvPr/>
        </p:nvSpPr>
        <p:spPr>
          <a:xfrm>
            <a:off x="704088" y="2039112"/>
            <a:ext cx="502920" cy="502920"/>
          </a:xfrm>
          <a:prstGeom prst="ellipse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STEP_TITLE_0"/>
          <p:cNvSpPr txBox="1"/>
          <p:nvPr/>
        </p:nvSpPr>
        <p:spPr>
          <a:xfrm>
            <a:off x="758952" y="2788920"/>
            <a:ext cx="3075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979D"/>
                </a:solidFill>
                <a:latin typeface="Aptos"/>
              </a:rPr>
              <a:t>Engajamento</a:t>
            </a:r>
          </a:p>
        </p:txBody>
      </p:sp>
      <p:sp>
        <p:nvSpPr>
          <p:cNvPr id="12" name="STEP_DETAIL_0"/>
          <p:cNvSpPr txBox="1"/>
          <p:nvPr/>
        </p:nvSpPr>
        <p:spPr>
          <a:xfrm>
            <a:off x="758952" y="3474720"/>
            <a:ext cx="307543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Definir o desafio de novas telas e a necessidade do usuário.</a:t>
            </a:r>
          </a:p>
        </p:txBody>
      </p:sp>
      <p:sp>
        <p:nvSpPr>
          <p:cNvPr id="13" name="ARROW_0"/>
          <p:cNvSpPr txBox="1"/>
          <p:nvPr/>
        </p:nvSpPr>
        <p:spPr>
          <a:xfrm>
            <a:off x="4090416" y="3054096"/>
            <a:ext cx="210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606E84"/>
                </a:solidFill>
                <a:latin typeface="Aptos"/>
              </a:rPr>
              <a:t>›</a:t>
            </a:r>
          </a:p>
        </p:txBody>
      </p:sp>
      <p:sp>
        <p:nvSpPr>
          <p:cNvPr id="14" name="BG_STEP_1"/>
          <p:cNvSpPr/>
          <p:nvPr/>
        </p:nvSpPr>
        <p:spPr>
          <a:xfrm>
            <a:off x="4300728" y="1828800"/>
            <a:ext cx="3587496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G_STEP_NUM_1"/>
          <p:cNvSpPr/>
          <p:nvPr/>
        </p:nvSpPr>
        <p:spPr>
          <a:xfrm>
            <a:off x="4501896" y="2039112"/>
            <a:ext cx="502920" cy="502920"/>
          </a:xfrm>
          <a:prstGeom prst="ellipse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STEP_TITLE_1"/>
          <p:cNvSpPr txBox="1"/>
          <p:nvPr/>
        </p:nvSpPr>
        <p:spPr>
          <a:xfrm>
            <a:off x="4556760" y="2788920"/>
            <a:ext cx="3075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66FAD"/>
                </a:solidFill>
                <a:latin typeface="Aptos"/>
              </a:rPr>
              <a:t>Investigação</a:t>
            </a:r>
          </a:p>
        </p:txBody>
      </p:sp>
      <p:sp>
        <p:nvSpPr>
          <p:cNvPr id="17" name="STEP_DETAIL_1"/>
          <p:cNvSpPr txBox="1"/>
          <p:nvPr/>
        </p:nvSpPr>
        <p:spPr>
          <a:xfrm>
            <a:off x="4556760" y="3474720"/>
            <a:ext cx="307543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Analisar UX, tabelas, views/telas e possibilidades de organização.</a:t>
            </a:r>
          </a:p>
        </p:txBody>
      </p:sp>
      <p:sp>
        <p:nvSpPr>
          <p:cNvPr id="18" name="ARROW_1"/>
          <p:cNvSpPr txBox="1"/>
          <p:nvPr/>
        </p:nvSpPr>
        <p:spPr>
          <a:xfrm>
            <a:off x="7888224" y="3054096"/>
            <a:ext cx="210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606E84"/>
                </a:solidFill>
                <a:latin typeface="Aptos"/>
              </a:rPr>
              <a:t>›</a:t>
            </a:r>
          </a:p>
        </p:txBody>
      </p:sp>
      <p:sp>
        <p:nvSpPr>
          <p:cNvPr id="19" name="BG_STEP_2"/>
          <p:cNvSpPr/>
          <p:nvPr/>
        </p:nvSpPr>
        <p:spPr>
          <a:xfrm>
            <a:off x="8098535" y="1828800"/>
            <a:ext cx="3587496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G_STEP_NUM_2"/>
          <p:cNvSpPr/>
          <p:nvPr/>
        </p:nvSpPr>
        <p:spPr>
          <a:xfrm>
            <a:off x="8299704" y="2039112"/>
            <a:ext cx="502920" cy="502920"/>
          </a:xfrm>
          <a:prstGeom prst="ellipse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STEP_TITLE_2"/>
          <p:cNvSpPr txBox="1"/>
          <p:nvPr/>
        </p:nvSpPr>
        <p:spPr>
          <a:xfrm>
            <a:off x="8354567" y="2788920"/>
            <a:ext cx="3075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953A5"/>
                </a:solidFill>
                <a:latin typeface="Aptos"/>
              </a:rPr>
              <a:t>Implementação</a:t>
            </a:r>
          </a:p>
        </p:txBody>
      </p:sp>
      <p:sp>
        <p:nvSpPr>
          <p:cNvPr id="22" name="STEP_DETAIL_2"/>
          <p:cNvSpPr txBox="1"/>
          <p:nvPr/>
        </p:nvSpPr>
        <p:spPr>
          <a:xfrm>
            <a:off x="8354567" y="3474720"/>
            <a:ext cx="307543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Construir em equipe, testar e apresentar a solução ao cliente.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Implementar: levar o protótipo para o AppSheet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12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55.</a:t>
            </a:r>
          </a:p>
        </p:txBody>
      </p:sp>
      <p:sp>
        <p:nvSpPr>
          <p:cNvPr id="9" name="BG_LEFT"/>
          <p:cNvSpPr/>
          <p:nvPr/>
        </p:nvSpPr>
        <p:spPr>
          <a:xfrm>
            <a:off x="502920" y="1325880"/>
            <a:ext cx="4709160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_HEADING"/>
          <p:cNvSpPr txBox="1"/>
          <p:nvPr/>
        </p:nvSpPr>
        <p:spPr>
          <a:xfrm>
            <a:off x="777240" y="16002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979D"/>
                </a:solidFill>
                <a:latin typeface="Aptos"/>
              </a:rPr>
              <a:t>Depois do wireframe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37744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Entre no AppSheet e siga os passos usados para criar o que foi projetado.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O ambiente permite trabalho paralelo de mais de uma pessoa.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Definam claramente o que cada integrante fará.</a:t>
            </a:r>
          </a:p>
        </p:txBody>
      </p:sp>
      <p:sp>
        <p:nvSpPr>
          <p:cNvPr id="12" name="FIG_NOTE"/>
          <p:cNvSpPr txBox="1"/>
          <p:nvPr/>
        </p:nvSpPr>
        <p:spPr>
          <a:xfrm>
            <a:off x="777240" y="5532120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06E84"/>
                </a:solidFill>
                <a:latin typeface="Aptos"/>
              </a:rPr>
              <a:t>A divisão do trabalho precisa ser explícita.</a:t>
            </a:r>
          </a:p>
        </p:txBody>
      </p:sp>
      <p:sp>
        <p:nvSpPr>
          <p:cNvPr id="13" name="BG_FIGURE"/>
          <p:cNvSpPr/>
          <p:nvPr/>
        </p:nvSpPr>
        <p:spPr>
          <a:xfrm>
            <a:off x="5440680" y="1325880"/>
            <a:ext cx="6245352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MATERIAL_FIGURE" descr="fig34_equ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579925"/>
            <a:ext cx="5879592" cy="3917604"/>
          </a:xfrm>
          <a:prstGeom prst="rect">
            <a:avLst/>
          </a:prstGeom>
        </p:spPr>
      </p:pic>
      <p:sp>
        <p:nvSpPr>
          <p:cNvPr id="15" name="FIGURE_SOURCE"/>
          <p:cNvSpPr txBox="1"/>
          <p:nvPr/>
        </p:nvSpPr>
        <p:spPr>
          <a:xfrm>
            <a:off x="5623560" y="5650992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55.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Implementação colaborativa: combinar antes de editar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13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54–55.</a:t>
            </a:r>
          </a:p>
        </p:txBody>
      </p:sp>
      <p:sp>
        <p:nvSpPr>
          <p:cNvPr id="9" name="BG_COLLAB"/>
          <p:cNvSpPr/>
          <p:nvPr/>
        </p:nvSpPr>
        <p:spPr>
          <a:xfrm>
            <a:off x="502920" y="1325880"/>
            <a:ext cx="11183112" cy="4480560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G_COLLAB_NUM"/>
          <p:cNvSpPr/>
          <p:nvPr/>
        </p:nvSpPr>
        <p:spPr>
          <a:xfrm>
            <a:off x="822960" y="1600200"/>
            <a:ext cx="438912" cy="438912"/>
          </a:xfrm>
          <a:prstGeom prst="ellipse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COLLAB_ITEM"/>
          <p:cNvSpPr txBox="1"/>
          <p:nvPr/>
        </p:nvSpPr>
        <p:spPr>
          <a:xfrm>
            <a:off x="1508760" y="1591056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222E40"/>
                </a:solidFill>
                <a:latin typeface="Aptos"/>
              </a:rPr>
              <a:t>Converter a história de usuário em uma funcionalidade que a equipe compreende.</a:t>
            </a:r>
          </a:p>
        </p:txBody>
      </p:sp>
      <p:sp>
        <p:nvSpPr>
          <p:cNvPr id="12" name="BG_COLLAB_NUM"/>
          <p:cNvSpPr/>
          <p:nvPr/>
        </p:nvSpPr>
        <p:spPr>
          <a:xfrm>
            <a:off x="822960" y="2560320"/>
            <a:ext cx="438912" cy="438912"/>
          </a:xfrm>
          <a:prstGeom prst="ellipse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COLLAB_ITEM"/>
          <p:cNvSpPr txBox="1"/>
          <p:nvPr/>
        </p:nvSpPr>
        <p:spPr>
          <a:xfrm>
            <a:off x="1508760" y="2551176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222E40"/>
                </a:solidFill>
                <a:latin typeface="Aptos"/>
              </a:rPr>
              <a:t>Usar o wireframe para decidir quais telas, botões, mensagens e fluxos serão alterados.</a:t>
            </a:r>
          </a:p>
        </p:txBody>
      </p:sp>
      <p:sp>
        <p:nvSpPr>
          <p:cNvPr id="14" name="BG_COLLAB_NUM"/>
          <p:cNvSpPr/>
          <p:nvPr/>
        </p:nvSpPr>
        <p:spPr>
          <a:xfrm>
            <a:off x="822960" y="3520439"/>
            <a:ext cx="438912" cy="438912"/>
          </a:xfrm>
          <a:prstGeom prst="ellipse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COLLAB_ITEM"/>
          <p:cNvSpPr txBox="1"/>
          <p:nvPr/>
        </p:nvSpPr>
        <p:spPr>
          <a:xfrm>
            <a:off x="1508760" y="3511296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222E40"/>
                </a:solidFill>
                <a:latin typeface="Aptos"/>
              </a:rPr>
              <a:t>Definir responsabilidades para evitar que pessoas alterem a mesma parte sem combinação.</a:t>
            </a:r>
          </a:p>
        </p:txBody>
      </p:sp>
      <p:sp>
        <p:nvSpPr>
          <p:cNvPr id="16" name="BG_COLLAB_NUM"/>
          <p:cNvSpPr/>
          <p:nvPr/>
        </p:nvSpPr>
        <p:spPr>
          <a:xfrm>
            <a:off x="822960" y="4480559"/>
            <a:ext cx="438912" cy="438912"/>
          </a:xfrm>
          <a:prstGeom prst="ellipse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COLLAB_ITEM"/>
          <p:cNvSpPr txBox="1"/>
          <p:nvPr/>
        </p:nvSpPr>
        <p:spPr>
          <a:xfrm>
            <a:off x="1508760" y="4471416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222E40"/>
                </a:solidFill>
                <a:latin typeface="Aptos"/>
              </a:rPr>
              <a:t>Manter a equipe alinhada e registrar o que foi modificado.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Testar novas funcionalidades é indispensável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14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55.</a:t>
            </a:r>
          </a:p>
        </p:txBody>
      </p:sp>
      <p:sp>
        <p:nvSpPr>
          <p:cNvPr id="9" name="BG_TEST_IMPORT"/>
          <p:cNvSpPr/>
          <p:nvPr/>
        </p:nvSpPr>
        <p:spPr>
          <a:xfrm>
            <a:off x="502920" y="1353312"/>
            <a:ext cx="11183112" cy="1920240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ST_IMPORT_TEXT"/>
          <p:cNvSpPr txBox="1"/>
          <p:nvPr/>
        </p:nvSpPr>
        <p:spPr>
          <a:xfrm>
            <a:off x="777240" y="1600200"/>
            <a:ext cx="105156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E40"/>
                </a:solidFill>
                <a:latin typeface="Aptos"/>
              </a:rPr>
              <a:t>Depois de criar uma nova funcionalidade, teste todo o app. Mesmo partes que não foram alteradas podem ser afetadas indiretamente — o chamado efeito dominó.</a:t>
            </a:r>
          </a:p>
        </p:txBody>
      </p:sp>
      <p:sp>
        <p:nvSpPr>
          <p:cNvPr id="11" name="BG_TEST_GOAL"/>
          <p:cNvSpPr/>
          <p:nvPr/>
        </p:nvSpPr>
        <p:spPr>
          <a:xfrm>
            <a:off x="502920" y="3657600"/>
            <a:ext cx="11183112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ST_GOAL_TITLE"/>
          <p:cNvSpPr txBox="1"/>
          <p:nvPr/>
        </p:nvSpPr>
        <p:spPr>
          <a:xfrm>
            <a:off x="777240" y="3931920"/>
            <a:ext cx="10424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979D"/>
                </a:solidFill>
                <a:latin typeface="Aptos"/>
              </a:rPr>
              <a:t>Objetivo do teste</a:t>
            </a:r>
          </a:p>
        </p:txBody>
      </p:sp>
      <p:sp>
        <p:nvSpPr>
          <p:cNvPr id="13" name="TEST_GOAL_TEXT"/>
          <p:cNvSpPr txBox="1"/>
          <p:nvPr/>
        </p:nvSpPr>
        <p:spPr>
          <a:xfrm>
            <a:off x="777240" y="4480560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22E40"/>
                </a:solidFill>
                <a:latin typeface="Aptos"/>
              </a:rPr>
              <a:t>Evitar, ao máximo, a existência de erros quando a solução for entregue ao usuário.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Teste como o usuário — inclusive tentando errar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15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55.</a:t>
            </a:r>
          </a:p>
        </p:txBody>
      </p:sp>
      <p:sp>
        <p:nvSpPr>
          <p:cNvPr id="9" name="BG_TEST_USER"/>
          <p:cNvSpPr/>
          <p:nvPr/>
        </p:nvSpPr>
        <p:spPr>
          <a:xfrm>
            <a:off x="502920" y="1325880"/>
            <a:ext cx="5413248" cy="4462272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ST_USER_TITLE"/>
          <p:cNvSpPr txBox="1"/>
          <p:nvPr/>
        </p:nvSpPr>
        <p:spPr>
          <a:xfrm>
            <a:off x="777240" y="162763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979D"/>
                </a:solidFill>
                <a:latin typeface="Aptos"/>
              </a:rPr>
              <a:t>Faça a tarefa real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331720"/>
            <a:ext cx="47548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Percorra o caminho que o usuário fará.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Verifique se a informação aparece e é salva como esperado.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Repita o fluxo após cada mudança.</a:t>
            </a:r>
          </a:p>
        </p:txBody>
      </p:sp>
      <p:sp>
        <p:nvSpPr>
          <p:cNvPr id="12" name="BG_TEST_ERROR"/>
          <p:cNvSpPr/>
          <p:nvPr/>
        </p:nvSpPr>
        <p:spPr>
          <a:xfrm>
            <a:off x="6263640" y="1325880"/>
            <a:ext cx="5422392" cy="44622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ST_ERROR_TITLE"/>
          <p:cNvSpPr txBox="1"/>
          <p:nvPr/>
        </p:nvSpPr>
        <p:spPr>
          <a:xfrm>
            <a:off x="6537960" y="162763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48B23"/>
                </a:solidFill>
                <a:latin typeface="Aptos"/>
              </a:rPr>
              <a:t>Tente cometer erros de propósito</a:t>
            </a:r>
          </a:p>
        </p:txBody>
      </p:sp>
      <p:sp>
        <p:nvSpPr>
          <p:cNvPr id="14" name="TEXT_BULLETS"/>
          <p:cNvSpPr txBox="1"/>
          <p:nvPr/>
        </p:nvSpPr>
        <p:spPr>
          <a:xfrm>
            <a:off x="6537960" y="2331720"/>
            <a:ext cx="47548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Deixe a senha em branco no login.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Informe valor negativo ao cadastrar um serviço.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Observe como o aplicativo reage e registre o problema.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Procurar bugs: uma etapa de qualidade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16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56.</a:t>
            </a:r>
          </a:p>
        </p:txBody>
      </p:sp>
      <p:sp>
        <p:nvSpPr>
          <p:cNvPr id="9" name="BG_LEFT"/>
          <p:cNvSpPr/>
          <p:nvPr/>
        </p:nvSpPr>
        <p:spPr>
          <a:xfrm>
            <a:off x="502920" y="1325880"/>
            <a:ext cx="4709160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_HEADING"/>
          <p:cNvSpPr txBox="1"/>
          <p:nvPr/>
        </p:nvSpPr>
        <p:spPr>
          <a:xfrm>
            <a:off x="777240" y="16002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979D"/>
                </a:solidFill>
                <a:latin typeface="Aptos"/>
              </a:rPr>
              <a:t>Bug = erro no app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37744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 lupa e o inseto representam a busca por erros.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Cada erro encontrado deve ser corrigido imediatamente.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 procura continua até que não sejam encontrados novos erros.</a:t>
            </a:r>
          </a:p>
        </p:txBody>
      </p:sp>
      <p:sp>
        <p:nvSpPr>
          <p:cNvPr id="12" name="FIG_NOTE"/>
          <p:cNvSpPr txBox="1"/>
          <p:nvPr/>
        </p:nvSpPr>
        <p:spPr>
          <a:xfrm>
            <a:off x="777240" y="5532120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06E84"/>
                </a:solidFill>
                <a:latin typeface="Aptos"/>
              </a:rPr>
              <a:t>Sistemas grandes também têm erros; o problema é deixar um erro sem correção.</a:t>
            </a:r>
          </a:p>
        </p:txBody>
      </p:sp>
      <p:sp>
        <p:nvSpPr>
          <p:cNvPr id="13" name="BG_FIGURE"/>
          <p:cNvSpPr/>
          <p:nvPr/>
        </p:nvSpPr>
        <p:spPr>
          <a:xfrm>
            <a:off x="5440680" y="1325880"/>
            <a:ext cx="6245352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MATERIAL_FIGURE" descr="fig35_bu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674359"/>
            <a:ext cx="5879592" cy="3728736"/>
          </a:xfrm>
          <a:prstGeom prst="rect">
            <a:avLst/>
          </a:prstGeom>
        </p:spPr>
      </p:pic>
      <p:sp>
        <p:nvSpPr>
          <p:cNvPr id="15" name="FIGURE_SOURCE"/>
          <p:cNvSpPr txBox="1"/>
          <p:nvPr/>
        </p:nvSpPr>
        <p:spPr>
          <a:xfrm>
            <a:off x="5623560" y="5650992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56.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Depois do erro: corrigir, testar de novo, proteger o usuário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17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55.</a:t>
            </a:r>
          </a:p>
        </p:txBody>
      </p:sp>
      <p:sp>
        <p:nvSpPr>
          <p:cNvPr id="9" name="BG_STEP_0"/>
          <p:cNvSpPr/>
          <p:nvPr/>
        </p:nvSpPr>
        <p:spPr>
          <a:xfrm>
            <a:off x="502920" y="1828800"/>
            <a:ext cx="3587496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G_STEP_NUM_0"/>
          <p:cNvSpPr/>
          <p:nvPr/>
        </p:nvSpPr>
        <p:spPr>
          <a:xfrm>
            <a:off x="704088" y="2039112"/>
            <a:ext cx="502920" cy="502920"/>
          </a:xfrm>
          <a:prstGeom prst="ellipse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STEP_TITLE_0"/>
          <p:cNvSpPr txBox="1"/>
          <p:nvPr/>
        </p:nvSpPr>
        <p:spPr>
          <a:xfrm>
            <a:off x="758952" y="2788920"/>
            <a:ext cx="3075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48B23"/>
                </a:solidFill>
                <a:latin typeface="Aptos"/>
              </a:rPr>
              <a:t>Encontrar</a:t>
            </a:r>
          </a:p>
        </p:txBody>
      </p:sp>
      <p:sp>
        <p:nvSpPr>
          <p:cNvPr id="12" name="STEP_DETAIL_0"/>
          <p:cNvSpPr txBox="1"/>
          <p:nvPr/>
        </p:nvSpPr>
        <p:spPr>
          <a:xfrm>
            <a:off x="758952" y="3474720"/>
            <a:ext cx="307543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Registrar em qual tarefa e situação o erro ocorreu.</a:t>
            </a:r>
          </a:p>
        </p:txBody>
      </p:sp>
      <p:sp>
        <p:nvSpPr>
          <p:cNvPr id="13" name="ARROW_0"/>
          <p:cNvSpPr txBox="1"/>
          <p:nvPr/>
        </p:nvSpPr>
        <p:spPr>
          <a:xfrm>
            <a:off x="4090416" y="3054096"/>
            <a:ext cx="210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606E84"/>
                </a:solidFill>
                <a:latin typeface="Aptos"/>
              </a:rPr>
              <a:t>›</a:t>
            </a:r>
          </a:p>
        </p:txBody>
      </p:sp>
      <p:sp>
        <p:nvSpPr>
          <p:cNvPr id="14" name="BG_STEP_1"/>
          <p:cNvSpPr/>
          <p:nvPr/>
        </p:nvSpPr>
        <p:spPr>
          <a:xfrm>
            <a:off x="4300728" y="1828800"/>
            <a:ext cx="3587496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G_STEP_NUM_1"/>
          <p:cNvSpPr/>
          <p:nvPr/>
        </p:nvSpPr>
        <p:spPr>
          <a:xfrm>
            <a:off x="4501896" y="2039112"/>
            <a:ext cx="502920" cy="502920"/>
          </a:xfrm>
          <a:prstGeom prst="ellipse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STEP_TITLE_1"/>
          <p:cNvSpPr txBox="1"/>
          <p:nvPr/>
        </p:nvSpPr>
        <p:spPr>
          <a:xfrm>
            <a:off x="4556760" y="2788920"/>
            <a:ext cx="3075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66FAD"/>
                </a:solidFill>
                <a:latin typeface="Aptos"/>
              </a:rPr>
              <a:t>Corrigir</a:t>
            </a:r>
          </a:p>
        </p:txBody>
      </p:sp>
      <p:sp>
        <p:nvSpPr>
          <p:cNvPr id="17" name="STEP_DETAIL_1"/>
          <p:cNvSpPr txBox="1"/>
          <p:nvPr/>
        </p:nvSpPr>
        <p:spPr>
          <a:xfrm>
            <a:off x="4556760" y="3474720"/>
            <a:ext cx="307543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Ajustar a configuração ou a funcionalidade que provocou o erro.</a:t>
            </a:r>
          </a:p>
        </p:txBody>
      </p:sp>
      <p:sp>
        <p:nvSpPr>
          <p:cNvPr id="18" name="ARROW_1"/>
          <p:cNvSpPr txBox="1"/>
          <p:nvPr/>
        </p:nvSpPr>
        <p:spPr>
          <a:xfrm>
            <a:off x="7888224" y="3054096"/>
            <a:ext cx="210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606E84"/>
                </a:solidFill>
                <a:latin typeface="Aptos"/>
              </a:rPr>
              <a:t>›</a:t>
            </a:r>
          </a:p>
        </p:txBody>
      </p:sp>
      <p:sp>
        <p:nvSpPr>
          <p:cNvPr id="19" name="BG_STEP_2"/>
          <p:cNvSpPr/>
          <p:nvPr/>
        </p:nvSpPr>
        <p:spPr>
          <a:xfrm>
            <a:off x="8098535" y="1828800"/>
            <a:ext cx="3587496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G_STEP_NUM_2"/>
          <p:cNvSpPr/>
          <p:nvPr/>
        </p:nvSpPr>
        <p:spPr>
          <a:xfrm>
            <a:off x="8299704" y="2039112"/>
            <a:ext cx="502920" cy="502920"/>
          </a:xfrm>
          <a:prstGeom prst="ellipse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STEP_TITLE_2"/>
          <p:cNvSpPr txBox="1"/>
          <p:nvPr/>
        </p:nvSpPr>
        <p:spPr>
          <a:xfrm>
            <a:off x="8354567" y="2788920"/>
            <a:ext cx="3075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979D"/>
                </a:solidFill>
                <a:latin typeface="Aptos"/>
              </a:rPr>
              <a:t>Retestar</a:t>
            </a:r>
          </a:p>
        </p:txBody>
      </p:sp>
      <p:sp>
        <p:nvSpPr>
          <p:cNvPr id="22" name="STEP_DETAIL_2"/>
          <p:cNvSpPr txBox="1"/>
          <p:nvPr/>
        </p:nvSpPr>
        <p:spPr>
          <a:xfrm>
            <a:off x="8354567" y="3474720"/>
            <a:ext cx="307543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Repetir a tarefa e verificar possíveis efeitos em outras partes do app.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Apresentar a nova funcionalidade ao cliente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18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56.</a:t>
            </a:r>
          </a:p>
        </p:txBody>
      </p:sp>
      <p:sp>
        <p:nvSpPr>
          <p:cNvPr id="9" name="BG_CLIENT"/>
          <p:cNvSpPr/>
          <p:nvPr/>
        </p:nvSpPr>
        <p:spPr>
          <a:xfrm>
            <a:off x="502920" y="1325880"/>
            <a:ext cx="11183112" cy="4434840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IENT_HEADING"/>
          <p:cNvSpPr txBox="1"/>
          <p:nvPr/>
        </p:nvSpPr>
        <p:spPr>
          <a:xfrm>
            <a:off x="777240" y="16459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979D"/>
                </a:solidFill>
                <a:latin typeface="Aptos"/>
              </a:rPr>
              <a:t>Uma apresentação eficaz, segundo o material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377440"/>
            <a:ext cx="102412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Clareza para explicar o que foi construído.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Foco no benefício que a novidade oferece ao cliente.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Comunicação visual limpa durante a demonstração.</a:t>
            </a:r>
          </a:p>
        </p:txBody>
      </p:sp>
      <p:sp>
        <p:nvSpPr>
          <p:cNvPr id="12" name="CLIENT_NOTE"/>
          <p:cNvSpPr txBox="1"/>
          <p:nvPr/>
        </p:nvSpPr>
        <p:spPr>
          <a:xfrm>
            <a:off x="777240" y="519379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48B23"/>
                </a:solidFill>
                <a:latin typeface="Aptos"/>
              </a:rPr>
              <a:t>Mostre a funcionalidade em uso, não apenas a tela parada.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Seminário da equipe: demonstrar, ouvir e registrar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19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Planejamento da Semana 5 + Material Didático AppClicks, pp. 52–56.</a:t>
            </a:r>
          </a:p>
        </p:txBody>
      </p:sp>
      <p:sp>
        <p:nvSpPr>
          <p:cNvPr id="9" name="BG_SEMINAR"/>
          <p:cNvSpPr/>
          <p:nvPr/>
        </p:nvSpPr>
        <p:spPr>
          <a:xfrm>
            <a:off x="502920" y="1325880"/>
            <a:ext cx="11183112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_BULLETS"/>
          <p:cNvSpPr txBox="1"/>
          <p:nvPr/>
        </p:nvSpPr>
        <p:spPr>
          <a:xfrm>
            <a:off x="777240" y="1645920"/>
            <a:ext cx="1033272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Cada equipe apresenta o desafio da nova tela e a história de usuário escolhida.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Mostra o wireframe e explica o caminho que o usuário percorrerá.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Demonstra a versão implementada, incluindo um teste.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Explica o benefício da mudança para o cliente.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Anota perguntas, validações e feedbacks para o próximo ciclo.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Planejamento ágil: entregar partes usáveis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20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57.</a:t>
            </a:r>
          </a:p>
        </p:txBody>
      </p:sp>
      <p:sp>
        <p:nvSpPr>
          <p:cNvPr id="9" name="BG_AGILE"/>
          <p:cNvSpPr/>
          <p:nvPr/>
        </p:nvSpPr>
        <p:spPr>
          <a:xfrm>
            <a:off x="502920" y="1307592"/>
            <a:ext cx="11183112" cy="1938528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GILE_TEXT"/>
          <p:cNvSpPr txBox="1"/>
          <p:nvPr/>
        </p:nvSpPr>
        <p:spPr>
          <a:xfrm>
            <a:off x="777240" y="1581912"/>
            <a:ext cx="1046988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222E40"/>
                </a:solidFill>
                <a:latin typeface="Aptos"/>
              </a:rPr>
              <a:t>No planejamento ágil, o projeto é entregue por partes que o usuário já pode utilizar. Assim, ele compreende melhor o sistema e oferece feedbacks para melhorá-lo gradativamente.</a:t>
            </a:r>
          </a:p>
        </p:txBody>
      </p:sp>
      <p:sp>
        <p:nvSpPr>
          <p:cNvPr id="11" name="BG_AGILE_DIFF"/>
          <p:cNvSpPr/>
          <p:nvPr/>
        </p:nvSpPr>
        <p:spPr>
          <a:xfrm>
            <a:off x="502920" y="3703320"/>
            <a:ext cx="11183112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GILE_DIFF_TEXT"/>
          <p:cNvSpPr txBox="1"/>
          <p:nvPr/>
        </p:nvSpPr>
        <p:spPr>
          <a:xfrm>
            <a:off x="777240" y="3977639"/>
            <a:ext cx="10378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222E40"/>
                </a:solidFill>
                <a:latin typeface="Aptos"/>
              </a:rPr>
              <a:t>Em vez de definir tudo antecipadamente, o planejamento ágil é incremental, colaborativo e adaptável; o foco é entregar valor contínuo e responder bem a mudanças.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Entregas incrementais: algo útil em cada etapa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21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57.</a:t>
            </a:r>
          </a:p>
        </p:txBody>
      </p:sp>
      <p:sp>
        <p:nvSpPr>
          <p:cNvPr id="9" name="BG_LEFT"/>
          <p:cNvSpPr/>
          <p:nvPr/>
        </p:nvSpPr>
        <p:spPr>
          <a:xfrm>
            <a:off x="502920" y="1325880"/>
            <a:ext cx="4709160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_HEADING"/>
          <p:cNvSpPr txBox="1"/>
          <p:nvPr/>
        </p:nvSpPr>
        <p:spPr>
          <a:xfrm>
            <a:off x="777240" y="16002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E979D"/>
                </a:solidFill>
                <a:latin typeface="Aptos"/>
              </a:rPr>
              <a:t>Exemplo de entrega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37744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Primeiro, uma parte utilizável, como login.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Depois, outra parte, como cadastro de clientes.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O cliente não precisa esperar o sistema completo para ter algo em mãos.</a:t>
            </a:r>
          </a:p>
        </p:txBody>
      </p:sp>
      <p:sp>
        <p:nvSpPr>
          <p:cNvPr id="12" name="BG_FIGURE"/>
          <p:cNvSpPr/>
          <p:nvPr/>
        </p:nvSpPr>
        <p:spPr>
          <a:xfrm>
            <a:off x="5440680" y="1325880"/>
            <a:ext cx="6245352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MATERIAL_FIGURE" descr="fig36_entregas_ag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723" y="1536192"/>
            <a:ext cx="5153265" cy="4005072"/>
          </a:xfrm>
          <a:prstGeom prst="rect">
            <a:avLst/>
          </a:prstGeom>
        </p:spPr>
      </p:pic>
      <p:sp>
        <p:nvSpPr>
          <p:cNvPr id="14" name="FIGURE_SOURCE"/>
          <p:cNvSpPr txBox="1"/>
          <p:nvPr/>
        </p:nvSpPr>
        <p:spPr>
          <a:xfrm>
            <a:off x="5623560" y="5650992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57.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Prática do Dia 1 — planeje uma nova tela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1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22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Planejamento da Semana 5 + Material Didático AppClicks, pp. 52–57.</a:t>
            </a:r>
          </a:p>
        </p:txBody>
      </p:sp>
      <p:sp>
        <p:nvSpPr>
          <p:cNvPr id="9" name="BG_ACTIVITY_D1"/>
          <p:cNvSpPr/>
          <p:nvPr/>
        </p:nvSpPr>
        <p:spPr>
          <a:xfrm>
            <a:off x="502920" y="1298448"/>
            <a:ext cx="11183112" cy="4553712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_BULLETS"/>
          <p:cNvSpPr txBox="1"/>
          <p:nvPr/>
        </p:nvSpPr>
        <p:spPr>
          <a:xfrm>
            <a:off x="777240" y="1600200"/>
            <a:ext cx="103327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Escolham uma necessidade do usuário e escrevam uma história de usuário.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Desenhem um wireframe da nova tela, com campos, botões, mensagens e setas de fluxo.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Dividam o trabalho de implementação na equipe.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Planejem um teste com uma tarefa normal e um teste tentando cometer erro.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Preparem uma demonstração curta para o cliente.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914400" y="1280160"/>
            <a:ext cx="1097280" cy="109728"/>
          </a:xfrm>
          <a:prstGeom prst="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_KICKER"/>
          <p:cNvSpPr txBox="1"/>
          <p:nvPr/>
        </p:nvSpPr>
        <p:spPr>
          <a:xfrm>
            <a:off x="914400" y="1600200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66FAD"/>
                </a:solidFill>
                <a:latin typeface="Aptos"/>
              </a:rPr>
              <a:t>DIA 2 — INVESTIGAÇÃO</a:t>
            </a:r>
          </a:p>
        </p:txBody>
      </p:sp>
      <p:sp>
        <p:nvSpPr>
          <p:cNvPr id="5" name="DIVIDER_TITLE"/>
          <p:cNvSpPr txBox="1"/>
          <p:nvPr/>
        </p:nvSpPr>
        <p:spPr>
          <a:xfrm>
            <a:off x="914400" y="2148840"/>
            <a:ext cx="103327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Das histórias às tarefas, tabelas e configurações</a:t>
            </a:r>
          </a:p>
        </p:txBody>
      </p:sp>
      <p:sp>
        <p:nvSpPr>
          <p:cNvPr id="6" name="DIVIDER_QUOTE"/>
          <p:cNvSpPr txBox="1"/>
          <p:nvPr/>
        </p:nvSpPr>
        <p:spPr>
          <a:xfrm>
            <a:off x="914400" y="4069080"/>
            <a:ext cx="9966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1">
                <a:solidFill>
                  <a:srgbClr val="C9D6E4"/>
                </a:solidFill>
                <a:latin typeface="Aptos"/>
              </a:rPr>
              <a:t>Organizar trabalho e dados deixa a implementação de telas mais clara e segura.</a:t>
            </a:r>
          </a:p>
        </p:txBody>
      </p:sp>
      <p:sp>
        <p:nvSpPr>
          <p:cNvPr id="7" name="DIVIDER_FOOTER"/>
          <p:cNvSpPr txBox="1"/>
          <p:nvPr/>
        </p:nvSpPr>
        <p:spPr>
          <a:xfrm>
            <a:off x="914400" y="6080760"/>
            <a:ext cx="9966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E84"/>
                </a:solidFill>
                <a:latin typeface="Aptos"/>
              </a:rPr>
              <a:t>AppClicks – Semana 5 – PRONATEC/IFSP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Do backlog às tarefas pequenas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24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59.</a:t>
            </a:r>
          </a:p>
        </p:txBody>
      </p:sp>
      <p:sp>
        <p:nvSpPr>
          <p:cNvPr id="9" name="BG_BACKLOG"/>
          <p:cNvSpPr/>
          <p:nvPr/>
        </p:nvSpPr>
        <p:spPr>
          <a:xfrm>
            <a:off x="502920" y="1298448"/>
            <a:ext cx="11183112" cy="4480560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CKLOG_TITLE"/>
          <p:cNvSpPr txBox="1"/>
          <p:nvPr/>
        </p:nvSpPr>
        <p:spPr>
          <a:xfrm>
            <a:off x="777240" y="1572768"/>
            <a:ext cx="104241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66FAD"/>
                </a:solidFill>
                <a:latin typeface="Aptos"/>
              </a:rPr>
              <a:t>Quebra técnica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267712"/>
            <a:ext cx="1028700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Transformar um item de backlog — geralmente uma história de usuário — em tarefas facilita a execução durante uma sprint.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A quebra técnica ajuda a equipe a compreender o que precisa ser feito.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Tarefas pequenas, objetivas e com escopo claro tornam a distribuição do trabalho mais eficiente.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Exemplo: “Agendar um serviço” vira tarefas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25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59–60.</a:t>
            </a:r>
          </a:p>
        </p:txBody>
      </p:sp>
      <p:sp>
        <p:nvSpPr>
          <p:cNvPr id="9" name="BG_SERVICE_STORY"/>
          <p:cNvSpPr/>
          <p:nvPr/>
        </p:nvSpPr>
        <p:spPr>
          <a:xfrm>
            <a:off x="502920" y="1280160"/>
            <a:ext cx="11183112" cy="1078992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ERVICE_STORY"/>
          <p:cNvSpPr txBox="1"/>
          <p:nvPr/>
        </p:nvSpPr>
        <p:spPr>
          <a:xfrm>
            <a:off x="777240" y="1581912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E40"/>
                </a:solidFill>
                <a:latin typeface="Aptos"/>
              </a:rPr>
              <a:t>História: “Como cliente, quero agendar um serviço pelo app para não precisar ligar para o prestador.”</a:t>
            </a:r>
          </a:p>
        </p:txBody>
      </p:sp>
      <p:sp>
        <p:nvSpPr>
          <p:cNvPr id="11" name="BG_TASK"/>
          <p:cNvSpPr/>
          <p:nvPr/>
        </p:nvSpPr>
        <p:spPr>
          <a:xfrm>
            <a:off x="502920" y="2852928"/>
            <a:ext cx="267004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ASK_TEXT"/>
          <p:cNvSpPr txBox="1"/>
          <p:nvPr/>
        </p:nvSpPr>
        <p:spPr>
          <a:xfrm>
            <a:off x="704088" y="3108960"/>
            <a:ext cx="22402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E40"/>
                </a:solidFill>
                <a:latin typeface="Aptos"/>
              </a:rPr>
              <a:t>Identificar os dados necessários para o agendamento.</a:t>
            </a:r>
          </a:p>
        </p:txBody>
      </p:sp>
      <p:sp>
        <p:nvSpPr>
          <p:cNvPr id="13" name="BG_TASK"/>
          <p:cNvSpPr/>
          <p:nvPr/>
        </p:nvSpPr>
        <p:spPr>
          <a:xfrm>
            <a:off x="3337560" y="2852928"/>
            <a:ext cx="267004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ASK_TEXT"/>
          <p:cNvSpPr txBox="1"/>
          <p:nvPr/>
        </p:nvSpPr>
        <p:spPr>
          <a:xfrm>
            <a:off x="3538728" y="3108960"/>
            <a:ext cx="22402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E40"/>
                </a:solidFill>
                <a:latin typeface="Aptos"/>
              </a:rPr>
              <a:t>Configurar os campos e a tela.</a:t>
            </a:r>
          </a:p>
        </p:txBody>
      </p:sp>
      <p:sp>
        <p:nvSpPr>
          <p:cNvPr id="15" name="BG_TASK"/>
          <p:cNvSpPr/>
          <p:nvPr/>
        </p:nvSpPr>
        <p:spPr>
          <a:xfrm>
            <a:off x="6172200" y="2852928"/>
            <a:ext cx="267004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ASK_TEXT"/>
          <p:cNvSpPr txBox="1"/>
          <p:nvPr/>
        </p:nvSpPr>
        <p:spPr>
          <a:xfrm>
            <a:off x="6373368" y="3108960"/>
            <a:ext cx="22402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E40"/>
                </a:solidFill>
                <a:latin typeface="Aptos"/>
              </a:rPr>
              <a:t>Verificar como o registro será salvo.</a:t>
            </a:r>
          </a:p>
        </p:txBody>
      </p:sp>
      <p:sp>
        <p:nvSpPr>
          <p:cNvPr id="17" name="BG_TASK"/>
          <p:cNvSpPr/>
          <p:nvPr/>
        </p:nvSpPr>
        <p:spPr>
          <a:xfrm>
            <a:off x="9006840" y="2852928"/>
            <a:ext cx="267004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ASK_TEXT"/>
          <p:cNvSpPr txBox="1"/>
          <p:nvPr/>
        </p:nvSpPr>
        <p:spPr>
          <a:xfrm>
            <a:off x="9208008" y="3108960"/>
            <a:ext cx="22402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E40"/>
                </a:solidFill>
                <a:latin typeface="Aptos"/>
              </a:rPr>
              <a:t>Testar o fluxo de agendamento.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Delegar tarefas: colaboração, transparência e flexibilidade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26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59.</a:t>
            </a:r>
          </a:p>
        </p:txBody>
      </p:sp>
      <p:sp>
        <p:nvSpPr>
          <p:cNvPr id="9" name="BG_DELEGATE"/>
          <p:cNvSpPr/>
          <p:nvPr/>
        </p:nvSpPr>
        <p:spPr>
          <a:xfrm>
            <a:off x="502920" y="1325880"/>
            <a:ext cx="11183112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_BULLETS"/>
          <p:cNvSpPr txBox="1"/>
          <p:nvPr/>
        </p:nvSpPr>
        <p:spPr>
          <a:xfrm>
            <a:off x="777240" y="1645920"/>
            <a:ext cx="103327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Em uma sprint, delegar deve respeitar a autonomia da equipe.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Em metodologias como Scrum, não é apenas o líder que manda: a equipe se auto-organiza.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Prioridades e capacidades ajudam a decidir quem pode assumir cada tarefa.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A divisão precisa continuar aberta a ajustes quando surgem necessidades reais.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Estimar e puxar: distribuir trabalho de forma equilibrada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27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60.</a:t>
            </a:r>
          </a:p>
        </p:txBody>
      </p:sp>
      <p:sp>
        <p:nvSpPr>
          <p:cNvPr id="9" name="BG_PULL"/>
          <p:cNvSpPr/>
          <p:nvPr/>
        </p:nvSpPr>
        <p:spPr>
          <a:xfrm>
            <a:off x="502920" y="1325880"/>
            <a:ext cx="5413248" cy="4434840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ULL_LEFT_TITLE"/>
          <p:cNvSpPr txBox="1"/>
          <p:nvPr/>
        </p:nvSpPr>
        <p:spPr>
          <a:xfrm>
            <a:off x="777240" y="162763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979D"/>
                </a:solidFill>
                <a:latin typeface="Aptos"/>
              </a:rPr>
              <a:t>Estimar a carga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240280"/>
            <a:ext cx="46634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00" b="0">
                <a:solidFill>
                  <a:srgbClr val="222E40"/>
                </a:solidFill>
                <a:latin typeface="Aptos"/>
              </a:rPr>
              <a:t>• Estime tarefas em horas.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222E40"/>
                </a:solidFill>
                <a:latin typeface="Aptos"/>
              </a:rPr>
              <a:t>• Use a estimativa para equilibrar a distribuição.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222E40"/>
                </a:solidFill>
                <a:latin typeface="Aptos"/>
              </a:rPr>
              <a:t>• Considere a capacidade real da sprint.</a:t>
            </a:r>
          </a:p>
        </p:txBody>
      </p:sp>
      <p:sp>
        <p:nvSpPr>
          <p:cNvPr id="12" name="BG_PUSH"/>
          <p:cNvSpPr/>
          <p:nvPr/>
        </p:nvSpPr>
        <p:spPr>
          <a:xfrm>
            <a:off x="6263640" y="1325880"/>
            <a:ext cx="5422392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ULL_RIGHT_TITLE"/>
          <p:cNvSpPr txBox="1"/>
          <p:nvPr/>
        </p:nvSpPr>
        <p:spPr>
          <a:xfrm>
            <a:off x="6537960" y="162763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66FAD"/>
                </a:solidFill>
                <a:latin typeface="Aptos"/>
              </a:rPr>
              <a:t>Pull, não push</a:t>
            </a:r>
          </a:p>
        </p:txBody>
      </p:sp>
      <p:sp>
        <p:nvSpPr>
          <p:cNvPr id="14" name="TEXT_BULLETS"/>
          <p:cNvSpPr txBox="1"/>
          <p:nvPr/>
        </p:nvSpPr>
        <p:spPr>
          <a:xfrm>
            <a:off x="6537960" y="2240280"/>
            <a:ext cx="46634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00" b="0">
                <a:solidFill>
                  <a:srgbClr val="222E40"/>
                </a:solidFill>
                <a:latin typeface="Aptos"/>
              </a:rPr>
              <a:t>• A equipe escolhe as tarefas do board.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222E40"/>
                </a:solidFill>
                <a:latin typeface="Aptos"/>
              </a:rPr>
              <a:t>• Disponibilidade, habilidade e interesse orientam a escolha.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222E40"/>
                </a:solidFill>
                <a:latin typeface="Aptos"/>
              </a:rPr>
              <a:t>• Isso reforça propriedade e motivação.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Quadro visual: foco em uma tarefa por vez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28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60.</a:t>
            </a:r>
          </a:p>
        </p:txBody>
      </p:sp>
      <p:sp>
        <p:nvSpPr>
          <p:cNvPr id="9" name="BG_BOARD"/>
          <p:cNvSpPr/>
          <p:nvPr/>
        </p:nvSpPr>
        <p:spPr>
          <a:xfrm>
            <a:off x="502920" y="1325880"/>
            <a:ext cx="11183112" cy="1965960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G_BOARD_HEADER"/>
          <p:cNvSpPr/>
          <p:nvPr/>
        </p:nvSpPr>
        <p:spPr>
          <a:xfrm>
            <a:off x="841248" y="1700784"/>
            <a:ext cx="2971800" cy="502920"/>
          </a:xfrm>
          <a:prstGeom prst="roundRect">
            <a:avLst/>
          </a:prstGeom>
          <a:solidFill>
            <a:srgbClr val="606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OARD_HEADER"/>
          <p:cNvSpPr txBox="1"/>
          <p:nvPr/>
        </p:nvSpPr>
        <p:spPr>
          <a:xfrm>
            <a:off x="841248" y="1819656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A fazer</a:t>
            </a:r>
          </a:p>
        </p:txBody>
      </p:sp>
      <p:sp>
        <p:nvSpPr>
          <p:cNvPr id="12" name="BG_BOARD_TASK"/>
          <p:cNvSpPr/>
          <p:nvPr/>
        </p:nvSpPr>
        <p:spPr>
          <a:xfrm>
            <a:off x="841248" y="2331720"/>
            <a:ext cx="2971800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G_BOARD_HEADER"/>
          <p:cNvSpPr/>
          <p:nvPr/>
        </p:nvSpPr>
        <p:spPr>
          <a:xfrm>
            <a:off x="4453128" y="1700784"/>
            <a:ext cx="2971800" cy="502920"/>
          </a:xfrm>
          <a:prstGeom prst="roundRect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OARD_HEADER"/>
          <p:cNvSpPr txBox="1"/>
          <p:nvPr/>
        </p:nvSpPr>
        <p:spPr>
          <a:xfrm>
            <a:off x="4453128" y="1819656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Em andamento</a:t>
            </a:r>
          </a:p>
        </p:txBody>
      </p:sp>
      <p:sp>
        <p:nvSpPr>
          <p:cNvPr id="15" name="BG_BOARD_TASK"/>
          <p:cNvSpPr/>
          <p:nvPr/>
        </p:nvSpPr>
        <p:spPr>
          <a:xfrm>
            <a:off x="4453128" y="2331720"/>
            <a:ext cx="2971800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G_BOARD_HEADER"/>
          <p:cNvSpPr/>
          <p:nvPr/>
        </p:nvSpPr>
        <p:spPr>
          <a:xfrm>
            <a:off x="8065008" y="1700784"/>
            <a:ext cx="2971800" cy="502920"/>
          </a:xfrm>
          <a:prstGeom prst="roundRect">
            <a:avLst/>
          </a:prstGeom>
          <a:solidFill>
            <a:srgbClr val="1E8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ARD_HEADER"/>
          <p:cNvSpPr txBox="1"/>
          <p:nvPr/>
        </p:nvSpPr>
        <p:spPr>
          <a:xfrm>
            <a:off x="8065008" y="1819656"/>
            <a:ext cx="2971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Concluído</a:t>
            </a:r>
          </a:p>
        </p:txBody>
      </p:sp>
      <p:sp>
        <p:nvSpPr>
          <p:cNvPr id="18" name="BG_BOARD_TASK"/>
          <p:cNvSpPr/>
          <p:nvPr/>
        </p:nvSpPr>
        <p:spPr>
          <a:xfrm>
            <a:off x="8065008" y="2331720"/>
            <a:ext cx="2971800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G_FOCUS"/>
          <p:cNvSpPr/>
          <p:nvPr/>
        </p:nvSpPr>
        <p:spPr>
          <a:xfrm>
            <a:off x="502920" y="3858768"/>
            <a:ext cx="11183112" cy="14813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OCUS_TITLE"/>
          <p:cNvSpPr txBox="1"/>
          <p:nvPr/>
        </p:nvSpPr>
        <p:spPr>
          <a:xfrm>
            <a:off x="777240" y="4142232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48B23"/>
                </a:solidFill>
                <a:latin typeface="Aptos"/>
              </a:rPr>
              <a:t>Evite sobrecarga e multitarefa</a:t>
            </a:r>
          </a:p>
        </p:txBody>
      </p:sp>
      <p:sp>
        <p:nvSpPr>
          <p:cNvPr id="21" name="FOCUS_TEXT"/>
          <p:cNvSpPr txBox="1"/>
          <p:nvPr/>
        </p:nvSpPr>
        <p:spPr>
          <a:xfrm>
            <a:off x="777240" y="4617720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22E40"/>
                </a:solidFill>
                <a:latin typeface="Aptos"/>
              </a:rPr>
              <a:t>Não atribua tudo de uma vez. É melhor focar em uma tarefa até concluí-la.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Atende+: das planilhas às visualizações e telas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29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60–61.</a:t>
            </a:r>
          </a:p>
        </p:txBody>
      </p:sp>
      <p:sp>
        <p:nvSpPr>
          <p:cNvPr id="9" name="BG_ATENDE"/>
          <p:cNvSpPr/>
          <p:nvPr/>
        </p:nvSpPr>
        <p:spPr>
          <a:xfrm>
            <a:off x="502920" y="1325880"/>
            <a:ext cx="11183112" cy="4462272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_BULLETS"/>
          <p:cNvSpPr txBox="1"/>
          <p:nvPr/>
        </p:nvSpPr>
        <p:spPr>
          <a:xfrm>
            <a:off x="777240" y="1691640"/>
            <a:ext cx="103327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No módulo anterior, a estrutura inicial do app foi criada com base em planilha do Google Sheets.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Agora, as visualizações e telas serão construídas usando os dados organizados nessa planilha.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Para isso, a planilha precisa ser reformulada e organizada de maneira lógica.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A organização facilita a conexão e o uso dos dados no AppSheet.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Modelo de dados do Atende+ — tabelas principais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30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61.</a:t>
            </a:r>
          </a:p>
        </p:txBody>
      </p:sp>
      <p:sp>
        <p:nvSpPr>
          <p:cNvPr id="9" name="BG_TABLE_ROW"/>
          <p:cNvSpPr/>
          <p:nvPr/>
        </p:nvSpPr>
        <p:spPr>
          <a:xfrm>
            <a:off x="502920" y="1325880"/>
            <a:ext cx="11183112" cy="960120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BLE_NAME"/>
          <p:cNvSpPr txBox="1"/>
          <p:nvPr/>
        </p:nvSpPr>
        <p:spPr>
          <a:xfrm>
            <a:off x="777240" y="149961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66FAD"/>
                </a:solidFill>
                <a:latin typeface="Aptos"/>
              </a:rPr>
              <a:t>Prestador</a:t>
            </a:r>
          </a:p>
        </p:txBody>
      </p:sp>
      <p:sp>
        <p:nvSpPr>
          <p:cNvPr id="11" name="TABLE_COLUMNS"/>
          <p:cNvSpPr txBox="1"/>
          <p:nvPr/>
        </p:nvSpPr>
        <p:spPr>
          <a:xfrm>
            <a:off x="3246120" y="1472184"/>
            <a:ext cx="80010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22E40"/>
                </a:solidFill>
                <a:latin typeface="Aptos"/>
              </a:rPr>
              <a:t>ID_Prestador, Foto_Perfil, Nome, Sobrenome, Telefone e Email.</a:t>
            </a:r>
          </a:p>
        </p:txBody>
      </p:sp>
      <p:sp>
        <p:nvSpPr>
          <p:cNvPr id="12" name="BG_TABLE_ROW"/>
          <p:cNvSpPr/>
          <p:nvPr/>
        </p:nvSpPr>
        <p:spPr>
          <a:xfrm>
            <a:off x="502920" y="2395728"/>
            <a:ext cx="1118311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BLE_NAME"/>
          <p:cNvSpPr txBox="1"/>
          <p:nvPr/>
        </p:nvSpPr>
        <p:spPr>
          <a:xfrm>
            <a:off x="777240" y="256946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66FAD"/>
                </a:solidFill>
                <a:latin typeface="Aptos"/>
              </a:rPr>
              <a:t>LocaisAtendimentos</a:t>
            </a:r>
          </a:p>
        </p:txBody>
      </p:sp>
      <p:sp>
        <p:nvSpPr>
          <p:cNvPr id="14" name="TABLE_COLUMNS"/>
          <p:cNvSpPr txBox="1"/>
          <p:nvPr/>
        </p:nvSpPr>
        <p:spPr>
          <a:xfrm>
            <a:off x="3246120" y="2542032"/>
            <a:ext cx="80010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22E40"/>
                </a:solidFill>
                <a:latin typeface="Aptos"/>
              </a:rPr>
              <a:t>ID_Local, Nome, Rua, Número, Bairro, Cidade, horários e ID_Prestador.</a:t>
            </a:r>
          </a:p>
        </p:txBody>
      </p:sp>
      <p:sp>
        <p:nvSpPr>
          <p:cNvPr id="15" name="BG_TABLE_ROW"/>
          <p:cNvSpPr/>
          <p:nvPr/>
        </p:nvSpPr>
        <p:spPr>
          <a:xfrm>
            <a:off x="502920" y="3465576"/>
            <a:ext cx="11183112" cy="960120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ABLE_NAME"/>
          <p:cNvSpPr txBox="1"/>
          <p:nvPr/>
        </p:nvSpPr>
        <p:spPr>
          <a:xfrm>
            <a:off x="777240" y="363931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66FAD"/>
                </a:solidFill>
                <a:latin typeface="Aptos"/>
              </a:rPr>
              <a:t>Cliente</a:t>
            </a:r>
          </a:p>
        </p:txBody>
      </p:sp>
      <p:sp>
        <p:nvSpPr>
          <p:cNvPr id="17" name="TABLE_COLUMNS"/>
          <p:cNvSpPr txBox="1"/>
          <p:nvPr/>
        </p:nvSpPr>
        <p:spPr>
          <a:xfrm>
            <a:off x="3246120" y="3611880"/>
            <a:ext cx="80010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22E40"/>
                </a:solidFill>
                <a:latin typeface="Aptos"/>
              </a:rPr>
              <a:t>Informações pessoais, identificação, contato, renovação e endereço.</a:t>
            </a:r>
          </a:p>
        </p:txBody>
      </p:sp>
      <p:sp>
        <p:nvSpPr>
          <p:cNvPr id="18" name="BG_TABLE_ROW"/>
          <p:cNvSpPr/>
          <p:nvPr/>
        </p:nvSpPr>
        <p:spPr>
          <a:xfrm>
            <a:off x="502920" y="4535424"/>
            <a:ext cx="1118311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BLE_NAME"/>
          <p:cNvSpPr txBox="1"/>
          <p:nvPr/>
        </p:nvSpPr>
        <p:spPr>
          <a:xfrm>
            <a:off x="777240" y="4709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66FAD"/>
                </a:solidFill>
                <a:latin typeface="Aptos"/>
              </a:rPr>
              <a:t>Serviço</a:t>
            </a:r>
          </a:p>
        </p:txBody>
      </p:sp>
      <p:sp>
        <p:nvSpPr>
          <p:cNvPr id="20" name="TABLE_COLUMNS"/>
          <p:cNvSpPr txBox="1"/>
          <p:nvPr/>
        </p:nvSpPr>
        <p:spPr>
          <a:xfrm>
            <a:off x="3246120" y="4681728"/>
            <a:ext cx="80010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22E40"/>
                </a:solidFill>
                <a:latin typeface="Aptos"/>
              </a:rPr>
              <a:t>ID_Servico, Descrição_Serviço, valores, tempo médio, foto e cor de calendário.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Modelo de dados do Atende+ — operação e acompanhamento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31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61.</a:t>
            </a:r>
          </a:p>
        </p:txBody>
      </p:sp>
      <p:sp>
        <p:nvSpPr>
          <p:cNvPr id="9" name="BG_TABLE_ROW"/>
          <p:cNvSpPr/>
          <p:nvPr/>
        </p:nvSpPr>
        <p:spPr>
          <a:xfrm>
            <a:off x="502920" y="1325880"/>
            <a:ext cx="11183112" cy="960120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BLE_NAME"/>
          <p:cNvSpPr txBox="1"/>
          <p:nvPr/>
        </p:nvSpPr>
        <p:spPr>
          <a:xfrm>
            <a:off x="777240" y="1499616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66FAD"/>
                </a:solidFill>
                <a:latin typeface="Aptos"/>
              </a:rPr>
              <a:t>Agendamento</a:t>
            </a:r>
          </a:p>
        </p:txBody>
      </p:sp>
      <p:sp>
        <p:nvSpPr>
          <p:cNvPr id="11" name="TABLE_COLUMNS"/>
          <p:cNvSpPr txBox="1"/>
          <p:nvPr/>
        </p:nvSpPr>
        <p:spPr>
          <a:xfrm>
            <a:off x="3337560" y="1472184"/>
            <a:ext cx="7909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22E40"/>
                </a:solidFill>
                <a:latin typeface="Aptos"/>
              </a:rPr>
              <a:t>Data/hora, cliente, serviço, local, tipo de atendimento, frequência e valores.</a:t>
            </a:r>
          </a:p>
        </p:txBody>
      </p:sp>
      <p:sp>
        <p:nvSpPr>
          <p:cNvPr id="12" name="BG_TABLE_ROW"/>
          <p:cNvSpPr/>
          <p:nvPr/>
        </p:nvSpPr>
        <p:spPr>
          <a:xfrm>
            <a:off x="502920" y="2395728"/>
            <a:ext cx="1118311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BLE_NAME"/>
          <p:cNvSpPr txBox="1"/>
          <p:nvPr/>
        </p:nvSpPr>
        <p:spPr>
          <a:xfrm>
            <a:off x="777240" y="2569464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66FAD"/>
                </a:solidFill>
                <a:latin typeface="Aptos"/>
              </a:rPr>
              <a:t>RegistraAgendamento</a:t>
            </a:r>
          </a:p>
        </p:txBody>
      </p:sp>
      <p:sp>
        <p:nvSpPr>
          <p:cNvPr id="14" name="TABLE_COLUMNS"/>
          <p:cNvSpPr txBox="1"/>
          <p:nvPr/>
        </p:nvSpPr>
        <p:spPr>
          <a:xfrm>
            <a:off x="3337560" y="2542032"/>
            <a:ext cx="7909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22E40"/>
                </a:solidFill>
                <a:latin typeface="Aptos"/>
              </a:rPr>
              <a:t>Sequência, data/hora, ID_Agendamento, controle de atendimento/pagamento e reagendamento.</a:t>
            </a:r>
          </a:p>
        </p:txBody>
      </p:sp>
      <p:sp>
        <p:nvSpPr>
          <p:cNvPr id="15" name="BG_TABLE_ROW"/>
          <p:cNvSpPr/>
          <p:nvPr/>
        </p:nvSpPr>
        <p:spPr>
          <a:xfrm>
            <a:off x="502920" y="3465576"/>
            <a:ext cx="11183112" cy="960120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ABLE_NAME"/>
          <p:cNvSpPr txBox="1"/>
          <p:nvPr/>
        </p:nvSpPr>
        <p:spPr>
          <a:xfrm>
            <a:off x="777240" y="363931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66FAD"/>
                </a:solidFill>
                <a:latin typeface="Aptos"/>
              </a:rPr>
              <a:t>RegistraPagamentos</a:t>
            </a:r>
          </a:p>
        </p:txBody>
      </p:sp>
      <p:sp>
        <p:nvSpPr>
          <p:cNvPr id="17" name="TABLE_COLUMNS"/>
          <p:cNvSpPr txBox="1"/>
          <p:nvPr/>
        </p:nvSpPr>
        <p:spPr>
          <a:xfrm>
            <a:off x="3337560" y="3611880"/>
            <a:ext cx="7909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22E40"/>
                </a:solidFill>
                <a:latin typeface="Aptos"/>
              </a:rPr>
              <a:t>ID_Pagamento, data/hora, valor, método, comprovante Pix e ID_Agendamento.</a:t>
            </a:r>
          </a:p>
        </p:txBody>
      </p:sp>
      <p:sp>
        <p:nvSpPr>
          <p:cNvPr id="18" name="BG_TABLE_ROW"/>
          <p:cNvSpPr/>
          <p:nvPr/>
        </p:nvSpPr>
        <p:spPr>
          <a:xfrm>
            <a:off x="502920" y="4535424"/>
            <a:ext cx="1118311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BLE_NAME"/>
          <p:cNvSpPr txBox="1"/>
          <p:nvPr/>
        </p:nvSpPr>
        <p:spPr>
          <a:xfrm>
            <a:off x="777240" y="470916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66FAD"/>
                </a:solidFill>
                <a:latin typeface="Aptos"/>
              </a:rPr>
              <a:t>Onboarding</a:t>
            </a:r>
          </a:p>
        </p:txBody>
      </p:sp>
      <p:sp>
        <p:nvSpPr>
          <p:cNvPr id="20" name="TABLE_COLUMNS"/>
          <p:cNvSpPr txBox="1"/>
          <p:nvPr/>
        </p:nvSpPr>
        <p:spPr>
          <a:xfrm>
            <a:off x="3337560" y="4681728"/>
            <a:ext cx="7909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 i="0">
                <a:solidFill>
                  <a:srgbClr val="222E40"/>
                </a:solidFill>
                <a:latin typeface="Aptos"/>
              </a:rPr>
              <a:t>Imagem de destaque, título, subtítulo e informações de apresentação.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Planilha remodelada: cor como guia visual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32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62.</a:t>
            </a:r>
          </a:p>
        </p:txBody>
      </p:sp>
      <p:sp>
        <p:nvSpPr>
          <p:cNvPr id="9" name="BG_LEFT"/>
          <p:cNvSpPr/>
          <p:nvPr/>
        </p:nvSpPr>
        <p:spPr>
          <a:xfrm>
            <a:off x="502920" y="1325880"/>
            <a:ext cx="4709160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_HEADING"/>
          <p:cNvSpPr txBox="1"/>
          <p:nvPr/>
        </p:nvSpPr>
        <p:spPr>
          <a:xfrm>
            <a:off x="777240" y="16002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66FAD"/>
                </a:solidFill>
                <a:latin typeface="Aptos"/>
              </a:rPr>
              <a:t>Importante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37744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Colorir cabeçalhos pode facilitar a visualização na planilha.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 cor é somente um guia visual.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Ela não altera o comportamento do AppSheet.</a:t>
            </a:r>
          </a:p>
        </p:txBody>
      </p:sp>
      <p:sp>
        <p:nvSpPr>
          <p:cNvPr id="12" name="BG_FIGURE"/>
          <p:cNvSpPr/>
          <p:nvPr/>
        </p:nvSpPr>
        <p:spPr>
          <a:xfrm>
            <a:off x="5440680" y="1325880"/>
            <a:ext cx="6245352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MATERIAL_FIGURE" descr="fig37_planilha_color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954626"/>
            <a:ext cx="5879592" cy="1168203"/>
          </a:xfrm>
          <a:prstGeom prst="rect">
            <a:avLst/>
          </a:prstGeom>
        </p:spPr>
      </p:pic>
      <p:sp>
        <p:nvSpPr>
          <p:cNvPr id="14" name="FIGURE_SOURCE"/>
          <p:cNvSpPr txBox="1"/>
          <p:nvPr/>
        </p:nvSpPr>
        <p:spPr>
          <a:xfrm>
            <a:off x="5623560" y="5650992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62.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Configurar tabelas: o ponto de partida no AppSheet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33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62.</a:t>
            </a:r>
          </a:p>
        </p:txBody>
      </p:sp>
      <p:sp>
        <p:nvSpPr>
          <p:cNvPr id="9" name="BG_DATA_CONFIG"/>
          <p:cNvSpPr/>
          <p:nvPr/>
        </p:nvSpPr>
        <p:spPr>
          <a:xfrm>
            <a:off x="502920" y="1325880"/>
            <a:ext cx="11183112" cy="4462272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_BULLETS"/>
          <p:cNvSpPr txBox="1"/>
          <p:nvPr/>
        </p:nvSpPr>
        <p:spPr>
          <a:xfrm>
            <a:off x="777240" y="1691640"/>
            <a:ext cx="103327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Com a planilha organizada, abra o app no AppSheet.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A área de configuração tem seções como Data, Views e Actions.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Em Data são feitas as configurações de tabelas, colunas, relacionamentos e segurança.</a:t>
            </a:r>
          </a:p>
          <a:p>
            <a:pPr>
              <a:spcAft>
                <a:spcPts val="1300"/>
              </a:spcAft>
            </a:pPr>
            <a:r>
              <a:rPr sz="1700" b="0">
                <a:solidFill>
                  <a:srgbClr val="222E40"/>
                </a:solidFill>
                <a:latin typeface="Aptos"/>
              </a:rPr>
              <a:t>• As alterações na planilha precisam ser reconhecidas pelo AppSheet antes de configurar as telas.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Regenerando as tabelas após mudar a planilha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34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62.</a:t>
            </a:r>
          </a:p>
        </p:txBody>
      </p:sp>
      <p:sp>
        <p:nvSpPr>
          <p:cNvPr id="9" name="BG_STEP_0"/>
          <p:cNvSpPr/>
          <p:nvPr/>
        </p:nvSpPr>
        <p:spPr>
          <a:xfrm>
            <a:off x="502920" y="1828800"/>
            <a:ext cx="2638044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G_STEP_NUM_0"/>
          <p:cNvSpPr/>
          <p:nvPr/>
        </p:nvSpPr>
        <p:spPr>
          <a:xfrm>
            <a:off x="704088" y="2039112"/>
            <a:ext cx="502920" cy="502920"/>
          </a:xfrm>
          <a:prstGeom prst="ellipse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STEP_TITLE_0"/>
          <p:cNvSpPr txBox="1"/>
          <p:nvPr/>
        </p:nvSpPr>
        <p:spPr>
          <a:xfrm>
            <a:off x="758952" y="2788920"/>
            <a:ext cx="2125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979D"/>
                </a:solidFill>
                <a:latin typeface="Aptos"/>
              </a:rPr>
              <a:t>Data</a:t>
            </a:r>
          </a:p>
        </p:txBody>
      </p:sp>
      <p:sp>
        <p:nvSpPr>
          <p:cNvPr id="12" name="STEP_DETAIL_0"/>
          <p:cNvSpPr txBox="1"/>
          <p:nvPr/>
        </p:nvSpPr>
        <p:spPr>
          <a:xfrm>
            <a:off x="758952" y="3474720"/>
            <a:ext cx="21259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Clique na seção Data no menu lateral.</a:t>
            </a:r>
          </a:p>
        </p:txBody>
      </p:sp>
      <p:sp>
        <p:nvSpPr>
          <p:cNvPr id="13" name="ARROW_0"/>
          <p:cNvSpPr txBox="1"/>
          <p:nvPr/>
        </p:nvSpPr>
        <p:spPr>
          <a:xfrm>
            <a:off x="3140964" y="3054096"/>
            <a:ext cx="210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606E84"/>
                </a:solidFill>
                <a:latin typeface="Aptos"/>
              </a:rPr>
              <a:t>›</a:t>
            </a:r>
          </a:p>
        </p:txBody>
      </p:sp>
      <p:sp>
        <p:nvSpPr>
          <p:cNvPr id="14" name="BG_STEP_1"/>
          <p:cNvSpPr/>
          <p:nvPr/>
        </p:nvSpPr>
        <p:spPr>
          <a:xfrm>
            <a:off x="3351276" y="1828800"/>
            <a:ext cx="2638044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G_STEP_NUM_1"/>
          <p:cNvSpPr/>
          <p:nvPr/>
        </p:nvSpPr>
        <p:spPr>
          <a:xfrm>
            <a:off x="3552444" y="2039112"/>
            <a:ext cx="502920" cy="502920"/>
          </a:xfrm>
          <a:prstGeom prst="ellipse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STEP_TITLE_1"/>
          <p:cNvSpPr txBox="1"/>
          <p:nvPr/>
        </p:nvSpPr>
        <p:spPr>
          <a:xfrm>
            <a:off x="3607308" y="2788920"/>
            <a:ext cx="2125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66FAD"/>
                </a:solidFill>
                <a:latin typeface="Aptos"/>
              </a:rPr>
              <a:t>Tabela</a:t>
            </a:r>
          </a:p>
        </p:txBody>
      </p:sp>
      <p:sp>
        <p:nvSpPr>
          <p:cNvPr id="17" name="STEP_DETAIL_1"/>
          <p:cNvSpPr txBox="1"/>
          <p:nvPr/>
        </p:nvSpPr>
        <p:spPr>
          <a:xfrm>
            <a:off x="3607308" y="3474720"/>
            <a:ext cx="21259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Localize a tabela desejada, como Cliente.</a:t>
            </a:r>
          </a:p>
        </p:txBody>
      </p:sp>
      <p:sp>
        <p:nvSpPr>
          <p:cNvPr id="18" name="ARROW_1"/>
          <p:cNvSpPr txBox="1"/>
          <p:nvPr/>
        </p:nvSpPr>
        <p:spPr>
          <a:xfrm>
            <a:off x="5989320" y="3054096"/>
            <a:ext cx="210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606E84"/>
                </a:solidFill>
                <a:latin typeface="Aptos"/>
              </a:rPr>
              <a:t>›</a:t>
            </a:r>
          </a:p>
        </p:txBody>
      </p:sp>
      <p:sp>
        <p:nvSpPr>
          <p:cNvPr id="19" name="BG_STEP_2"/>
          <p:cNvSpPr/>
          <p:nvPr/>
        </p:nvSpPr>
        <p:spPr>
          <a:xfrm>
            <a:off x="6199632" y="1828800"/>
            <a:ext cx="2638044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G_STEP_NUM_2"/>
          <p:cNvSpPr/>
          <p:nvPr/>
        </p:nvSpPr>
        <p:spPr>
          <a:xfrm>
            <a:off x="6400800" y="2039112"/>
            <a:ext cx="502920" cy="502920"/>
          </a:xfrm>
          <a:prstGeom prst="ellipse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STEP_TITLE_2"/>
          <p:cNvSpPr txBox="1"/>
          <p:nvPr/>
        </p:nvSpPr>
        <p:spPr>
          <a:xfrm>
            <a:off x="6455664" y="2788920"/>
            <a:ext cx="2125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953A5"/>
                </a:solidFill>
                <a:latin typeface="Aptos"/>
              </a:rPr>
              <a:t>Regenerate schema</a:t>
            </a:r>
          </a:p>
        </p:txBody>
      </p:sp>
      <p:sp>
        <p:nvSpPr>
          <p:cNvPr id="22" name="STEP_DETAIL_2"/>
          <p:cNvSpPr txBox="1"/>
          <p:nvPr/>
        </p:nvSpPr>
        <p:spPr>
          <a:xfrm>
            <a:off x="6455664" y="3474720"/>
            <a:ext cx="21259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Use o ícone de seta circular e confirme no pop-up.</a:t>
            </a:r>
          </a:p>
        </p:txBody>
      </p:sp>
      <p:sp>
        <p:nvSpPr>
          <p:cNvPr id="23" name="ARROW_2"/>
          <p:cNvSpPr txBox="1"/>
          <p:nvPr/>
        </p:nvSpPr>
        <p:spPr>
          <a:xfrm>
            <a:off x="8837676" y="3054096"/>
            <a:ext cx="210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606E84"/>
                </a:solidFill>
                <a:latin typeface="Aptos"/>
              </a:rPr>
              <a:t>›</a:t>
            </a:r>
          </a:p>
        </p:txBody>
      </p:sp>
      <p:sp>
        <p:nvSpPr>
          <p:cNvPr id="24" name="BG_STEP_3"/>
          <p:cNvSpPr/>
          <p:nvPr/>
        </p:nvSpPr>
        <p:spPr>
          <a:xfrm>
            <a:off x="9047988" y="1828800"/>
            <a:ext cx="2638044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G_STEP_NUM_3"/>
          <p:cNvSpPr/>
          <p:nvPr/>
        </p:nvSpPr>
        <p:spPr>
          <a:xfrm>
            <a:off x="9249156" y="2039112"/>
            <a:ext cx="502920" cy="502920"/>
          </a:xfrm>
          <a:prstGeom prst="ellipse">
            <a:avLst/>
          </a:prstGeom>
          <a:solidFill>
            <a:srgbClr val="F4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STEP_TITLE_3"/>
          <p:cNvSpPr txBox="1"/>
          <p:nvPr/>
        </p:nvSpPr>
        <p:spPr>
          <a:xfrm>
            <a:off x="9304019" y="2788920"/>
            <a:ext cx="21259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48B23"/>
                </a:solidFill>
                <a:latin typeface="Aptos"/>
              </a:rPr>
              <a:t>Repetir</a:t>
            </a:r>
          </a:p>
        </p:txBody>
      </p:sp>
      <p:sp>
        <p:nvSpPr>
          <p:cNvPr id="27" name="STEP_DETAIL_3"/>
          <p:cNvSpPr txBox="1"/>
          <p:nvPr/>
        </p:nvSpPr>
        <p:spPr>
          <a:xfrm>
            <a:off x="9304019" y="3474720"/>
            <a:ext cx="21259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Faça o processo nas tabelas modificadas ou recém-criadas.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Propriedades de coluna: vídeo complementar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35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63.</a:t>
            </a:r>
          </a:p>
        </p:txBody>
      </p:sp>
      <p:sp>
        <p:nvSpPr>
          <p:cNvPr id="9" name="BG_CONTENT"/>
          <p:cNvSpPr/>
          <p:nvPr/>
        </p:nvSpPr>
        <p:spPr>
          <a:xfrm>
            <a:off x="502920" y="1298448"/>
            <a:ext cx="11183112" cy="2057400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_KICKER"/>
          <p:cNvSpPr txBox="1"/>
          <p:nvPr/>
        </p:nvSpPr>
        <p:spPr>
          <a:xfrm>
            <a:off x="777240" y="1499616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66FAD"/>
                </a:solidFill>
                <a:latin typeface="Aptos"/>
              </a:rPr>
              <a:t>Leitura orientada do Material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1901952"/>
            <a:ext cx="103327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222E40"/>
                </a:solidFill>
                <a:latin typeface="Aptos"/>
              </a:rPr>
              <a:t>• A tabela de colunas é aberta em Data &gt; tabela desejada.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E40"/>
                </a:solidFill>
                <a:latin typeface="Aptos"/>
              </a:rPr>
              <a:t>• A parte inferior mostra as colunas e suas configurações.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E40"/>
                </a:solidFill>
                <a:latin typeface="Aptos"/>
              </a:rPr>
              <a:t>• Assista ao trecho pertinente e compare com as propriedades do material.</a:t>
            </a:r>
          </a:p>
        </p:txBody>
      </p:sp>
      <p:sp>
        <p:nvSpPr>
          <p:cNvPr id="12" name="BG_VIDEO"/>
          <p:cNvSpPr/>
          <p:nvPr/>
        </p:nvSpPr>
        <p:spPr>
          <a:xfrm>
            <a:off x="640080" y="3685032"/>
            <a:ext cx="10927080" cy="2039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G_VIDEO_LABEL"/>
          <p:cNvSpPr/>
          <p:nvPr/>
        </p:nvSpPr>
        <p:spPr>
          <a:xfrm>
            <a:off x="786384" y="3822192"/>
            <a:ext cx="1325880" cy="274320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VÍDEO</a:t>
            </a:r>
          </a:p>
        </p:txBody>
      </p:sp>
      <p:pic>
        <p:nvPicPr>
          <p:cNvPr id="14" name="VIDEO_THUMB" descr="thumb_dnus3kreQE8.jp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635" y="4187952"/>
            <a:ext cx="1743456" cy="1307592"/>
          </a:xfrm>
          <a:prstGeom prst="rect">
            <a:avLst/>
          </a:prstGeom>
        </p:spPr>
      </p:pic>
      <p:sp>
        <p:nvSpPr>
          <p:cNvPr id="15" name="VIDEO_TITLE"/>
          <p:cNvSpPr txBox="1"/>
          <p:nvPr/>
        </p:nvSpPr>
        <p:spPr>
          <a:xfrm>
            <a:off x="2907791" y="3822192"/>
            <a:ext cx="845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E40"/>
                </a:solidFill>
                <a:latin typeface="Aptos"/>
              </a:rPr>
              <a:t>Tipos de colunas e suas propriedades</a:t>
            </a:r>
          </a:p>
        </p:txBody>
      </p:sp>
      <p:sp>
        <p:nvSpPr>
          <p:cNvPr id="16" name="VIDEO_META"/>
          <p:cNvSpPr txBox="1"/>
          <p:nvPr/>
        </p:nvSpPr>
        <p:spPr>
          <a:xfrm>
            <a:off x="2907791" y="4315968"/>
            <a:ext cx="726947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606E84"/>
                </a:solidFill>
                <a:latin typeface="Aptos"/>
              </a:rPr>
              <a:t>Canal: AppSheet Brasil  •  Duração: 21:31</a:t>
            </a:r>
          </a:p>
        </p:txBody>
      </p:sp>
      <p:sp>
        <p:nvSpPr>
          <p:cNvPr id="17" name="VIDEO_WHY"/>
          <p:cNvSpPr txBox="1"/>
          <p:nvPr/>
        </p:nvSpPr>
        <p:spPr>
          <a:xfrm>
            <a:off x="2907791" y="4599432"/>
            <a:ext cx="7178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222E40"/>
                </a:solidFill>
                <a:latin typeface="Aptos"/>
              </a:rPr>
              <a:t>Complementa a leitura das propriedades de coluna apresentadas no Material (Name, Type, Show?, Require? e outras).</a:t>
            </a:r>
          </a:p>
        </p:txBody>
      </p:sp>
      <p:sp>
        <p:nvSpPr>
          <p:cNvPr id="18" name="VIDEO_BUTTON">
            <a:hlinkClick r:id="rId3"/>
          </p:cNvPr>
          <p:cNvSpPr/>
          <p:nvPr/>
        </p:nvSpPr>
        <p:spPr>
          <a:xfrm>
            <a:off x="2907791" y="5404104"/>
            <a:ext cx="1874519" cy="292608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40" b="1" i="0">
                <a:solidFill>
                  <a:srgbClr val="FFFFFF"/>
                </a:solidFill>
                <a:latin typeface="Aptos"/>
              </a:rPr>
              <a:t>ASSISTIR NO YOUTUBE</a:t>
            </a:r>
          </a:p>
        </p:txBody>
      </p:sp>
      <p:sp>
        <p:nvSpPr>
          <p:cNvPr id="19" name="VIDEO_URL"/>
          <p:cNvSpPr txBox="1"/>
          <p:nvPr/>
        </p:nvSpPr>
        <p:spPr>
          <a:xfrm>
            <a:off x="2907791" y="5239512"/>
            <a:ext cx="7178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266FAD"/>
                </a:solidFill>
                <a:latin typeface="Aptos"/>
              </a:rPr>
              <a:t>https://www.youtube.com/watch?v=dnus3kreQE8</a:t>
            </a:r>
          </a:p>
        </p:txBody>
      </p:sp>
      <p:pic>
        <p:nvPicPr>
          <p:cNvPr id="20" name="VIDEO_QR" descr="qr_dnus3kreQ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6999" y="4279392"/>
            <a:ext cx="1097280" cy="1097280"/>
          </a:xfrm>
          <a:prstGeom prst="rect">
            <a:avLst/>
          </a:prstGeom>
        </p:spPr>
      </p:pic>
      <p:sp>
        <p:nvSpPr>
          <p:cNvPr id="21" name="VIDEO_SOURCE"/>
          <p:cNvSpPr txBox="1"/>
          <p:nvPr/>
        </p:nvSpPr>
        <p:spPr>
          <a:xfrm>
            <a:off x="2907791" y="5120640"/>
            <a:ext cx="717804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0" i="0">
                <a:solidFill>
                  <a:srgbClr val="606E84"/>
                </a:solidFill>
                <a:latin typeface="Aptos"/>
              </a:rPr>
              <a:t>Fonte: YouTube — AppSheet Brasil.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Propriedades de coluna — identificação, tipo e papel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36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63.</a:t>
            </a:r>
          </a:p>
        </p:txBody>
      </p:sp>
      <p:sp>
        <p:nvSpPr>
          <p:cNvPr id="9" name="BG_PROPERTY"/>
          <p:cNvSpPr/>
          <p:nvPr/>
        </p:nvSpPr>
        <p:spPr>
          <a:xfrm>
            <a:off x="502920" y="1261872"/>
            <a:ext cx="11183112" cy="804672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PERTY_LABEL"/>
          <p:cNvSpPr txBox="1"/>
          <p:nvPr/>
        </p:nvSpPr>
        <p:spPr>
          <a:xfrm>
            <a:off x="777240" y="1426463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66FAD"/>
                </a:solidFill>
                <a:latin typeface="Aptos"/>
              </a:rPr>
              <a:t>Name</a:t>
            </a:r>
          </a:p>
        </p:txBody>
      </p:sp>
      <p:sp>
        <p:nvSpPr>
          <p:cNvPr id="11" name="PROPERTY_TEXT"/>
          <p:cNvSpPr txBox="1"/>
          <p:nvPr/>
        </p:nvSpPr>
        <p:spPr>
          <a:xfrm>
            <a:off x="2971800" y="1408175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0" b="0" i="0">
                <a:solidFill>
                  <a:srgbClr val="222E40"/>
                </a:solidFill>
                <a:latin typeface="Aptos"/>
              </a:rPr>
              <a:t>Nome da coluna como aparece na planilha.</a:t>
            </a:r>
          </a:p>
        </p:txBody>
      </p:sp>
      <p:sp>
        <p:nvSpPr>
          <p:cNvPr id="12" name="BG_PROPERTY"/>
          <p:cNvSpPr/>
          <p:nvPr/>
        </p:nvSpPr>
        <p:spPr>
          <a:xfrm>
            <a:off x="502920" y="2176272"/>
            <a:ext cx="11183112" cy="804672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PERTY_LABEL"/>
          <p:cNvSpPr txBox="1"/>
          <p:nvPr/>
        </p:nvSpPr>
        <p:spPr>
          <a:xfrm>
            <a:off x="777240" y="2340864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66FAD"/>
                </a:solidFill>
                <a:latin typeface="Aptos"/>
              </a:rPr>
              <a:t>Type</a:t>
            </a:r>
          </a:p>
        </p:txBody>
      </p:sp>
      <p:sp>
        <p:nvSpPr>
          <p:cNvPr id="14" name="PROPERTY_TEXT"/>
          <p:cNvSpPr txBox="1"/>
          <p:nvPr/>
        </p:nvSpPr>
        <p:spPr>
          <a:xfrm>
            <a:off x="2971800" y="2322576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0" b="0" i="0">
                <a:solidFill>
                  <a:srgbClr val="222E40"/>
                </a:solidFill>
                <a:latin typeface="Aptos"/>
              </a:rPr>
              <a:t>Tipo de dado: texto, número, data e outros.</a:t>
            </a:r>
          </a:p>
        </p:txBody>
      </p:sp>
      <p:sp>
        <p:nvSpPr>
          <p:cNvPr id="15" name="BG_PROPERTY"/>
          <p:cNvSpPr/>
          <p:nvPr/>
        </p:nvSpPr>
        <p:spPr>
          <a:xfrm>
            <a:off x="502920" y="3090672"/>
            <a:ext cx="11183112" cy="804672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PERTY_LABEL"/>
          <p:cNvSpPr txBox="1"/>
          <p:nvPr/>
        </p:nvSpPr>
        <p:spPr>
          <a:xfrm>
            <a:off x="777240" y="3255264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66FAD"/>
                </a:solidFill>
                <a:latin typeface="Aptos"/>
              </a:rPr>
              <a:t>Key?</a:t>
            </a:r>
          </a:p>
        </p:txBody>
      </p:sp>
      <p:sp>
        <p:nvSpPr>
          <p:cNvPr id="17" name="PROPERTY_TEXT"/>
          <p:cNvSpPr txBox="1"/>
          <p:nvPr/>
        </p:nvSpPr>
        <p:spPr>
          <a:xfrm>
            <a:off x="2971800" y="3236976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0" b="0" i="0">
                <a:solidFill>
                  <a:srgbClr val="222E40"/>
                </a:solidFill>
                <a:latin typeface="Aptos"/>
              </a:rPr>
              <a:t>Define se a coluna é a chave primária da tabela.</a:t>
            </a:r>
          </a:p>
        </p:txBody>
      </p:sp>
      <p:sp>
        <p:nvSpPr>
          <p:cNvPr id="18" name="BG_PROPERTY"/>
          <p:cNvSpPr/>
          <p:nvPr/>
        </p:nvSpPr>
        <p:spPr>
          <a:xfrm>
            <a:off x="502920" y="4005072"/>
            <a:ext cx="11183112" cy="804672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OPERTY_LABEL"/>
          <p:cNvSpPr txBox="1"/>
          <p:nvPr/>
        </p:nvSpPr>
        <p:spPr>
          <a:xfrm>
            <a:off x="777240" y="4169663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66FAD"/>
                </a:solidFill>
                <a:latin typeface="Aptos"/>
              </a:rPr>
              <a:t>Label?</a:t>
            </a:r>
          </a:p>
        </p:txBody>
      </p:sp>
      <p:sp>
        <p:nvSpPr>
          <p:cNvPr id="20" name="PROPERTY_TEXT"/>
          <p:cNvSpPr txBox="1"/>
          <p:nvPr/>
        </p:nvSpPr>
        <p:spPr>
          <a:xfrm>
            <a:off x="2971800" y="4151376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0" b="0" i="0">
                <a:solidFill>
                  <a:srgbClr val="222E40"/>
                </a:solidFill>
                <a:latin typeface="Aptos"/>
              </a:rPr>
              <a:t>Define o título exibido em listas e menus.</a:t>
            </a:r>
          </a:p>
        </p:txBody>
      </p:sp>
      <p:sp>
        <p:nvSpPr>
          <p:cNvPr id="21" name="BG_PROPERTY"/>
          <p:cNvSpPr/>
          <p:nvPr/>
        </p:nvSpPr>
        <p:spPr>
          <a:xfrm>
            <a:off x="502920" y="4919472"/>
            <a:ext cx="11183112" cy="804672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ROPERTY_LABEL"/>
          <p:cNvSpPr txBox="1"/>
          <p:nvPr/>
        </p:nvSpPr>
        <p:spPr>
          <a:xfrm>
            <a:off x="777240" y="5084064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66FAD"/>
                </a:solidFill>
                <a:latin typeface="Aptos"/>
              </a:rPr>
              <a:t>Fórmula</a:t>
            </a:r>
          </a:p>
        </p:txBody>
      </p:sp>
      <p:sp>
        <p:nvSpPr>
          <p:cNvPr id="23" name="PROPERTY_TEXT"/>
          <p:cNvSpPr txBox="1"/>
          <p:nvPr/>
        </p:nvSpPr>
        <p:spPr>
          <a:xfrm>
            <a:off x="2971800" y="5065776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0" b="0" i="0">
                <a:solidFill>
                  <a:srgbClr val="222E40"/>
                </a:solidFill>
                <a:latin typeface="Aptos"/>
              </a:rPr>
              <a:t>Permite fórmulas ou expressões, como UNIQUEID().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Propriedades de coluna — exibição, edição e recursos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37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63.</a:t>
            </a:r>
          </a:p>
        </p:txBody>
      </p:sp>
      <p:sp>
        <p:nvSpPr>
          <p:cNvPr id="9" name="BG_PROPERTY"/>
          <p:cNvSpPr/>
          <p:nvPr/>
        </p:nvSpPr>
        <p:spPr>
          <a:xfrm>
            <a:off x="502920" y="1261872"/>
            <a:ext cx="11183112" cy="804672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PERTY_LABEL"/>
          <p:cNvSpPr txBox="1"/>
          <p:nvPr/>
        </p:nvSpPr>
        <p:spPr>
          <a:xfrm>
            <a:off x="777240" y="1426463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66FAD"/>
                </a:solidFill>
                <a:latin typeface="Aptos"/>
              </a:rPr>
              <a:t>Show?</a:t>
            </a:r>
          </a:p>
        </p:txBody>
      </p:sp>
      <p:sp>
        <p:nvSpPr>
          <p:cNvPr id="11" name="PROPERTY_TEXT"/>
          <p:cNvSpPr txBox="1"/>
          <p:nvPr/>
        </p:nvSpPr>
        <p:spPr>
          <a:xfrm>
            <a:off x="3730752" y="1408175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22E40"/>
                </a:solidFill>
                <a:latin typeface="Aptos"/>
              </a:rPr>
              <a:t>Define se o campo será visível no formulário.</a:t>
            </a:r>
          </a:p>
        </p:txBody>
      </p:sp>
      <p:sp>
        <p:nvSpPr>
          <p:cNvPr id="12" name="BG_PROPERTY"/>
          <p:cNvSpPr/>
          <p:nvPr/>
        </p:nvSpPr>
        <p:spPr>
          <a:xfrm>
            <a:off x="502920" y="2176272"/>
            <a:ext cx="11183112" cy="804672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PERTY_LABEL"/>
          <p:cNvSpPr txBox="1"/>
          <p:nvPr/>
        </p:nvSpPr>
        <p:spPr>
          <a:xfrm>
            <a:off x="777240" y="2340864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66FAD"/>
                </a:solidFill>
                <a:latin typeface="Aptos"/>
              </a:rPr>
              <a:t>Editable? / Require?</a:t>
            </a:r>
          </a:p>
        </p:txBody>
      </p:sp>
      <p:sp>
        <p:nvSpPr>
          <p:cNvPr id="14" name="PROPERTY_TEXT"/>
          <p:cNvSpPr txBox="1"/>
          <p:nvPr/>
        </p:nvSpPr>
        <p:spPr>
          <a:xfrm>
            <a:off x="3730752" y="2322576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22E40"/>
                </a:solidFill>
                <a:latin typeface="Aptos"/>
              </a:rPr>
              <a:t>Controlam edição e obrigatoriedade do campo.</a:t>
            </a:r>
          </a:p>
        </p:txBody>
      </p:sp>
      <p:sp>
        <p:nvSpPr>
          <p:cNvPr id="15" name="BG_PROPERTY"/>
          <p:cNvSpPr/>
          <p:nvPr/>
        </p:nvSpPr>
        <p:spPr>
          <a:xfrm>
            <a:off x="502920" y="3090672"/>
            <a:ext cx="11183112" cy="804672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PERTY_LABEL"/>
          <p:cNvSpPr txBox="1"/>
          <p:nvPr/>
        </p:nvSpPr>
        <p:spPr>
          <a:xfrm>
            <a:off x="777240" y="3255264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66FAD"/>
                </a:solidFill>
                <a:latin typeface="Aptos"/>
              </a:rPr>
              <a:t>Initial Value / Display Name</a:t>
            </a:r>
          </a:p>
        </p:txBody>
      </p:sp>
      <p:sp>
        <p:nvSpPr>
          <p:cNvPr id="17" name="PROPERTY_TEXT"/>
          <p:cNvSpPr txBox="1"/>
          <p:nvPr/>
        </p:nvSpPr>
        <p:spPr>
          <a:xfrm>
            <a:off x="3730752" y="3236976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22E40"/>
                </a:solidFill>
                <a:latin typeface="Aptos"/>
              </a:rPr>
              <a:t>Definem valor padrão e nome apresentado no app.</a:t>
            </a:r>
          </a:p>
        </p:txBody>
      </p:sp>
      <p:sp>
        <p:nvSpPr>
          <p:cNvPr id="18" name="BG_PROPERTY"/>
          <p:cNvSpPr/>
          <p:nvPr/>
        </p:nvSpPr>
        <p:spPr>
          <a:xfrm>
            <a:off x="502920" y="4005072"/>
            <a:ext cx="11183112" cy="804672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OPERTY_LABEL"/>
          <p:cNvSpPr txBox="1"/>
          <p:nvPr/>
        </p:nvSpPr>
        <p:spPr>
          <a:xfrm>
            <a:off x="777240" y="4169663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66FAD"/>
                </a:solidFill>
                <a:latin typeface="Aptos"/>
              </a:rPr>
              <a:t>Description / Search?</a:t>
            </a:r>
          </a:p>
        </p:txBody>
      </p:sp>
      <p:sp>
        <p:nvSpPr>
          <p:cNvPr id="20" name="PROPERTY_TEXT"/>
          <p:cNvSpPr txBox="1"/>
          <p:nvPr/>
        </p:nvSpPr>
        <p:spPr>
          <a:xfrm>
            <a:off x="3730752" y="4151376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22E40"/>
                </a:solidFill>
                <a:latin typeface="Aptos"/>
              </a:rPr>
              <a:t>Oferecem ajuda e inclusão da coluna na busca.</a:t>
            </a:r>
          </a:p>
        </p:txBody>
      </p:sp>
      <p:sp>
        <p:nvSpPr>
          <p:cNvPr id="21" name="BG_PROPERTY"/>
          <p:cNvSpPr/>
          <p:nvPr/>
        </p:nvSpPr>
        <p:spPr>
          <a:xfrm>
            <a:off x="502920" y="4919472"/>
            <a:ext cx="11183112" cy="804672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ROPERTY_LABEL"/>
          <p:cNvSpPr txBox="1"/>
          <p:nvPr/>
        </p:nvSpPr>
        <p:spPr>
          <a:xfrm>
            <a:off x="777240" y="5084064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66FAD"/>
                </a:solidFill>
                <a:latin typeface="Aptos"/>
              </a:rPr>
              <a:t>Scan? / NFC? / PII?</a:t>
            </a:r>
          </a:p>
        </p:txBody>
      </p:sp>
      <p:sp>
        <p:nvSpPr>
          <p:cNvPr id="23" name="PROPERTY_TEXT"/>
          <p:cNvSpPr txBox="1"/>
          <p:nvPr/>
        </p:nvSpPr>
        <p:spPr>
          <a:xfrm>
            <a:off x="3730752" y="5065776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22E40"/>
                </a:solidFill>
                <a:latin typeface="Aptos"/>
              </a:rPr>
              <a:t>Habilitam câmera, NFC e marcação de informação pessoal sensível.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Tabela Cliente: configurar apenas o que precisa mudar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38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64–65.</a:t>
            </a:r>
          </a:p>
        </p:txBody>
      </p:sp>
      <p:sp>
        <p:nvSpPr>
          <p:cNvPr id="9" name="BG_CLIENT_CONFIG"/>
          <p:cNvSpPr/>
          <p:nvPr/>
        </p:nvSpPr>
        <p:spPr>
          <a:xfrm>
            <a:off x="502920" y="1325880"/>
            <a:ext cx="11183112" cy="4480560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_BULLETS"/>
          <p:cNvSpPr txBox="1"/>
          <p:nvPr/>
        </p:nvSpPr>
        <p:spPr>
          <a:xfrm>
            <a:off x="777240" y="1609344"/>
            <a:ext cx="1033272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O material começa pela tabela Cliente, pois ela será usada para criar telas relacionadas a clientes.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Não é necessário ajustar todas as propriedades de cada coluna; as demais podem permanecer com seus valores padrão.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O quadro do material mostra, por exemplo, ID_Cliente como Text e chave, Foto_Perfil_Cliente como Image, e campos de contato com tipos específicos.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Display Name torna os nomes exibidos no app mais claros para a pessoa usuária.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Depois de configurar as colunas: tela de Cliente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39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66.</a:t>
            </a:r>
          </a:p>
        </p:txBody>
      </p:sp>
      <p:sp>
        <p:nvSpPr>
          <p:cNvPr id="9" name="BG_LEFT"/>
          <p:cNvSpPr/>
          <p:nvPr/>
        </p:nvSpPr>
        <p:spPr>
          <a:xfrm>
            <a:off x="502920" y="1325880"/>
            <a:ext cx="4709160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_HEADING"/>
          <p:cNvSpPr txBox="1"/>
          <p:nvPr/>
        </p:nvSpPr>
        <p:spPr>
          <a:xfrm>
            <a:off x="777240" y="16002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66FAD"/>
                </a:solidFill>
                <a:latin typeface="Aptos"/>
              </a:rPr>
              <a:t>Relação entre dados e tela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37744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 configuração de colunas prepara a tabela para as telas de clientes.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 próxima etapa é criar e ajustar as visualizações (Views).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Cada ajuste deve ser testado no app.</a:t>
            </a:r>
          </a:p>
        </p:txBody>
      </p:sp>
      <p:sp>
        <p:nvSpPr>
          <p:cNvPr id="12" name="BG_FIGURE"/>
          <p:cNvSpPr/>
          <p:nvPr/>
        </p:nvSpPr>
        <p:spPr>
          <a:xfrm>
            <a:off x="5440680" y="1325880"/>
            <a:ext cx="6245352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MATERIAL_FIGURE" descr="fig38_cliente_colu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142660"/>
            <a:ext cx="5879592" cy="2792135"/>
          </a:xfrm>
          <a:prstGeom prst="rect">
            <a:avLst/>
          </a:prstGeom>
        </p:spPr>
      </p:pic>
      <p:sp>
        <p:nvSpPr>
          <p:cNvPr id="14" name="FIGURE_SOURCE"/>
          <p:cNvSpPr txBox="1"/>
          <p:nvPr/>
        </p:nvSpPr>
        <p:spPr>
          <a:xfrm>
            <a:off x="5623560" y="5650992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66.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Views: onde configuramos as visualizações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40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67.</a:t>
            </a:r>
          </a:p>
        </p:txBody>
      </p:sp>
      <p:sp>
        <p:nvSpPr>
          <p:cNvPr id="9" name="BG_LEFT"/>
          <p:cNvSpPr/>
          <p:nvPr/>
        </p:nvSpPr>
        <p:spPr>
          <a:xfrm>
            <a:off x="502920" y="1325880"/>
            <a:ext cx="4709160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_HEADING"/>
          <p:cNvSpPr txBox="1"/>
          <p:nvPr/>
        </p:nvSpPr>
        <p:spPr>
          <a:xfrm>
            <a:off x="777240" y="16002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66FAD"/>
                </a:solidFill>
                <a:latin typeface="Aptos"/>
              </a:rPr>
              <a:t>Ação inicial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37744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Acesse Views no menu principal do AppSheet.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Por padrão, existe uma tela Cliente na Primary Navigation.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 proposta é mover a tela para o menu lateral e exibir uma lista de clientes.</a:t>
            </a:r>
          </a:p>
        </p:txBody>
      </p:sp>
      <p:sp>
        <p:nvSpPr>
          <p:cNvPr id="12" name="BG_FIGURE"/>
          <p:cNvSpPr/>
          <p:nvPr/>
        </p:nvSpPr>
        <p:spPr>
          <a:xfrm>
            <a:off x="5440680" y="1325880"/>
            <a:ext cx="6245352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MATERIAL_FIGURE" descr="fig39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140678"/>
            <a:ext cx="5879592" cy="2796099"/>
          </a:xfrm>
          <a:prstGeom prst="rect">
            <a:avLst/>
          </a:prstGeom>
        </p:spPr>
      </p:pic>
      <p:sp>
        <p:nvSpPr>
          <p:cNvPr id="14" name="FIGURE_SOURCE"/>
          <p:cNvSpPr txBox="1"/>
          <p:nvPr/>
        </p:nvSpPr>
        <p:spPr>
          <a:xfrm>
            <a:off x="5623560" y="5650992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67.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Ajustar a navegação: remover a view automática e criar outra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26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2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41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67–68.</a:t>
            </a:r>
          </a:p>
        </p:txBody>
      </p:sp>
      <p:sp>
        <p:nvSpPr>
          <p:cNvPr id="9" name="BG_NAV_DELETE"/>
          <p:cNvSpPr/>
          <p:nvPr/>
        </p:nvSpPr>
        <p:spPr>
          <a:xfrm>
            <a:off x="502920" y="1325880"/>
            <a:ext cx="534924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MATERIAL_FIGURE" descr="fig40_delete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98310"/>
            <a:ext cx="4919472" cy="2061178"/>
          </a:xfrm>
          <a:prstGeom prst="rect">
            <a:avLst/>
          </a:prstGeom>
        </p:spPr>
      </p:pic>
      <p:sp>
        <p:nvSpPr>
          <p:cNvPr id="11" name="FIGURE_SOURCE"/>
          <p:cNvSpPr txBox="1"/>
          <p:nvPr/>
        </p:nvSpPr>
        <p:spPr>
          <a:xfrm>
            <a:off x="713232" y="3767328"/>
            <a:ext cx="4800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67.</a:t>
            </a:r>
          </a:p>
        </p:txBody>
      </p:sp>
      <p:sp>
        <p:nvSpPr>
          <p:cNvPr id="12" name="NAV_DELETE_TEXT"/>
          <p:cNvSpPr txBox="1"/>
          <p:nvPr/>
        </p:nvSpPr>
        <p:spPr>
          <a:xfrm>
            <a:off x="777240" y="4261104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Em Primary Navigation, use More (três pontinhos) e Delete na view Cliente.</a:t>
            </a:r>
          </a:p>
        </p:txBody>
      </p:sp>
      <p:sp>
        <p:nvSpPr>
          <p:cNvPr id="13" name="BG_NAV_CREATE"/>
          <p:cNvSpPr/>
          <p:nvPr/>
        </p:nvSpPr>
        <p:spPr>
          <a:xfrm>
            <a:off x="6172200" y="1325880"/>
            <a:ext cx="5513832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MATERIAL_FIGURE" descr="fig41_nova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533" y="1554480"/>
            <a:ext cx="4538876" cy="2148840"/>
          </a:xfrm>
          <a:prstGeom prst="rect">
            <a:avLst/>
          </a:prstGeom>
        </p:spPr>
      </p:pic>
      <p:sp>
        <p:nvSpPr>
          <p:cNvPr id="15" name="FIGURE_SOURCE"/>
          <p:cNvSpPr txBox="1"/>
          <p:nvPr/>
        </p:nvSpPr>
        <p:spPr>
          <a:xfrm>
            <a:off x="6382512" y="3767328"/>
            <a:ext cx="4983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68.</a:t>
            </a:r>
          </a:p>
        </p:txBody>
      </p:sp>
      <p:sp>
        <p:nvSpPr>
          <p:cNvPr id="16" name="NAV_CREATE_TEXT"/>
          <p:cNvSpPr txBox="1"/>
          <p:nvPr/>
        </p:nvSpPr>
        <p:spPr>
          <a:xfrm>
            <a:off x="6446520" y="4261104"/>
            <a:ext cx="4709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Em Menu Navigation, clique em “+” e use “Create a new view”.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914400" y="1280160"/>
            <a:ext cx="1097280" cy="109728"/>
          </a:xfrm>
          <a:prstGeom prst="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_KICKER"/>
          <p:cNvSpPr txBox="1"/>
          <p:nvPr/>
        </p:nvSpPr>
        <p:spPr>
          <a:xfrm>
            <a:off x="914400" y="1600200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953A5"/>
                </a:solidFill>
                <a:latin typeface="Aptos"/>
              </a:rPr>
              <a:t>DIA 3 — IMPLEMENTAÇÃO</a:t>
            </a:r>
          </a:p>
        </p:txBody>
      </p:sp>
      <p:sp>
        <p:nvSpPr>
          <p:cNvPr id="5" name="DIVIDER_TITLE"/>
          <p:cNvSpPr txBox="1"/>
          <p:nvPr/>
        </p:nvSpPr>
        <p:spPr>
          <a:xfrm>
            <a:off x="914400" y="2148840"/>
            <a:ext cx="103327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Views, formulários e detalhes que melhoram a experiência</a:t>
            </a:r>
          </a:p>
        </p:txBody>
      </p:sp>
      <p:sp>
        <p:nvSpPr>
          <p:cNvPr id="6" name="DIVIDER_QUOTE"/>
          <p:cNvSpPr txBox="1"/>
          <p:nvPr/>
        </p:nvSpPr>
        <p:spPr>
          <a:xfrm>
            <a:off x="914400" y="4069080"/>
            <a:ext cx="9966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1">
                <a:solidFill>
                  <a:srgbClr val="C9D6E4"/>
                </a:solidFill>
                <a:latin typeface="Aptos"/>
              </a:rPr>
              <a:t>A tela precisa mostrar os dados certos, na ordem certa, com ações úteis para quem usa.</a:t>
            </a:r>
          </a:p>
        </p:txBody>
      </p:sp>
      <p:sp>
        <p:nvSpPr>
          <p:cNvPr id="7" name="DIVIDER_FOOTER"/>
          <p:cNvSpPr txBox="1"/>
          <p:nvPr/>
        </p:nvSpPr>
        <p:spPr>
          <a:xfrm>
            <a:off x="914400" y="6080760"/>
            <a:ext cx="9966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06E84"/>
                </a:solidFill>
                <a:latin typeface="Aptos"/>
              </a:rPr>
              <a:t>AppClicks – Semana 5 – PRONATEC/IFSP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Configurar a view Clientes no menu lateral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43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68.</a:t>
            </a:r>
          </a:p>
        </p:txBody>
      </p:sp>
      <p:sp>
        <p:nvSpPr>
          <p:cNvPr id="9" name="BG_LEFT"/>
          <p:cNvSpPr/>
          <p:nvPr/>
        </p:nvSpPr>
        <p:spPr>
          <a:xfrm>
            <a:off x="502920" y="1325880"/>
            <a:ext cx="4709160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_HEADING"/>
          <p:cNvSpPr txBox="1"/>
          <p:nvPr/>
        </p:nvSpPr>
        <p:spPr>
          <a:xfrm>
            <a:off x="777240" y="16002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6953A5"/>
                </a:solidFill>
                <a:latin typeface="Aptos"/>
              </a:rPr>
              <a:t>Preenchimento indicado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37744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View name: Clientes.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For this data: Cliente.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View type: Deck, que mostra uma lista em forma de cartões.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 nova tela aparece no app mesmo antes dos refinamentos.</a:t>
            </a:r>
          </a:p>
        </p:txBody>
      </p:sp>
      <p:sp>
        <p:nvSpPr>
          <p:cNvPr id="12" name="BG_FIGURE"/>
          <p:cNvSpPr/>
          <p:nvPr/>
        </p:nvSpPr>
        <p:spPr>
          <a:xfrm>
            <a:off x="5440680" y="1325880"/>
            <a:ext cx="6245352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MATERIAL_FIGURE" descr="fig42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156659"/>
            <a:ext cx="5879592" cy="2764137"/>
          </a:xfrm>
          <a:prstGeom prst="rect">
            <a:avLst/>
          </a:prstGeom>
        </p:spPr>
      </p:pic>
      <p:sp>
        <p:nvSpPr>
          <p:cNvPr id="14" name="FIGURE_SOURCE"/>
          <p:cNvSpPr txBox="1"/>
          <p:nvPr/>
        </p:nvSpPr>
        <p:spPr>
          <a:xfrm>
            <a:off x="5623560" y="5650992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68.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Views e recortes de dados: recurso complementar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44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66–68.</a:t>
            </a:r>
          </a:p>
        </p:txBody>
      </p:sp>
      <p:sp>
        <p:nvSpPr>
          <p:cNvPr id="9" name="BG_CONTENT"/>
          <p:cNvSpPr/>
          <p:nvPr/>
        </p:nvSpPr>
        <p:spPr>
          <a:xfrm>
            <a:off x="502920" y="1298448"/>
            <a:ext cx="11183112" cy="2057400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_KICKER"/>
          <p:cNvSpPr txBox="1"/>
          <p:nvPr/>
        </p:nvSpPr>
        <p:spPr>
          <a:xfrm>
            <a:off x="777240" y="1499616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953A5"/>
                </a:solidFill>
                <a:latin typeface="Aptos"/>
              </a:rPr>
              <a:t>Conexão com a prática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1901952"/>
            <a:ext cx="475488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222E40"/>
                </a:solidFill>
                <a:latin typeface="Aptos"/>
              </a:rPr>
              <a:t>• O Material orienta criar uma view Clientes do tipo Deck.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E40"/>
                </a:solidFill>
                <a:latin typeface="Aptos"/>
              </a:rPr>
              <a:t>• Views controlam como os dados da tabela aparecem para o usuário.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E40"/>
                </a:solidFill>
                <a:latin typeface="Aptos"/>
              </a:rPr>
              <a:t>• Use o vídeo apenas como complemento; siga a configuração específica do Atende+ descrita no Material.</a:t>
            </a:r>
          </a:p>
        </p:txBody>
      </p:sp>
      <p:sp>
        <p:nvSpPr>
          <p:cNvPr id="12" name="BG_SMALL_FIGURE"/>
          <p:cNvSpPr/>
          <p:nvPr/>
        </p:nvSpPr>
        <p:spPr>
          <a:xfrm>
            <a:off x="5806440" y="1426464"/>
            <a:ext cx="5513832" cy="1773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MATERIAL_FIGURE" descr="fig42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92" y="1527048"/>
            <a:ext cx="2839727" cy="1335024"/>
          </a:xfrm>
          <a:prstGeom prst="rect">
            <a:avLst/>
          </a:prstGeom>
        </p:spPr>
      </p:pic>
      <p:sp>
        <p:nvSpPr>
          <p:cNvPr id="14" name="FIGURE_SOURCE"/>
          <p:cNvSpPr txBox="1"/>
          <p:nvPr/>
        </p:nvSpPr>
        <p:spPr>
          <a:xfrm>
            <a:off x="5961888" y="2926080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68.</a:t>
            </a:r>
          </a:p>
        </p:txBody>
      </p:sp>
      <p:sp>
        <p:nvSpPr>
          <p:cNvPr id="15" name="BG_VIDEO"/>
          <p:cNvSpPr/>
          <p:nvPr/>
        </p:nvSpPr>
        <p:spPr>
          <a:xfrm>
            <a:off x="640080" y="3685032"/>
            <a:ext cx="10927080" cy="2039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G_VIDEO_LABEL"/>
          <p:cNvSpPr/>
          <p:nvPr/>
        </p:nvSpPr>
        <p:spPr>
          <a:xfrm>
            <a:off x="786384" y="3822192"/>
            <a:ext cx="1325880" cy="274320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VÍDEO</a:t>
            </a:r>
          </a:p>
        </p:txBody>
      </p:sp>
      <p:pic>
        <p:nvPicPr>
          <p:cNvPr id="17" name="VIDEO_THUMB" descr="thumb_gpE6NMCPZS4.jp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635" y="4187952"/>
            <a:ext cx="1743456" cy="1307592"/>
          </a:xfrm>
          <a:prstGeom prst="rect">
            <a:avLst/>
          </a:prstGeom>
        </p:spPr>
      </p:pic>
      <p:sp>
        <p:nvSpPr>
          <p:cNvPr id="18" name="VIDEO_TITLE"/>
          <p:cNvSpPr txBox="1"/>
          <p:nvPr/>
        </p:nvSpPr>
        <p:spPr>
          <a:xfrm>
            <a:off x="2907791" y="3822192"/>
            <a:ext cx="845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E40"/>
                </a:solidFill>
                <a:latin typeface="Aptos"/>
              </a:rPr>
              <a:t>Slice no AppSheet: aprenda a filtrar dados e organizar seu app (iniciante)</a:t>
            </a:r>
          </a:p>
        </p:txBody>
      </p:sp>
      <p:sp>
        <p:nvSpPr>
          <p:cNvPr id="19" name="VIDEO_META"/>
          <p:cNvSpPr txBox="1"/>
          <p:nvPr/>
        </p:nvSpPr>
        <p:spPr>
          <a:xfrm>
            <a:off x="2907791" y="4315968"/>
            <a:ext cx="726947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606E84"/>
                </a:solidFill>
                <a:latin typeface="Aptos"/>
              </a:rPr>
              <a:t>Canal: Academia Brasileira de Appsheet  •  Duração: 13:50</a:t>
            </a:r>
          </a:p>
        </p:txBody>
      </p:sp>
      <p:sp>
        <p:nvSpPr>
          <p:cNvPr id="20" name="VIDEO_WHY"/>
          <p:cNvSpPr txBox="1"/>
          <p:nvPr/>
        </p:nvSpPr>
        <p:spPr>
          <a:xfrm>
            <a:off x="2907791" y="4599432"/>
            <a:ext cx="7178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222E40"/>
                </a:solidFill>
                <a:latin typeface="Aptos"/>
              </a:rPr>
              <a:t>Apresenta em português como criar um Slice para filtrar dados e organizar uma visualização; use como complemento da prática de Views.</a:t>
            </a:r>
          </a:p>
        </p:txBody>
      </p:sp>
      <p:sp>
        <p:nvSpPr>
          <p:cNvPr id="21" name="VIDEO_BUTTON">
            <a:hlinkClick r:id="rId4"/>
          </p:cNvPr>
          <p:cNvSpPr/>
          <p:nvPr/>
        </p:nvSpPr>
        <p:spPr>
          <a:xfrm>
            <a:off x="2907791" y="5404104"/>
            <a:ext cx="1874519" cy="292608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40" b="1" i="0">
                <a:solidFill>
                  <a:srgbClr val="FFFFFF"/>
                </a:solidFill>
                <a:latin typeface="Aptos"/>
              </a:rPr>
              <a:t>ASSISTIR NO YOUTUBE</a:t>
            </a:r>
          </a:p>
        </p:txBody>
      </p:sp>
      <p:sp>
        <p:nvSpPr>
          <p:cNvPr id="22" name="VIDEO_URL"/>
          <p:cNvSpPr txBox="1"/>
          <p:nvPr/>
        </p:nvSpPr>
        <p:spPr>
          <a:xfrm>
            <a:off x="2907791" y="5239512"/>
            <a:ext cx="7178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266FAD"/>
                </a:solidFill>
                <a:latin typeface="Aptos"/>
              </a:rPr>
              <a:t>https://www.youtube.com/watch?v=gpE6NMCPZS4</a:t>
            </a:r>
          </a:p>
        </p:txBody>
      </p:sp>
      <p:pic>
        <p:nvPicPr>
          <p:cNvPr id="23" name="VIDEO_QR" descr="qr_gpE6NMCPZS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6999" y="4279392"/>
            <a:ext cx="1097280" cy="1097280"/>
          </a:xfrm>
          <a:prstGeom prst="rect">
            <a:avLst/>
          </a:prstGeom>
        </p:spPr>
      </p:pic>
      <p:sp>
        <p:nvSpPr>
          <p:cNvPr id="24" name="VIDEO_SOURCE"/>
          <p:cNvSpPr txBox="1"/>
          <p:nvPr/>
        </p:nvSpPr>
        <p:spPr>
          <a:xfrm>
            <a:off x="2907791" y="5120640"/>
            <a:ext cx="717804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0" i="0">
                <a:solidFill>
                  <a:srgbClr val="606E84"/>
                </a:solidFill>
                <a:latin typeface="Aptos"/>
              </a:rPr>
              <a:t>Fonte: YouTube — Academia Brasileira de Appsheet.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Teste a view com um cliente fictício e observe a leitura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45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69–70.</a:t>
            </a:r>
          </a:p>
        </p:txBody>
      </p:sp>
      <p:sp>
        <p:nvSpPr>
          <p:cNvPr id="9" name="BG_TEST_CLIENT"/>
          <p:cNvSpPr/>
          <p:nvPr/>
        </p:nvSpPr>
        <p:spPr>
          <a:xfrm>
            <a:off x="502920" y="1325880"/>
            <a:ext cx="5212080" cy="4599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MATERIAL_FIGURE" descr="fig43_cliente_te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15" y="1554480"/>
            <a:ext cx="4625689" cy="2194560"/>
          </a:xfrm>
          <a:prstGeom prst="rect">
            <a:avLst/>
          </a:prstGeom>
        </p:spPr>
      </p:pic>
      <p:sp>
        <p:nvSpPr>
          <p:cNvPr id="11" name="FIGURE_SOURCE"/>
          <p:cNvSpPr txBox="1"/>
          <p:nvPr/>
        </p:nvSpPr>
        <p:spPr>
          <a:xfrm>
            <a:off x="731520" y="3822191"/>
            <a:ext cx="4681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69.</a:t>
            </a:r>
          </a:p>
        </p:txBody>
      </p:sp>
      <p:sp>
        <p:nvSpPr>
          <p:cNvPr id="12" name="TEST_CLIENT_TEXT"/>
          <p:cNvSpPr txBox="1"/>
          <p:nvPr/>
        </p:nvSpPr>
        <p:spPr>
          <a:xfrm>
            <a:off x="777240" y="4315968"/>
            <a:ext cx="4617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Crie um cliente de exemplo para verificar como as informações aparecem no app.</a:t>
            </a:r>
          </a:p>
        </p:txBody>
      </p:sp>
      <p:sp>
        <p:nvSpPr>
          <p:cNvPr id="13" name="BG_FORM_TEST"/>
          <p:cNvSpPr/>
          <p:nvPr/>
        </p:nvSpPr>
        <p:spPr>
          <a:xfrm>
            <a:off x="6035040" y="1325880"/>
            <a:ext cx="5650992" cy="4599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MATERIAL_FIGURE" descr="fig44_formulario_tes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806" y="1554480"/>
            <a:ext cx="4299458" cy="2194560"/>
          </a:xfrm>
          <a:prstGeom prst="rect">
            <a:avLst/>
          </a:prstGeom>
        </p:spPr>
      </p:pic>
      <p:sp>
        <p:nvSpPr>
          <p:cNvPr id="15" name="FIGURE_SOURCE"/>
          <p:cNvSpPr txBox="1"/>
          <p:nvPr/>
        </p:nvSpPr>
        <p:spPr>
          <a:xfrm>
            <a:off x="6263640" y="3822191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70.</a:t>
            </a:r>
          </a:p>
        </p:txBody>
      </p:sp>
      <p:sp>
        <p:nvSpPr>
          <p:cNvPr id="16" name="FORM_TEST_TEXT"/>
          <p:cNvSpPr txBox="1"/>
          <p:nvPr/>
        </p:nvSpPr>
        <p:spPr>
          <a:xfrm>
            <a:off x="6309360" y="4315968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O formulário é criado automaticamente a partir da tabela Cliente; a personalização ocorrerá depois.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Melhorar a aparência da lista de clientes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46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69–70.</a:t>
            </a:r>
          </a:p>
        </p:txBody>
      </p:sp>
      <p:sp>
        <p:nvSpPr>
          <p:cNvPr id="9" name="BG_DECK_UX"/>
          <p:cNvSpPr/>
          <p:nvPr/>
        </p:nvSpPr>
        <p:spPr>
          <a:xfrm>
            <a:off x="502920" y="1325880"/>
            <a:ext cx="11183112" cy="4526280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_BULLETS"/>
          <p:cNvSpPr txBox="1"/>
          <p:nvPr/>
        </p:nvSpPr>
        <p:spPr>
          <a:xfrm>
            <a:off x="777240" y="1645920"/>
            <a:ext cx="103327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A foto já aparece bem posicionada na tela de clientes.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O material observa que nome e sobrenome podem ficar divididos entre título e subtítulo.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Uma melhoria desejada é mostrar o nome completo no título e a data de renovação no subtítulo.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Os ícones automáticos também podem ser trocados por ações mais úteis: mensagem, ligação, mapa e edição.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Para organizar essa informação, serão criadas colunas virtuais.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Colunas virtuais: calcular e apresentar novas informações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47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70–71.</a:t>
            </a:r>
          </a:p>
        </p:txBody>
      </p:sp>
      <p:sp>
        <p:nvSpPr>
          <p:cNvPr id="9" name="BG_CONTENT"/>
          <p:cNvSpPr/>
          <p:nvPr/>
        </p:nvSpPr>
        <p:spPr>
          <a:xfrm>
            <a:off x="502920" y="1298448"/>
            <a:ext cx="11183112" cy="2057400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_KICKER"/>
          <p:cNvSpPr txBox="1"/>
          <p:nvPr/>
        </p:nvSpPr>
        <p:spPr>
          <a:xfrm>
            <a:off x="777240" y="1499616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953A5"/>
                </a:solidFill>
                <a:latin typeface="Aptos"/>
              </a:rPr>
              <a:t>O que o Material propõe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1901952"/>
            <a:ext cx="475488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222E40"/>
                </a:solidFill>
                <a:latin typeface="Aptos"/>
              </a:rPr>
              <a:t>• Colunas virtuais não ficam na planilha original.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E40"/>
                </a:solidFill>
                <a:latin typeface="Aptos"/>
              </a:rPr>
              <a:t>• O AppSheet calcula suas informações a partir de outras colunas.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E40"/>
                </a:solidFill>
                <a:latin typeface="Aptos"/>
              </a:rPr>
              <a:t>• A primeira coluna virtual proposta organiza Nome e Sobrenome em um nome completo.</a:t>
            </a:r>
          </a:p>
        </p:txBody>
      </p:sp>
      <p:sp>
        <p:nvSpPr>
          <p:cNvPr id="12" name="BG_SMALL_FIGURE"/>
          <p:cNvSpPr/>
          <p:nvPr/>
        </p:nvSpPr>
        <p:spPr>
          <a:xfrm>
            <a:off x="5806440" y="1426464"/>
            <a:ext cx="5513832" cy="17739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MATERIAL_FIGURE" descr="fig46_coluna_vir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077" y="1527048"/>
            <a:ext cx="1486556" cy="1335024"/>
          </a:xfrm>
          <a:prstGeom prst="rect">
            <a:avLst/>
          </a:prstGeom>
        </p:spPr>
      </p:pic>
      <p:sp>
        <p:nvSpPr>
          <p:cNvPr id="14" name="FIGURE_SOURCE"/>
          <p:cNvSpPr txBox="1"/>
          <p:nvPr/>
        </p:nvSpPr>
        <p:spPr>
          <a:xfrm>
            <a:off x="5961888" y="2926080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71.</a:t>
            </a:r>
          </a:p>
        </p:txBody>
      </p:sp>
      <p:sp>
        <p:nvSpPr>
          <p:cNvPr id="15" name="BG_VIDEO"/>
          <p:cNvSpPr/>
          <p:nvPr/>
        </p:nvSpPr>
        <p:spPr>
          <a:xfrm>
            <a:off x="640080" y="3685032"/>
            <a:ext cx="10927080" cy="2039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G_VIDEO_LABEL"/>
          <p:cNvSpPr/>
          <p:nvPr/>
        </p:nvSpPr>
        <p:spPr>
          <a:xfrm>
            <a:off x="786384" y="3822192"/>
            <a:ext cx="1325880" cy="274320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VÍDEO</a:t>
            </a:r>
          </a:p>
        </p:txBody>
      </p:sp>
      <p:pic>
        <p:nvPicPr>
          <p:cNvPr id="17" name="VIDEO_THUMB" descr="thumb_z_yV2gvlhso.jp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635" y="4187952"/>
            <a:ext cx="1743456" cy="1307592"/>
          </a:xfrm>
          <a:prstGeom prst="rect">
            <a:avLst/>
          </a:prstGeom>
        </p:spPr>
      </p:pic>
      <p:sp>
        <p:nvSpPr>
          <p:cNvPr id="18" name="VIDEO_TITLE"/>
          <p:cNvSpPr txBox="1"/>
          <p:nvPr/>
        </p:nvSpPr>
        <p:spPr>
          <a:xfrm>
            <a:off x="2907791" y="3822192"/>
            <a:ext cx="845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22E40"/>
                </a:solidFill>
                <a:latin typeface="Aptos"/>
              </a:rPr>
              <a:t>Usar Coluna Virtual p/ Descrição Personalizada com CONCATENATE( ) | Appsheet (No Code)</a:t>
            </a:r>
          </a:p>
        </p:txBody>
      </p:sp>
      <p:sp>
        <p:nvSpPr>
          <p:cNvPr id="19" name="VIDEO_META"/>
          <p:cNvSpPr txBox="1"/>
          <p:nvPr/>
        </p:nvSpPr>
        <p:spPr>
          <a:xfrm>
            <a:off x="2907791" y="4315968"/>
            <a:ext cx="7269479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19" b="0" i="0">
                <a:solidFill>
                  <a:srgbClr val="606E84"/>
                </a:solidFill>
                <a:latin typeface="Aptos"/>
              </a:rPr>
              <a:t>Canal: Kosmos Code  •  Duração: 17:49</a:t>
            </a:r>
          </a:p>
        </p:txBody>
      </p:sp>
      <p:sp>
        <p:nvSpPr>
          <p:cNvPr id="20" name="VIDEO_WHY"/>
          <p:cNvSpPr txBox="1"/>
          <p:nvPr/>
        </p:nvSpPr>
        <p:spPr>
          <a:xfrm>
            <a:off x="2907791" y="4599432"/>
            <a:ext cx="7178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222E40"/>
                </a:solidFill>
                <a:latin typeface="Aptos"/>
              </a:rPr>
              <a:t>Demonstra o uso de coluna virtual com CONCATENATE, diretamente relacionado ao Nome_Completo do Material.</a:t>
            </a:r>
          </a:p>
        </p:txBody>
      </p:sp>
      <p:sp>
        <p:nvSpPr>
          <p:cNvPr id="21" name="VIDEO_BUTTON">
            <a:hlinkClick r:id="rId4"/>
          </p:cNvPr>
          <p:cNvSpPr/>
          <p:nvPr/>
        </p:nvSpPr>
        <p:spPr>
          <a:xfrm>
            <a:off x="2907791" y="5404104"/>
            <a:ext cx="1874519" cy="292608"/>
          </a:xfrm>
          <a:prstGeom prst="round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40" b="1" i="0">
                <a:solidFill>
                  <a:srgbClr val="FFFFFF"/>
                </a:solidFill>
                <a:latin typeface="Aptos"/>
              </a:rPr>
              <a:t>ASSISTIR NO YOUTUBE</a:t>
            </a:r>
          </a:p>
        </p:txBody>
      </p:sp>
      <p:sp>
        <p:nvSpPr>
          <p:cNvPr id="22" name="VIDEO_URL"/>
          <p:cNvSpPr txBox="1"/>
          <p:nvPr/>
        </p:nvSpPr>
        <p:spPr>
          <a:xfrm>
            <a:off x="2907791" y="5239512"/>
            <a:ext cx="7178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 i="0">
                <a:solidFill>
                  <a:srgbClr val="266FAD"/>
                </a:solidFill>
                <a:latin typeface="Aptos"/>
              </a:rPr>
              <a:t>https://www.youtube.com/watch?v=z_yV2gvlhso</a:t>
            </a:r>
          </a:p>
        </p:txBody>
      </p:sp>
      <p:pic>
        <p:nvPicPr>
          <p:cNvPr id="23" name="VIDEO_QR" descr="qr_z_yV2gvlh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6999" y="4279392"/>
            <a:ext cx="1097280" cy="1097280"/>
          </a:xfrm>
          <a:prstGeom prst="rect">
            <a:avLst/>
          </a:prstGeom>
        </p:spPr>
      </p:pic>
      <p:sp>
        <p:nvSpPr>
          <p:cNvPr id="24" name="VIDEO_SOURCE"/>
          <p:cNvSpPr txBox="1"/>
          <p:nvPr/>
        </p:nvSpPr>
        <p:spPr>
          <a:xfrm>
            <a:off x="2907791" y="5120640"/>
            <a:ext cx="717804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" b="0" i="0">
                <a:solidFill>
                  <a:srgbClr val="606E84"/>
                </a:solidFill>
                <a:latin typeface="Aptos"/>
              </a:rPr>
              <a:t>Fonte: YouTube — Kosmos Code.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Nome completo: uma coluna virtual com CONCATENATE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48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71.</a:t>
            </a:r>
          </a:p>
        </p:txBody>
      </p:sp>
      <p:sp>
        <p:nvSpPr>
          <p:cNvPr id="9" name="BG_LEFT"/>
          <p:cNvSpPr/>
          <p:nvPr/>
        </p:nvSpPr>
        <p:spPr>
          <a:xfrm>
            <a:off x="502920" y="1325880"/>
            <a:ext cx="4709160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_HEADING"/>
          <p:cNvSpPr txBox="1"/>
          <p:nvPr/>
        </p:nvSpPr>
        <p:spPr>
          <a:xfrm>
            <a:off x="777240" y="16002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6953A5"/>
                </a:solidFill>
                <a:latin typeface="Aptos"/>
              </a:rPr>
              <a:t>Passos indicados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37744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Em Data &gt; Cliente, use “+” para adicionar coluna virtual.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Nome sugerido: Nome_Completo.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App formula: CONCATENATE([Nome_Cliente], “ ”, [Sobrenome_Cliente]).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Salve e conclua a configuração.</a:t>
            </a:r>
          </a:p>
        </p:txBody>
      </p:sp>
      <p:sp>
        <p:nvSpPr>
          <p:cNvPr id="12" name="BG_FIGURE"/>
          <p:cNvSpPr/>
          <p:nvPr/>
        </p:nvSpPr>
        <p:spPr>
          <a:xfrm>
            <a:off x="5440680" y="1325880"/>
            <a:ext cx="6245352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MATERIAL_FIGURE" descr="fig47_concaten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080" y="1536192"/>
            <a:ext cx="4868550" cy="4005072"/>
          </a:xfrm>
          <a:prstGeom prst="rect">
            <a:avLst/>
          </a:prstGeom>
        </p:spPr>
      </p:pic>
      <p:sp>
        <p:nvSpPr>
          <p:cNvPr id="14" name="FIGURE_SOURCE"/>
          <p:cNvSpPr txBox="1"/>
          <p:nvPr/>
        </p:nvSpPr>
        <p:spPr>
          <a:xfrm>
            <a:off x="5623560" y="5650992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71.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Renovação formatada e endereço completo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49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72.</a:t>
            </a:r>
          </a:p>
        </p:txBody>
      </p:sp>
      <p:sp>
        <p:nvSpPr>
          <p:cNvPr id="9" name="BG_LEFT"/>
          <p:cNvSpPr/>
          <p:nvPr/>
        </p:nvSpPr>
        <p:spPr>
          <a:xfrm>
            <a:off x="502920" y="1325880"/>
            <a:ext cx="4709160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_HEADING"/>
          <p:cNvSpPr txBox="1"/>
          <p:nvPr/>
        </p:nvSpPr>
        <p:spPr>
          <a:xfrm>
            <a:off x="777240" y="16002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6953A5"/>
                </a:solidFill>
                <a:latin typeface="Aptos"/>
              </a:rPr>
              <a:t>Mais duas colunas virtuais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37744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Renovação: CONCATENATE(“Renovação: ”, [Data_Renovacao]).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Endereço: concatenar rua, número, bairro e cidade.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Para endereço, o tipo deve ser Address.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Marque Show? e Geocoding enabled?, como indicado.</a:t>
            </a:r>
          </a:p>
        </p:txBody>
      </p:sp>
      <p:sp>
        <p:nvSpPr>
          <p:cNvPr id="12" name="BG_FIGURE"/>
          <p:cNvSpPr/>
          <p:nvPr/>
        </p:nvSpPr>
        <p:spPr>
          <a:xfrm>
            <a:off x="5440680" y="1325880"/>
            <a:ext cx="6245352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MATERIAL_FIGURE" descr="fig48_geo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551" y="1536192"/>
            <a:ext cx="4159608" cy="4005072"/>
          </a:xfrm>
          <a:prstGeom prst="rect">
            <a:avLst/>
          </a:prstGeom>
        </p:spPr>
      </p:pic>
      <p:sp>
        <p:nvSpPr>
          <p:cNvPr id="14" name="FIGURE_SOURCE"/>
          <p:cNvSpPr txBox="1"/>
          <p:nvPr/>
        </p:nvSpPr>
        <p:spPr>
          <a:xfrm>
            <a:off x="5623560" y="5650992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72.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Atualizar cabeçalhos da view Clientes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50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73.</a:t>
            </a:r>
          </a:p>
        </p:txBody>
      </p:sp>
      <p:sp>
        <p:nvSpPr>
          <p:cNvPr id="9" name="BG_LEFT"/>
          <p:cNvSpPr/>
          <p:nvPr/>
        </p:nvSpPr>
        <p:spPr>
          <a:xfrm>
            <a:off x="502920" y="1325880"/>
            <a:ext cx="4709160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_HEADING"/>
          <p:cNvSpPr txBox="1"/>
          <p:nvPr/>
        </p:nvSpPr>
        <p:spPr>
          <a:xfrm>
            <a:off x="777240" y="16002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6953A5"/>
                </a:solidFill>
                <a:latin typeface="Aptos"/>
              </a:rPr>
              <a:t>Uso das colunas virtuais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37744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Em Views, abra a visualização Clientes.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Primary header passa a mostrar o nome completo.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Secondary header passa a mostrar a data de renovação formatada.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 configuração muda a leitura dos cartões da lista.</a:t>
            </a:r>
          </a:p>
        </p:txBody>
      </p:sp>
      <p:sp>
        <p:nvSpPr>
          <p:cNvPr id="12" name="BG_FIGURE"/>
          <p:cNvSpPr/>
          <p:nvPr/>
        </p:nvSpPr>
        <p:spPr>
          <a:xfrm>
            <a:off x="5440680" y="1325880"/>
            <a:ext cx="6245352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MATERIAL_FIGURE" descr="fig49_hea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128627"/>
            <a:ext cx="5879592" cy="2820201"/>
          </a:xfrm>
          <a:prstGeom prst="rect">
            <a:avLst/>
          </a:prstGeom>
        </p:spPr>
      </p:pic>
      <p:sp>
        <p:nvSpPr>
          <p:cNvPr id="14" name="FIGURE_SOURCE"/>
          <p:cNvSpPr txBox="1"/>
          <p:nvPr/>
        </p:nvSpPr>
        <p:spPr>
          <a:xfrm>
            <a:off x="5623560" y="5650992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73.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Ações e agrupamento: deixar a lista mais útil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51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74–75.</a:t>
            </a:r>
          </a:p>
        </p:txBody>
      </p:sp>
      <p:sp>
        <p:nvSpPr>
          <p:cNvPr id="9" name="BG_ACTIONS"/>
          <p:cNvSpPr/>
          <p:nvPr/>
        </p:nvSpPr>
        <p:spPr>
          <a:xfrm>
            <a:off x="502920" y="1325880"/>
            <a:ext cx="534924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MATERIAL_FIGURE" descr="fig50_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066" y="1554480"/>
            <a:ext cx="4004091" cy="2011680"/>
          </a:xfrm>
          <a:prstGeom prst="rect">
            <a:avLst/>
          </a:prstGeom>
        </p:spPr>
      </p:pic>
      <p:sp>
        <p:nvSpPr>
          <p:cNvPr id="11" name="FIGURE_SOURCE"/>
          <p:cNvSpPr txBox="1"/>
          <p:nvPr/>
        </p:nvSpPr>
        <p:spPr>
          <a:xfrm>
            <a:off x="713232" y="3621024"/>
            <a:ext cx="4800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74.</a:t>
            </a:r>
          </a:p>
        </p:txBody>
      </p:sp>
      <p:sp>
        <p:nvSpPr>
          <p:cNvPr id="12" name="TEXT_BULLETS"/>
          <p:cNvSpPr txBox="1"/>
          <p:nvPr/>
        </p:nvSpPr>
        <p:spPr>
          <a:xfrm>
            <a:off x="777240" y="406908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70" b="0">
                <a:solidFill>
                  <a:srgbClr val="222E40"/>
                </a:solidFill>
                <a:latin typeface="Aptos"/>
              </a:rPr>
              <a:t>• Troque Automatic por Manual.</a:t>
            </a:r>
          </a:p>
          <a:p>
            <a:pPr>
              <a:spcAft>
                <a:spcPts val="400"/>
              </a:spcAft>
            </a:pPr>
            <a:r>
              <a:rPr sz="1170" b="0">
                <a:solidFill>
                  <a:srgbClr val="222E40"/>
                </a:solidFill>
                <a:latin typeface="Aptos"/>
              </a:rPr>
              <a:t>• Remova Delete e Compose Email.</a:t>
            </a:r>
          </a:p>
          <a:p>
            <a:pPr>
              <a:spcAft>
                <a:spcPts val="400"/>
              </a:spcAft>
            </a:pPr>
            <a:r>
              <a:rPr sz="1170" b="0">
                <a:solidFill>
                  <a:srgbClr val="222E40"/>
                </a:solidFill>
                <a:latin typeface="Aptos"/>
              </a:rPr>
              <a:t>• Adicione View Map e reorganize os ícones.</a:t>
            </a:r>
          </a:p>
        </p:txBody>
      </p:sp>
      <p:sp>
        <p:nvSpPr>
          <p:cNvPr id="13" name="BG_GROUP"/>
          <p:cNvSpPr/>
          <p:nvPr/>
        </p:nvSpPr>
        <p:spPr>
          <a:xfrm>
            <a:off x="6172200" y="1325880"/>
            <a:ext cx="5513832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MATERIAL_FIGURE" descr="fig51_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77" y="1554480"/>
            <a:ext cx="4239188" cy="2011680"/>
          </a:xfrm>
          <a:prstGeom prst="rect">
            <a:avLst/>
          </a:prstGeom>
        </p:spPr>
      </p:pic>
      <p:sp>
        <p:nvSpPr>
          <p:cNvPr id="15" name="FIGURE_SOURCE"/>
          <p:cNvSpPr txBox="1"/>
          <p:nvPr/>
        </p:nvSpPr>
        <p:spPr>
          <a:xfrm>
            <a:off x="6382512" y="3621024"/>
            <a:ext cx="4983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75.</a:t>
            </a:r>
          </a:p>
        </p:txBody>
      </p:sp>
      <p:sp>
        <p:nvSpPr>
          <p:cNvPr id="16" name="GROUP_TEXT"/>
          <p:cNvSpPr txBox="1"/>
          <p:nvPr/>
        </p:nvSpPr>
        <p:spPr>
          <a:xfrm>
            <a:off x="6437376" y="4133087"/>
            <a:ext cx="47365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222E40"/>
                </a:solidFill>
                <a:latin typeface="Aptos"/>
              </a:rPr>
              <a:t>Em Group by, use a coluna virtual com os estados da renovação para agrupar os clientes.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Formulário Cliente: localizar e editar a view gerada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52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75.</a:t>
            </a:r>
          </a:p>
        </p:txBody>
      </p:sp>
      <p:sp>
        <p:nvSpPr>
          <p:cNvPr id="9" name="BG_FORM_GEN"/>
          <p:cNvSpPr/>
          <p:nvPr/>
        </p:nvSpPr>
        <p:spPr>
          <a:xfrm>
            <a:off x="502920" y="1325880"/>
            <a:ext cx="11183112" cy="4526280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_BULLETS"/>
          <p:cNvSpPr txBox="1"/>
          <p:nvPr/>
        </p:nvSpPr>
        <p:spPr>
          <a:xfrm>
            <a:off x="777240" y="1645920"/>
            <a:ext cx="103784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No editor, abra Views e role até a seção System generated.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Localize Cliente_Form (ou nome semelhante): é a tela de adicionar ou editar clientes.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Abra suas configurações e defina Column order como Manual.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E40"/>
                </a:solidFill>
                <a:latin typeface="Aptos"/>
              </a:rPr>
              <a:t>• A ordem indicada começa por informações pessoais, foto, nome, sobrenome, CPF, telefone, e-mail e renovação; depois, informações de endereço.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Column order Manual: organizar o formulário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53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77.</a:t>
            </a:r>
          </a:p>
        </p:txBody>
      </p:sp>
      <p:sp>
        <p:nvSpPr>
          <p:cNvPr id="9" name="BG_LEFT"/>
          <p:cNvSpPr/>
          <p:nvPr/>
        </p:nvSpPr>
        <p:spPr>
          <a:xfrm>
            <a:off x="502920" y="1325880"/>
            <a:ext cx="4709160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_HEADING"/>
          <p:cNvSpPr txBox="1"/>
          <p:nvPr/>
        </p:nvSpPr>
        <p:spPr>
          <a:xfrm>
            <a:off x="777240" y="16002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6953A5"/>
                </a:solidFill>
                <a:latin typeface="Aptos"/>
              </a:rPr>
              <a:t>Resultado esperado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37744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Campos aparecem na ordem definida para o formulário.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Informações pessoais e de endereço ficam organizadas em sequência.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 ordem manual ajuda a evitar repetição e confusão no preenchimento.</a:t>
            </a:r>
          </a:p>
        </p:txBody>
      </p:sp>
      <p:sp>
        <p:nvSpPr>
          <p:cNvPr id="12" name="FIG_NOTE"/>
          <p:cNvSpPr txBox="1"/>
          <p:nvPr/>
        </p:nvSpPr>
        <p:spPr>
          <a:xfrm>
            <a:off x="777240" y="5532120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606E84"/>
                </a:solidFill>
                <a:latin typeface="Aptos"/>
              </a:rPr>
              <a:t>A lista de colunas a ordenar aparece nas pp. 75–76 do Material.</a:t>
            </a:r>
          </a:p>
        </p:txBody>
      </p:sp>
      <p:sp>
        <p:nvSpPr>
          <p:cNvPr id="13" name="BG_FIGURE"/>
          <p:cNvSpPr/>
          <p:nvPr/>
        </p:nvSpPr>
        <p:spPr>
          <a:xfrm>
            <a:off x="5440680" y="1325880"/>
            <a:ext cx="6245352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MATERIAL_FIGURE" descr="fig54_formul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784929"/>
            <a:ext cx="5879592" cy="3507596"/>
          </a:xfrm>
          <a:prstGeom prst="rect">
            <a:avLst/>
          </a:prstGeom>
        </p:spPr>
      </p:pic>
      <p:sp>
        <p:nvSpPr>
          <p:cNvPr id="15" name="FIGURE_SOURCE"/>
          <p:cNvSpPr txBox="1"/>
          <p:nvPr/>
        </p:nvSpPr>
        <p:spPr>
          <a:xfrm>
            <a:off x="5623560" y="5650992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77.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Display mode: transformar CPF e número em rótulo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54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76–77.</a:t>
            </a:r>
          </a:p>
        </p:txBody>
      </p:sp>
      <p:sp>
        <p:nvSpPr>
          <p:cNvPr id="9" name="BG_EDIT_MODE"/>
          <p:cNvSpPr/>
          <p:nvPr/>
        </p:nvSpPr>
        <p:spPr>
          <a:xfrm>
            <a:off x="502920" y="1325880"/>
            <a:ext cx="534924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MATERIAL_FIGURE" descr="fig52_edit_colu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221" y="1554480"/>
            <a:ext cx="3522636" cy="1965960"/>
          </a:xfrm>
          <a:prstGeom prst="rect">
            <a:avLst/>
          </a:prstGeom>
        </p:spPr>
      </p:pic>
      <p:sp>
        <p:nvSpPr>
          <p:cNvPr id="11" name="FIGURE_SOURCE"/>
          <p:cNvSpPr txBox="1"/>
          <p:nvPr/>
        </p:nvSpPr>
        <p:spPr>
          <a:xfrm>
            <a:off x="731520" y="3584448"/>
            <a:ext cx="4800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76.</a:t>
            </a:r>
          </a:p>
        </p:txBody>
      </p:sp>
      <p:sp>
        <p:nvSpPr>
          <p:cNvPr id="12" name="EDIT_MODE_TEXT"/>
          <p:cNvSpPr txBox="1"/>
          <p:nvPr/>
        </p:nvSpPr>
        <p:spPr>
          <a:xfrm>
            <a:off x="777240" y="4096512"/>
            <a:ext cx="4617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Passe o mouse sobre CPF_Cliente e use o símbolo de edição.</a:t>
            </a:r>
          </a:p>
        </p:txBody>
      </p:sp>
      <p:sp>
        <p:nvSpPr>
          <p:cNvPr id="13" name="BG_LABEL_MODE"/>
          <p:cNvSpPr/>
          <p:nvPr/>
        </p:nvSpPr>
        <p:spPr>
          <a:xfrm>
            <a:off x="6172200" y="1325880"/>
            <a:ext cx="5513832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MATERIAL_FIGURE" descr="fig53_lab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101" y="1554480"/>
            <a:ext cx="2235741" cy="1965960"/>
          </a:xfrm>
          <a:prstGeom prst="rect">
            <a:avLst/>
          </a:prstGeom>
        </p:spPr>
      </p:pic>
      <p:sp>
        <p:nvSpPr>
          <p:cNvPr id="15" name="FIGURE_SOURCE"/>
          <p:cNvSpPr txBox="1"/>
          <p:nvPr/>
        </p:nvSpPr>
        <p:spPr>
          <a:xfrm>
            <a:off x="6382512" y="3584448"/>
            <a:ext cx="4983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77.</a:t>
            </a:r>
          </a:p>
        </p:txBody>
      </p:sp>
      <p:sp>
        <p:nvSpPr>
          <p:cNvPr id="16" name="LABEL_MODE_TEXT"/>
          <p:cNvSpPr txBox="1"/>
          <p:nvPr/>
        </p:nvSpPr>
        <p:spPr>
          <a:xfrm>
            <a:off x="6437376" y="4096512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22E40"/>
                </a:solidFill>
                <a:latin typeface="Aptos"/>
              </a:rPr>
              <a:t>Em Display mode, escolha Label e repita para Numero_Endereco_Cliente.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Cliente_Detail: a tela de detalhes do cadastro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55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78.</a:t>
            </a:r>
          </a:p>
        </p:txBody>
      </p:sp>
      <p:sp>
        <p:nvSpPr>
          <p:cNvPr id="9" name="BG_LEFT"/>
          <p:cNvSpPr/>
          <p:nvPr/>
        </p:nvSpPr>
        <p:spPr>
          <a:xfrm>
            <a:off x="502920" y="1325880"/>
            <a:ext cx="4709160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_HEADING"/>
          <p:cNvSpPr txBox="1"/>
          <p:nvPr/>
        </p:nvSpPr>
        <p:spPr>
          <a:xfrm>
            <a:off x="777240" y="16002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6953A5"/>
                </a:solidFill>
                <a:latin typeface="Aptos"/>
              </a:rPr>
              <a:t>Como localizar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37744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Em Views, abra System generated.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Procure Cliente_Detail (ou um nome semelhante).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Essa é a tela que exibe os detalhes de um cliente cadastrado.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 próxima melhoria será habilitar Use Card Layout.</a:t>
            </a:r>
          </a:p>
        </p:txBody>
      </p:sp>
      <p:sp>
        <p:nvSpPr>
          <p:cNvPr id="12" name="BG_FIGURE"/>
          <p:cNvSpPr/>
          <p:nvPr/>
        </p:nvSpPr>
        <p:spPr>
          <a:xfrm>
            <a:off x="5440680" y="1325880"/>
            <a:ext cx="6245352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MATERIAL_FIGURE" descr="fig55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143340"/>
            <a:ext cx="5879592" cy="2790774"/>
          </a:xfrm>
          <a:prstGeom prst="rect">
            <a:avLst/>
          </a:prstGeom>
        </p:spPr>
      </p:pic>
      <p:sp>
        <p:nvSpPr>
          <p:cNvPr id="14" name="FIGURE_SOURCE"/>
          <p:cNvSpPr txBox="1"/>
          <p:nvPr/>
        </p:nvSpPr>
        <p:spPr>
          <a:xfrm>
            <a:off x="5623560" y="5650992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78.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Use Card Layout: um detalhe visual com impacto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56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79.</a:t>
            </a:r>
          </a:p>
        </p:txBody>
      </p:sp>
      <p:sp>
        <p:nvSpPr>
          <p:cNvPr id="9" name="BG_LEFT"/>
          <p:cNvSpPr/>
          <p:nvPr/>
        </p:nvSpPr>
        <p:spPr>
          <a:xfrm>
            <a:off x="502920" y="1325880"/>
            <a:ext cx="4709160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_HEADING"/>
          <p:cNvSpPr txBox="1"/>
          <p:nvPr/>
        </p:nvSpPr>
        <p:spPr>
          <a:xfrm>
            <a:off x="777240" y="16002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6953A5"/>
                </a:solidFill>
                <a:latin typeface="Aptos"/>
              </a:rPr>
              <a:t>Ajuste inicial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37744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Ative a opção Use Card Layout.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 aparência da tela fica mais agradável já nessa etapa.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Em Header Layout, confira a coluna de imagem e Image Fit.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Na tabela Cliente, a foto do cliente pode permanecer como imagem exibida.</a:t>
            </a:r>
          </a:p>
        </p:txBody>
      </p:sp>
      <p:sp>
        <p:nvSpPr>
          <p:cNvPr id="12" name="BG_FIGURE"/>
          <p:cNvSpPr/>
          <p:nvPr/>
        </p:nvSpPr>
        <p:spPr>
          <a:xfrm>
            <a:off x="5440680" y="1325880"/>
            <a:ext cx="6245352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MATERIAL_FIGURE" descr="fig56_card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151032"/>
            <a:ext cx="5879592" cy="2775390"/>
          </a:xfrm>
          <a:prstGeom prst="rect">
            <a:avLst/>
          </a:prstGeom>
        </p:spPr>
      </p:pic>
      <p:sp>
        <p:nvSpPr>
          <p:cNvPr id="14" name="FIGURE_SOURCE"/>
          <p:cNvSpPr txBox="1"/>
          <p:nvPr/>
        </p:nvSpPr>
        <p:spPr>
          <a:xfrm>
            <a:off x="5623560" y="5650992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79.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Cabeçalhos e botões úteis no detalhe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57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80.</a:t>
            </a:r>
          </a:p>
        </p:txBody>
      </p:sp>
      <p:sp>
        <p:nvSpPr>
          <p:cNvPr id="9" name="BG_LEFT"/>
          <p:cNvSpPr/>
          <p:nvPr/>
        </p:nvSpPr>
        <p:spPr>
          <a:xfrm>
            <a:off x="502920" y="1325880"/>
            <a:ext cx="4709160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_HEADING"/>
          <p:cNvSpPr txBox="1"/>
          <p:nvPr/>
        </p:nvSpPr>
        <p:spPr>
          <a:xfrm>
            <a:off x="777240" y="16002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6953A5"/>
                </a:solidFill>
                <a:latin typeface="Aptos"/>
              </a:rPr>
              <a:t>Configurações indicadas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37744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Header: Nome_Cliente; Subheader: Sobrenome_Cliente.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O texto longo automático deve ser None.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ACTION 1: Call Phone (Telefone_Cliente).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Ação de coração: None; botão seguinte: View Map do endereço completo.</a:t>
            </a:r>
          </a:p>
        </p:txBody>
      </p:sp>
      <p:sp>
        <p:nvSpPr>
          <p:cNvPr id="12" name="BG_FIGURE"/>
          <p:cNvSpPr/>
          <p:nvPr/>
        </p:nvSpPr>
        <p:spPr>
          <a:xfrm>
            <a:off x="5440680" y="1325880"/>
            <a:ext cx="6245352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MATERIAL_FIGURE" descr="fig57_headers_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142255"/>
            <a:ext cx="5879592" cy="2792944"/>
          </a:xfrm>
          <a:prstGeom prst="rect">
            <a:avLst/>
          </a:prstGeom>
        </p:spPr>
      </p:pic>
      <p:sp>
        <p:nvSpPr>
          <p:cNvPr id="14" name="FIGURE_SOURCE"/>
          <p:cNvSpPr txBox="1"/>
          <p:nvPr/>
        </p:nvSpPr>
        <p:spPr>
          <a:xfrm>
            <a:off x="5623560" y="5650992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80.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Finalizar Cliente_Detail sem informações duplicadas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58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Base: Material Didático AppClicks – Disciplina 1 – PRONATEC/IFSP, p. 80.</a:t>
            </a:r>
          </a:p>
        </p:txBody>
      </p:sp>
      <p:sp>
        <p:nvSpPr>
          <p:cNvPr id="9" name="BG_LEFT"/>
          <p:cNvSpPr/>
          <p:nvPr/>
        </p:nvSpPr>
        <p:spPr>
          <a:xfrm>
            <a:off x="502920" y="1325880"/>
            <a:ext cx="4709160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_HEADING"/>
          <p:cNvSpPr txBox="1"/>
          <p:nvPr/>
        </p:nvSpPr>
        <p:spPr>
          <a:xfrm>
            <a:off x="777240" y="16002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6953A5"/>
                </a:solidFill>
                <a:latin typeface="Aptos"/>
              </a:rPr>
              <a:t>Limpeza final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77240" y="2377440"/>
            <a:ext cx="4114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Em Column order, selecione Manual.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Elimine as colunas que não precisam aparecer no detalhe.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Mantenha Telefone_Cliente, Email_Cliente e Data_Renovacao.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E40"/>
                </a:solidFill>
                <a:latin typeface="Aptos"/>
              </a:rPr>
              <a:t>• Teste se a tela final continua clara e útil para o usuário.</a:t>
            </a:r>
          </a:p>
        </p:txBody>
      </p:sp>
      <p:sp>
        <p:nvSpPr>
          <p:cNvPr id="12" name="BG_FIGURE"/>
          <p:cNvSpPr/>
          <p:nvPr/>
        </p:nvSpPr>
        <p:spPr>
          <a:xfrm>
            <a:off x="5440680" y="1325880"/>
            <a:ext cx="6245352" cy="46817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06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MATERIAL_FIGURE" descr="fig58_final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145026"/>
            <a:ext cx="5879592" cy="2787403"/>
          </a:xfrm>
          <a:prstGeom prst="rect">
            <a:avLst/>
          </a:prstGeom>
        </p:spPr>
      </p:pic>
      <p:sp>
        <p:nvSpPr>
          <p:cNvPr id="14" name="FIGURE_SOURCE"/>
          <p:cNvSpPr txBox="1"/>
          <p:nvPr/>
        </p:nvSpPr>
        <p:spPr>
          <a:xfrm>
            <a:off x="5623560" y="5650992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Fonte: Material Didático AppClicks – Disciplina 1 – PRONATEC/IFSP, p. 80.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Prática final: implementar, testar e apresentar</a:t>
            </a:r>
          </a:p>
        </p:txBody>
      </p:sp>
      <p:sp>
        <p:nvSpPr>
          <p:cNvPr id="5" name="BG_DAY"/>
          <p:cNvSpPr/>
          <p:nvPr/>
        </p:nvSpPr>
        <p:spPr>
          <a:xfrm>
            <a:off x="10287000" y="274320"/>
            <a:ext cx="1417320" cy="502920"/>
          </a:xfrm>
          <a:prstGeom prst="roundRect">
            <a:avLst/>
          </a:prstGeom>
          <a:solidFill>
            <a:srgbClr val="695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DIA 3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7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59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Planejamento da Semana 5 + Material Didático AppClicks, pp. 52–80.</a:t>
            </a:r>
          </a:p>
        </p:txBody>
      </p:sp>
      <p:sp>
        <p:nvSpPr>
          <p:cNvPr id="9" name="BG_FINAL_IMPL"/>
          <p:cNvSpPr/>
          <p:nvPr/>
        </p:nvSpPr>
        <p:spPr>
          <a:xfrm>
            <a:off x="502920" y="1298448"/>
            <a:ext cx="3493008" cy="4526280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NAL_IMPL_TITLE"/>
          <p:cNvSpPr txBox="1"/>
          <p:nvPr/>
        </p:nvSpPr>
        <p:spPr>
          <a:xfrm>
            <a:off x="749808" y="1572768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979D"/>
                </a:solidFill>
                <a:latin typeface="Aptos"/>
              </a:rPr>
              <a:t>1. Implementar</a:t>
            </a:r>
          </a:p>
        </p:txBody>
      </p:sp>
      <p:sp>
        <p:nvSpPr>
          <p:cNvPr id="11" name="TEXT_BULLETS"/>
          <p:cNvSpPr txBox="1"/>
          <p:nvPr/>
        </p:nvSpPr>
        <p:spPr>
          <a:xfrm>
            <a:off x="749808" y="2148840"/>
            <a:ext cx="283464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• Construir a nova tela ou ajuste.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• Distribuir tarefas.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• Salvar configurações.</a:t>
            </a:r>
          </a:p>
        </p:txBody>
      </p:sp>
      <p:sp>
        <p:nvSpPr>
          <p:cNvPr id="12" name="BG_FINAL_TEST"/>
          <p:cNvSpPr/>
          <p:nvPr/>
        </p:nvSpPr>
        <p:spPr>
          <a:xfrm>
            <a:off x="4343400" y="1298448"/>
            <a:ext cx="3493008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INAL_TEST_TITLE"/>
          <p:cNvSpPr txBox="1"/>
          <p:nvPr/>
        </p:nvSpPr>
        <p:spPr>
          <a:xfrm>
            <a:off x="4590288" y="1572768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8B23"/>
                </a:solidFill>
                <a:latin typeface="Aptos"/>
              </a:rPr>
              <a:t>2. Testar</a:t>
            </a:r>
          </a:p>
        </p:txBody>
      </p:sp>
      <p:sp>
        <p:nvSpPr>
          <p:cNvPr id="14" name="TEXT_BULLETS"/>
          <p:cNvSpPr txBox="1"/>
          <p:nvPr/>
        </p:nvSpPr>
        <p:spPr>
          <a:xfrm>
            <a:off x="4590288" y="2148840"/>
            <a:ext cx="283464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• Executar tarefa real.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• Tentar erro proposital.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• Corrigir e retestar.</a:t>
            </a:r>
          </a:p>
        </p:txBody>
      </p:sp>
      <p:sp>
        <p:nvSpPr>
          <p:cNvPr id="15" name="BG_FINAL_SHARE"/>
          <p:cNvSpPr/>
          <p:nvPr/>
        </p:nvSpPr>
        <p:spPr>
          <a:xfrm>
            <a:off x="8183879" y="1298448"/>
            <a:ext cx="3502152" cy="4526280"/>
          </a:xfrm>
          <a:prstGeom prst="roundRect">
            <a:avLst/>
          </a:prstGeom>
          <a:solidFill>
            <a:srgbClr val="F0F8FF"/>
          </a:solidFill>
          <a:ln w="10160">
            <a:solidFill>
              <a:srgbClr val="69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INAL_SHARE_TITLE"/>
          <p:cNvSpPr txBox="1"/>
          <p:nvPr/>
        </p:nvSpPr>
        <p:spPr>
          <a:xfrm>
            <a:off x="8430768" y="1572768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953A5"/>
                </a:solidFill>
                <a:latin typeface="Aptos"/>
              </a:rPr>
              <a:t>3. Apresentar</a:t>
            </a:r>
          </a:p>
        </p:txBody>
      </p:sp>
      <p:sp>
        <p:nvSpPr>
          <p:cNvPr id="17" name="TEXT_BULLETS"/>
          <p:cNvSpPr txBox="1"/>
          <p:nvPr/>
        </p:nvSpPr>
        <p:spPr>
          <a:xfrm>
            <a:off x="8430768" y="2148840"/>
            <a:ext cx="283464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• Seminário ao cliente.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• Registrar feedback.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22E40"/>
                </a:solidFill>
                <a:latin typeface="Aptos"/>
              </a:rPr>
              <a:t>• Realizar H5P de revisão.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HEADER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ACCENT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E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DER_TEXT"/>
          <p:cNvSpPr txBox="1"/>
          <p:nvPr/>
        </p:nvSpPr>
        <p:spPr>
          <a:xfrm>
            <a:off x="502920" y="2286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Referências e próximos passos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2920" y="6528816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06E84"/>
                </a:solidFill>
                <a:latin typeface="Aptos"/>
              </a:rPr>
              <a:t>AppClicks – Disciplina 1 – PRONATEC/IFSP</a:t>
            </a:r>
          </a:p>
        </p:txBody>
      </p:sp>
      <p:sp>
        <p:nvSpPr>
          <p:cNvPr id="6" name="FOOTER_PAGE"/>
          <p:cNvSpPr txBox="1"/>
          <p:nvPr/>
        </p:nvSpPr>
        <p:spPr>
          <a:xfrm>
            <a:off x="10789920" y="65288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06E84"/>
                </a:solidFill>
                <a:latin typeface="Aptos"/>
              </a:rPr>
              <a:t>60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502920" y="6236208"/>
            <a:ext cx="10789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06E84"/>
                </a:solidFill>
                <a:latin typeface="Aptos"/>
              </a:rPr>
              <a:t>Referências completas abaixo.</a:t>
            </a:r>
          </a:p>
        </p:txBody>
      </p:sp>
      <p:sp>
        <p:nvSpPr>
          <p:cNvPr id="8" name="BG_REFS"/>
          <p:cNvSpPr/>
          <p:nvPr/>
        </p:nvSpPr>
        <p:spPr>
          <a:xfrm>
            <a:off x="502920" y="1243584"/>
            <a:ext cx="11183112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E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F_HEAD_1"/>
          <p:cNvSpPr txBox="1"/>
          <p:nvPr/>
        </p:nvSpPr>
        <p:spPr>
          <a:xfrm>
            <a:off x="777240" y="1499616"/>
            <a:ext cx="10149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979D"/>
                </a:solidFill>
                <a:latin typeface="Aptos"/>
              </a:rPr>
              <a:t>Fonte curricular</a:t>
            </a:r>
          </a:p>
        </p:txBody>
      </p:sp>
      <p:sp>
        <p:nvSpPr>
          <p:cNvPr id="10" name="REF_MATERIAL"/>
          <p:cNvSpPr txBox="1"/>
          <p:nvPr/>
        </p:nvSpPr>
        <p:spPr>
          <a:xfrm>
            <a:off x="777240" y="1847088"/>
            <a:ext cx="10149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 i="0">
                <a:solidFill>
                  <a:srgbClr val="222E40"/>
                </a:solidFill>
                <a:latin typeface="Aptos"/>
              </a:rPr>
              <a:t>Material Didático AppClicks – Disciplina 1 – PRONATEC/IFSP, Unidade 3, pp. 52–80.</a:t>
            </a:r>
          </a:p>
        </p:txBody>
      </p:sp>
      <p:sp>
        <p:nvSpPr>
          <p:cNvPr id="11" name="REF_HEAD_2"/>
          <p:cNvSpPr txBox="1"/>
          <p:nvPr/>
        </p:nvSpPr>
        <p:spPr>
          <a:xfrm>
            <a:off x="777240" y="2441448"/>
            <a:ext cx="10149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979D"/>
                </a:solidFill>
                <a:latin typeface="Aptos"/>
              </a:rPr>
              <a:t>Vídeos complementares (pesquisa e metadados verificados em 06/09/2026)</a:t>
            </a:r>
          </a:p>
        </p:txBody>
      </p:sp>
      <p:sp>
        <p:nvSpPr>
          <p:cNvPr id="12" name="REF_VIDEO"/>
          <p:cNvSpPr txBox="1"/>
          <p:nvPr/>
        </p:nvSpPr>
        <p:spPr>
          <a:xfrm>
            <a:off x="777240" y="2816352"/>
            <a:ext cx="10195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 i="0">
                <a:solidFill>
                  <a:srgbClr val="222E40"/>
                </a:solidFill>
                <a:latin typeface="Aptos"/>
              </a:rPr>
              <a:t>YouTube — AppSheet Brasil. “Tipos de colunas e suas propriedades” (21:31): https://www.youtube.com/watch?v=dnus3kreQE8</a:t>
            </a:r>
          </a:p>
        </p:txBody>
      </p:sp>
      <p:sp>
        <p:nvSpPr>
          <p:cNvPr id="13" name="REF_VIDEO"/>
          <p:cNvSpPr txBox="1"/>
          <p:nvPr/>
        </p:nvSpPr>
        <p:spPr>
          <a:xfrm>
            <a:off x="777240" y="3383280"/>
            <a:ext cx="10195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 i="0">
                <a:solidFill>
                  <a:srgbClr val="222E40"/>
                </a:solidFill>
                <a:latin typeface="Aptos"/>
              </a:rPr>
              <a:t>YouTube — Academia Brasileira de Appsheet. “Slice no AppSheet: aprenda a filtrar dados e organizar seu app (iniciante)” (13:50): https://www.youtube.com/watch?v=gpE6NMCPZS4</a:t>
            </a:r>
          </a:p>
        </p:txBody>
      </p:sp>
      <p:sp>
        <p:nvSpPr>
          <p:cNvPr id="14" name="REF_VIDEO"/>
          <p:cNvSpPr txBox="1"/>
          <p:nvPr/>
        </p:nvSpPr>
        <p:spPr>
          <a:xfrm>
            <a:off x="777240" y="3950208"/>
            <a:ext cx="10195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0" i="0">
                <a:solidFill>
                  <a:srgbClr val="222E40"/>
                </a:solidFill>
                <a:latin typeface="Aptos"/>
              </a:rPr>
              <a:t>YouTube — Kosmos Code. “Usar Coluna Virtual p/ Descrição Personalizada com CONCATENATE( ) | Appsheet (No Code)” (17:49): https://www.youtube.com/watch?v=z_yV2gvlhso</a:t>
            </a:r>
          </a:p>
        </p:txBody>
      </p:sp>
      <p:sp>
        <p:nvSpPr>
          <p:cNvPr id="15" name="REF_CLOSING"/>
          <p:cNvSpPr txBox="1"/>
          <p:nvPr/>
        </p:nvSpPr>
        <p:spPr>
          <a:xfrm>
            <a:off x="777240" y="500176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6953A5"/>
                </a:solidFill>
                <a:latin typeface="Aptos"/>
              </a:rPr>
              <a:t>Próximo passo: levar a versão construída ao usuário, colher feedback e iniciar um novo ciclo de melhoria.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